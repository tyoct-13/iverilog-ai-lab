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10ff437d7439e" /><Relationship Type="http://schemas.openxmlformats.org/officeDocument/2006/relationships/extended-properties" Target="/docProps/app.xml" Id="Rbfef9a2cc8314288" /><Relationship Type="http://schemas.openxmlformats.org/officeDocument/2006/relationships/officeDocument" Target="/ppt/presentation.xml" Id="R008ced96723f49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319ab859c24256"/>
  </p:sldMasterIdLst>
  <p:notesMasterIdLst>
    <p:notesMasterId xmlns:r="http://schemas.openxmlformats.org/officeDocument/2006/relationships" r:id="R2d912a4e19ae4265"/>
  </p:notesMasterIdLst>
  <p:sldIdLst>
    <p:sldId xmlns:r="http://schemas.openxmlformats.org/officeDocument/2006/relationships" id="256" r:id="R9b1acb009d8e4fd8"/>
    <p:sldId xmlns:r="http://schemas.openxmlformats.org/officeDocument/2006/relationships" id="257" r:id="Rc80329063f924977"/>
    <p:sldId xmlns:r="http://schemas.openxmlformats.org/officeDocument/2006/relationships" id="258" r:id="R2e0c79ee067d4abb"/>
    <p:sldId xmlns:r="http://schemas.openxmlformats.org/officeDocument/2006/relationships" id="259" r:id="Re1822213e79349a0"/>
    <p:sldId xmlns:r="http://schemas.openxmlformats.org/officeDocument/2006/relationships" id="260" r:id="R55e7dbd2a8774025"/>
    <p:sldId xmlns:r="http://schemas.openxmlformats.org/officeDocument/2006/relationships" id="261" r:id="R9e3ea51ca2134701"/>
    <p:sldId xmlns:r="http://schemas.openxmlformats.org/officeDocument/2006/relationships" id="262" r:id="Re65c42a023d147cc"/>
    <p:sldId xmlns:r="http://schemas.openxmlformats.org/officeDocument/2006/relationships" id="263" r:id="R2eee43aaf24f43fb"/>
    <p:sldId xmlns:r="http://schemas.openxmlformats.org/officeDocument/2006/relationships" id="264" r:id="Rc5ec796b5fe34173"/>
    <p:sldId xmlns:r="http://schemas.openxmlformats.org/officeDocument/2006/relationships" id="265" r:id="R199b8a01d582440a"/>
    <p:sldId xmlns:r="http://schemas.openxmlformats.org/officeDocument/2006/relationships" id="266" r:id="R9b9d631bf9594901"/>
    <p:sldId xmlns:r="http://schemas.openxmlformats.org/officeDocument/2006/relationships" id="267" r:id="R0c36a0b17e034604"/>
    <p:sldId xmlns:r="http://schemas.openxmlformats.org/officeDocument/2006/relationships" id="268" r:id="R7b940e46c1cb454c"/>
    <p:sldId xmlns:r="http://schemas.openxmlformats.org/officeDocument/2006/relationships" id="269" r:id="R4a320800ec1e4108"/>
    <p:sldId xmlns:r="http://schemas.openxmlformats.org/officeDocument/2006/relationships" id="270" r:id="R29a050deacb149c0"/>
    <p:sldId xmlns:r="http://schemas.openxmlformats.org/officeDocument/2006/relationships" id="271" r:id="Rd506936bed1a4477"/>
    <p:sldId xmlns:r="http://schemas.openxmlformats.org/officeDocument/2006/relationships" id="272" r:id="Rc8af5758182f49ec"/>
    <p:sldId xmlns:r="http://schemas.openxmlformats.org/officeDocument/2006/relationships" id="273" r:id="R00b656e185a9492b"/>
    <p:sldId xmlns:r="http://schemas.openxmlformats.org/officeDocument/2006/relationships" id="274" r:id="Rd0815c2e69f445fb"/>
    <p:sldId xmlns:r="http://schemas.openxmlformats.org/officeDocument/2006/relationships" id="275" r:id="R9e1ce0cc691b49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01e41bfec495b" /><Relationship Type="http://schemas.openxmlformats.org/officeDocument/2006/relationships/slideMaster" Target="/ppt/slideMasters/slideMaster1.xml" Id="Rde319ab859c24256" /><Relationship Type="http://schemas.openxmlformats.org/officeDocument/2006/relationships/notesMaster" Target="/ppt/notesMasters/notesMaster1.xml" Id="R2d912a4e19ae4265" /><Relationship Type="http://schemas.openxmlformats.org/officeDocument/2006/relationships/presProps" Target="/ppt/presProps.xml" Id="R4bde782a2b044be7" /><Relationship Type="http://schemas.openxmlformats.org/officeDocument/2006/relationships/tableStyles" Target="/ppt/tableStyles.xml" Id="Rbde573a03b454e37" /><Relationship Type="http://schemas.openxmlformats.org/officeDocument/2006/relationships/slide" Target="/ppt/slides/slide1.xml" Id="R9b1acb009d8e4fd8" /><Relationship Type="http://schemas.openxmlformats.org/officeDocument/2006/relationships/slide" Target="/ppt/slides/slide2.xml" Id="Rc80329063f924977" /><Relationship Type="http://schemas.openxmlformats.org/officeDocument/2006/relationships/slide" Target="/ppt/slides/slide3.xml" Id="R2e0c79ee067d4abb" /><Relationship Type="http://schemas.openxmlformats.org/officeDocument/2006/relationships/slide" Target="/ppt/slides/slide4.xml" Id="Re1822213e79349a0" /><Relationship Type="http://schemas.openxmlformats.org/officeDocument/2006/relationships/slide" Target="/ppt/slides/slide5.xml" Id="R55e7dbd2a8774025" /><Relationship Type="http://schemas.openxmlformats.org/officeDocument/2006/relationships/slide" Target="/ppt/slides/slide6.xml" Id="R9e3ea51ca2134701" /><Relationship Type="http://schemas.openxmlformats.org/officeDocument/2006/relationships/slide" Target="/ppt/slides/slide7.xml" Id="Re65c42a023d147cc" /><Relationship Type="http://schemas.openxmlformats.org/officeDocument/2006/relationships/slide" Target="/ppt/slides/slide8.xml" Id="R2eee43aaf24f43fb" /><Relationship Type="http://schemas.openxmlformats.org/officeDocument/2006/relationships/slide" Target="/ppt/slides/slide9.xml" Id="Rc5ec796b5fe34173" /><Relationship Type="http://schemas.openxmlformats.org/officeDocument/2006/relationships/slide" Target="/ppt/slides/slide10.xml" Id="R199b8a01d582440a" /><Relationship Type="http://schemas.openxmlformats.org/officeDocument/2006/relationships/slide" Target="/ppt/slides/slide11.xml" Id="R9b9d631bf9594901" /><Relationship Type="http://schemas.openxmlformats.org/officeDocument/2006/relationships/slide" Target="/ppt/slides/slide12.xml" Id="R0c36a0b17e034604" /><Relationship Type="http://schemas.openxmlformats.org/officeDocument/2006/relationships/slide" Target="/ppt/slides/slide13.xml" Id="R7b940e46c1cb454c" /><Relationship Type="http://schemas.openxmlformats.org/officeDocument/2006/relationships/slide" Target="/ppt/slides/slide14.xml" Id="R4a320800ec1e4108" /><Relationship Type="http://schemas.openxmlformats.org/officeDocument/2006/relationships/slide" Target="/ppt/slides/slide15.xml" Id="R29a050deacb149c0" /><Relationship Type="http://schemas.openxmlformats.org/officeDocument/2006/relationships/slide" Target="/ppt/slides/slide16.xml" Id="Rd506936bed1a4477" /><Relationship Type="http://schemas.openxmlformats.org/officeDocument/2006/relationships/slide" Target="/ppt/slides/slide17.xml" Id="Rc8af5758182f49ec" /><Relationship Type="http://schemas.openxmlformats.org/officeDocument/2006/relationships/slide" Target="/ppt/slides/slide18.xml" Id="R00b656e185a9492b" /><Relationship Type="http://schemas.openxmlformats.org/officeDocument/2006/relationships/slide" Target="/ppt/slides/slide19.xml" Id="Rd0815c2e69f445fb" /><Relationship Type="http://schemas.openxmlformats.org/officeDocument/2006/relationships/slide" Target="/ppt/slides/slide20.xml" Id="R9e1ce0cc691b49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8c51388d50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ff619c62b46ff" /><Relationship Type="http://schemas.openxmlformats.org/officeDocument/2006/relationships/notesMaster" Target="/ppt/notesMasters/notesMaster1.xml" Id="R0dbe889a21a149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3591051de4d9a" /><Relationship Type="http://schemas.openxmlformats.org/officeDocument/2006/relationships/notesMaster" Target="/ppt/notesMasters/notesMaster1.xml" Id="R8d9110b4f25a4e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3bbe0b4a3f412b" /><Relationship Type="http://schemas.openxmlformats.org/officeDocument/2006/relationships/notesMaster" Target="/ppt/notesMasters/notesMaster1.xml" Id="R54127f6b9d1f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ed741180040f8" /><Relationship Type="http://schemas.openxmlformats.org/officeDocument/2006/relationships/notesMaster" Target="/ppt/notesMasters/notesMaster1.xml" Id="R9a37ddb11372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ae4b2ebaab4bde" /><Relationship Type="http://schemas.openxmlformats.org/officeDocument/2006/relationships/notesMaster" Target="/ppt/notesMasters/notesMaster1.xml" Id="Ra2098beeee6a49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6dcfa89354713" /><Relationship Type="http://schemas.openxmlformats.org/officeDocument/2006/relationships/notesMaster" Target="/ppt/notesMasters/notesMaster1.xml" Id="Rcb9411d6f8cc4b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73173ae9a4ee2" /><Relationship Type="http://schemas.openxmlformats.org/officeDocument/2006/relationships/notesMaster" Target="/ppt/notesMasters/notesMaster1.xml" Id="R2ee49e8fa6864a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2162b790754a17" /><Relationship Type="http://schemas.openxmlformats.org/officeDocument/2006/relationships/notesMaster" Target="/ppt/notesMasters/notesMaster1.xml" Id="Rb030442b2d514e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58c74ec3a4483b" /><Relationship Type="http://schemas.openxmlformats.org/officeDocument/2006/relationships/notesMaster" Target="/ppt/notesMasters/notesMaster1.xml" Id="R30007055c36a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a5a59e0ff84ccb" /><Relationship Type="http://schemas.openxmlformats.org/officeDocument/2006/relationships/notesMaster" Target="/ppt/notesMasters/notesMaster1.xml" Id="R0b931a2f08e24e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f35a8ba1294983" /><Relationship Type="http://schemas.openxmlformats.org/officeDocument/2006/relationships/notesMaster" Target="/ppt/notesMasters/notesMaster1.xml" Id="Rd434d27c7ae740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e3452129e94087" /><Relationship Type="http://schemas.openxmlformats.org/officeDocument/2006/relationships/notesMaster" Target="/ppt/notesMasters/notesMaster1.xml" Id="Rc946e94e6f3c4f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c9fde1831e4811" /><Relationship Type="http://schemas.openxmlformats.org/officeDocument/2006/relationships/notesMaster" Target="/ppt/notesMasters/notesMaster1.xml" Id="Rcbec31f06c9147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9446fd18924d4e" /><Relationship Type="http://schemas.openxmlformats.org/officeDocument/2006/relationships/notesMaster" Target="/ppt/notesMasters/notesMaster1.xml" Id="R969a55ffbcc94f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307a6d68904f6b" /><Relationship Type="http://schemas.openxmlformats.org/officeDocument/2006/relationships/notesMaster" Target="/ppt/notesMasters/notesMaster1.xml" Id="R364cab1b4ddc4b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784aa6c6c04cb5" /><Relationship Type="http://schemas.openxmlformats.org/officeDocument/2006/relationships/notesMaster" Target="/ppt/notesMasters/notesMaster1.xml" Id="R9ae7cfbcfbf440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a66f84dfaf473d" /><Relationship Type="http://schemas.openxmlformats.org/officeDocument/2006/relationships/notesMaster" Target="/ppt/notesMasters/notesMaster1.xml" Id="Rda3d776953d146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ee2078bc5540e4" /><Relationship Type="http://schemas.openxmlformats.org/officeDocument/2006/relationships/notesMaster" Target="/ppt/notesMasters/notesMaster1.xml" Id="R6f5e790c55ff4c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1db1e3cc074d7e" /><Relationship Type="http://schemas.openxmlformats.org/officeDocument/2006/relationships/notesMaster" Target="/ppt/notesMasters/notesMaster1.xml" Id="R8d5591d87fc9429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ee006d84254a16" /><Relationship Type="http://schemas.openxmlformats.org/officeDocument/2006/relationships/notesMaster" Target="/ppt/notesMasters/notesMaster1.xml" Id="R5abe4552add0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本作品面向数字 IP 验证，把 AI 放在测试探索环节：模型根据公开规格提出输入序列，真实 Icarus 编译与仿真执行这些输入，独立判据逐拍决定是否存在差异。作品的重点是验证工具链如何让模型建议变成可核查的执行证据。AI 服务采用第三方 DeepSeek API，用户要求的配置为 4.1f，历史回执报告模型名 deepseek-flash。没有训练或微调模型权重，也没有把模型自述作为功能正确的证明。本次材料整理日期为 2026-10-13，实验成绩保持其原始批次和版本身份。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 IP 的错误常落在连续周期之间。流水线需要检查 valid 与 data 的两级对齐，flush 优先级以及 invalid 时的数据归零。事件累计器需要检查使能条件、模 16 回绕以及 clear 不受 enable 限制。固定测试能覆盖已知边界，随机输入能探索更多组合，AI 根据规格和实际执行摘要提出下一组刺激，价值需要通过统一实验验证。本项目的使用对象包括数字电路学习者、小型 IP 开发者和技术复核人员。需求来源为项目合约、真实执行与异机用户问题，未提供行业访谈样本或工业效益量化。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模型只接收公开接口合约、自己的计划、剩余预算与允许的执行摘要。目标 RTL、私有变体标签、路径和 witness 不进入 API。系统对动作格式、接口与预算进行检查，再调用真实 Icarus，并使用从合约建立的独立判据核对实际输出。正确 RTL 按每个 episode 独立重放。AI 可以追加输入或停止，但不能改写结果。该分工是本作品 AI+IC 的主要结合点，也决定了错误归因：模型提案失败、环境或编译失败、功能差异和证据完整性是不同状态。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迭代依据真实问题记录。早期流水线实现后，逐拍检查与独立 oracle 暴露规格及参考模型共享错误。随后增加协议判据、类型化动作、严格格式恢复和统一预算。多批 Agent 对照分别归档，最新实验的 Agent/helper/系统提示仍冻结为 a969337，实际新模块批次源码为 20400fa。之后干净 checkout 与跨平台 Actions 暴露盘符、编码、浅 Git 历史和字体等假设，推动工具自动发现。2026-10-13 的异机真人操作又暴露安装、入口和缺失 RTL 依赖，推动编译预检查与界面修改。此过程说明软件如何改进，不把不同批次拼成 AI 效果增长曲线。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执行前先检查公开规则、端口、时钟与复位配置。用户上传的 RTL 可能存在缺失依赖，文件名和合法 module 名不同本身并非编译错误。真实异机用户只上传 onewire_byte_controller.v，其 module one_wire_master_byte 实例化 one_wire_master_bit，两次运行都因为缺少后者停止。编译预检查在付费调用或正式仿真前暴露这类问题。计划中必须有可依据规格核查的 expected 或断言；没有输出判据的观察语句和零比较不能算功能通过。工具自动发现缓解开发机固定盘符在异机上失效的问题。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模型提议计划并不意味着计划直接获准执行。类型化动作限定 append 或 stop，严格解析后再检验接口和预算。动作格式失败可以在原任务共享请求上限内补提，补提仍属于新的收费请求。单次 API 策略共享请求上限为 1，反馈和无反馈 Agent 为 3，episode 上限对应为 1 和 3，累计刺激拍上限为 24。每次提案向量上限 12，累计接受上限 64。输错格式、越界预算、重复提案和停止都保留真实状态；有界恢复不等于无成本重试。本项目没有自动传输重试。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FIFO 旧 RTL 与旧 reference model 曾共享计数错误，说明仅比较两个相似实现可能漏掉共同错误。独立 deque 规格检查中间占用时的同时读写：第 5 拍读出 25、写入 99，队列从 [25,66] 变为 [66,99]，占用量从 2 保持为 2。第 7 拍首次出现 full 端口差异，旧实现为 0，独立队列应为 1，修复后为 1。同一组 76 拍与 228 次输出比较，差异从 66 减到 0。该页是人工规格与实现修复案例，不能算 AI 自动发现缺陷或工业性能收益。外部人工 SPEC 补全另有 13/15 到 15/15 的历史记录，同样不属于 AI 表现统计。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反馈循环先实际执行，再把有限端口事实投影给模型。最新批次共保存 80 份端口文档，826 个有限原始采样中返回 701 点、注明省略 125 点。实际付费模型输入只有反馈策略的 20 个后续 STATE 携带端口事实，合计返回 180 点、省略 12 点。每份最多 12 个端点与等间隔样本，保留省略和 X/Z。无反馈策略的 31 个已发送 STATE 中 observation、plan_error、latest_decision_error 均为 None，但自己的计划、剩余预算和执行器早停仍保留。两个新模块的功能覆盖状态为 unsupported/unknown，不能补造命名 bins。反馈对照仍不足以证明因果收益。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最新独立单批上限为 1,000,000 tokens，实际 87 次收费请求，模型报告输入 301,910 加输出 37,714 等于 339,624 tokens。没有 unknown/pending 用量和自动传输重试。本实验记录为 87 份原响应，其中 86 份 JSON 可解析、1 份不可解析。产品的原文留存受安全策略约束：安全响应可以保留原文，阻断内容只保留 SHA、长度和原因码，不承诺无条件保存所有响应原文。85 个响应通过 schema，2 个格式拒绝。5 个预算拒绝属于 schema 通过子集，不能和 85 加 2 再相加。终态第 108 行先实际执行 14 拍，再遇预算拒绝，第三请求格式失败后达到共享请求上限，保留 decision_format_error 并计入完整分母。模型报告 tokens 是用量口径，不等同于第三方账单。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最新集合由 valid_data_pipeline 和 event_accumulator 两个新内部模块组成，每模块正确目标与 B/C 缺陷目标各重复三次，对比固定、均匀随机、协议随机、单次 API、反馈 Agent 和无反馈 Agent 六策略。2 模块乘 3 目标乘 3 重复乘 6 策略等于 108 任务，全部实际执行。每策略 4 个不同缺陷乘 3 重复等于 12 缺陷任务，另有 6 个正确任务。每任务共同使用最多 24 刺激拍的上限，single 最多 1 请求，反馈与无反馈 Agent 最多 3 请求，零 API 基线没有模型请求。这些是共同上限和不同策略权限，不能解释为实际等耗费：六策略累计实际刺激拍分别为 432、432、432、236、300、290。集合由同团队合成，Agent 冻结在新模块之前，但没有独立选型时间戳、外部盲测或预训练未见证明。该设计只能支持这组模块、参数、预算和有限刺激拍内的描述结论。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六策略在统一 12 缺陷任务分母下分别检出 12、10、8、8、11、10。固定测试本次最好，反馈 Agent 11/12，仅比均匀随机和无反馈各 10/12 多一项。4 个缺陷三次重复不能当作 12 个独立缺陷，不支持显著性、因果或工业普适收益。每任务共同 24 拍上限，但 single 最多 1 次请求、Agent 最多 3 次，实际刺激拍与请求数不同，不能称等耗费对照。36/36 正确任务实际执行，实际误报为 0。全批 134 个审计 round、268 个 DUT/参考执行侧，strict_comparison_eligible=true 只表示完整证据资格，并不意味着所有动作成功。终态格式失败仍在分母中。图表使用原生可编辑数据对象，和历史批次分开展示。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 v8 八模块批次登记 432 任务，414 实际执行，18 个零 DUT episode。各策略完整缺陷分母为 48，检出 48、32、48、29、37、37。反馈 37/48 没有超过固定或协议随机 48/48，也没有超过无反馈 37/48。收费请求 306，模型报告 973,149 tokens，严格证据资格为 false。144 个正确任务中 143 个实际执行，实际误报为 0，一项未执行。未执行与失败均保留，没有补跑旧 token_budget 行。两批模块集合、分母与预算不同，不合并检出率，也不由两图推断版本增长趋势。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证据从冻结登记输入开始，共 458 项，真实执行与请求保存 4,359 个 raw 文件，再用 manifest、ZIP 和 SHA-256 绑定原字节。Git 绑定 446 exact、12 项仅换行差异，因此原始登记快照仍是权威，不能称干净 checkout 每字节一致。核心审计由非实现者代理完成 2,192 项机器检查，包括 1,923 加 269；轨迹审计由实验 entry 代码作者检查 54 条轨迹和 87 次请求。核心重算 6,214 项输出并检查 27,434 个 VCD 端口值。机器审计没有追加 API 或 DUT，并不等于真人独立审核 H02。安全策略允许的失败原文与执行记录进入证据链；阻断响应只留 SHA、长度和原因码。拒绝、缺少执行与失败状态仍保留，不因不能公开原文而消失。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工程能力包括工具自动发现、干净 checkout、Windows/Linux CI 和验证门禁。历史提交 216438d9a434702ec0fcf41bdaac68aea8c2e5c8 确有 5 个 jobs 全绿：verify 37754301009 为 2031 pass、22 skip；CI 37754301011 的 Ubuntu Python 3.11/3.12 各为 2035 pass、18 skip，Windows Python 3.11/3.12 各为 2038 pass、15 skip。各 job 结果不能相加为独立测试总量。当前已推送提交 df7ccfa 的两条 Actions 工作流分别为 verify 38338658309 与 CI 38338659290，截至本轮核验均 completed/failure，Agent/helper 变更触发旧冻结实验夹具保护，因此本页明确写当前云端检查未通过。旧 v3 材料中的 2,033 pass、2 skip、mypy 88 文件零错误只是当时机器记录，不能直接替换成当前提交回归成绩，也不能把工程回归算作 AI 效果或用户成功。后续需要定位并修复当前提交检查失败，再独立保留新检查证据。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历史验证：https://github.com/TYOCT-13/iverilog-ai-lab/actions/runs/37754301009</a:t>
            </a:r>
          </a:p>
          <a:p xmlns:a="http://schemas.openxmlformats.org/drawingml/2006/main">
            <a:r>
              <a:t>历史CI：https://github.com/TYOCT-13/iverilog-ai-lab/actions/runs/37754301011</a:t>
            </a:r>
          </a:p>
          <a:p xmlns:a="http://schemas.openxmlformats.org/drawingml/2006/main">
            <a:r>
              <a:t>当前验证：https://github.com/TYOCT-13/iverilog-ai-lab/actions/runs/38338658309</a:t>
            </a:r>
          </a:p>
          <a:p xmlns:a="http://schemas.openxmlformats.org/drawingml/2006/main">
            <a:r>
              <a:t>当前CI：https://github.com/TYOCT-13/iverilog-ai-lab/actions/runs/38338659290</a:t>
            </a:r>
          </a:p>
          <a:p xmlns:a="http://schemas.openxmlformats.org/drawingml/2006/main">
            <a:r>
              <a:t>本轮核验日期：2026-10-13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用户明确说明在另一台电脑操作，过程中接受 AI 的安装、路径、依赖与界面提示。已记录 PC-01 至 PC-11 共 11 类问题，包含工具缺失、WindowsApps Python 别名、一次 uv 安装网络错误、Icarus PATH、固定盘符、工作目录、缺少 RTL 依赖、缺少输出判据、表单展开、入口和按钮辨识。两个证据包的 16/16 manifest 文件大小与 SHA 核验一致，但两次上传运行均 compile_failed，编译退出 2，run=null，零结果记录，没有 VCD。不能把两包当作两位参与者、功能通过、无协助复现或 H02 完成，也不补造耗时、满意度、成功率和 CPU 等未知信息。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反馈推动默认折叠端口与时钟表单，缩短首屏，调整生成 JSON 与校验入口，增加蓝色主操作辨识，并把校验放在执行前。编译预检查 f75f619 更早说明缺少模块，默认折叠和入口调整为 7059d25。工具路径改为自动发现或配置路径，替代开发机固定 D 盘假设。服务端默认输出上限 d9ffded 也已发布，界面的“无 token 上限”选择仍受实际服务端默认上限约束，不写成无限资源。开发侧修改与手册更新有提交证据，但尚未收到用户在同一电脑使用新版本复测成功的证据，不能把这些修改算成新增用户通过项。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可复用贡献在于把模型动作纳入工程约束：公开规格与接口约束降低无效输入，独立 oracle 阻断共享实现错误，严格格式有界恢复防止无界请求，账本保存预算和付费失败，原件绑定让结果能够核对。真实异机问题进一步推动界面与编译预检查。该组合覆盖了 AI 测试探索与 IC 实际执行之间的关键工程环节。当前实验仍未证明反馈的统计显著收益或工业普适提升；固定测试在最新集合检出最好。后续创新评价应结合独立新模块、多次重复、真实用户复测和明确成本，而不只挑选最高检出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近期先修复当前提交云端检查，补齐真实 RTL 依赖与可执行 expected/断言，在新终端和同一用户电脑上保留新的复测记录，不回填历史失败。随后补全环境版本、实际协助、运行日志、比较数与 VCD，再安排独立人工审核。更广泛的 AI 效果研究需要预登记新模块、统一预算、多次重复和更大独立缺陷集合，分别报告成本与失败。官方截止已在本轮核验为 2026-10-30 20:00 北京时间。技术方案 PDF 不超过 10MB，答辩交 PDF，佐证合并一份 PDF，视频可选。缺少真实队号时保留内部文件名，不编造队伍身份。PPTX 保持标题、表格和图表可编辑，PDF用于答辩阅读。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官方通知：https://www.aicomp.cn/notice/4756.html</a:t>
            </a:r>
          </a:p>
          <a:p xmlns:a="http://schemas.openxmlformats.org/drawingml/2006/main">
            <a:r>
              <a:t>规则PDF：https://www.aicomp.cn/wp-content/uploads/2026/07/%E9%99%84%E4%BB%B61AIC%C2%B7AI%E9%9B%86%E6%88%90%E7%94%B5%E8%B7%AF%E7%AB%9E%E8%B5%9B%E8%A7%84%E5%88%99%E5%8F%8A%E4%BD%9C%E5%93%81%E6%8F%90%E4%BA%A4%E8%A6%81%E6%B1%82.pdf</a:t>
            </a:r>
          </a:p>
          <a:p xmlns:a="http://schemas.openxmlformats.org/drawingml/2006/main">
            <a:r>
              <a:t>参考大纲PDF：https://www.aicomp.cn/wp-content/uploads/2026/07/%E9%99%84%E4%BB%B62AIC%C2%B7AI%E9%9B%86%E6%88%90%E7%94%B5%E8%B7%AF%E6%8A%80%E6%9C%AF%E6%8A%A5%E5%91%8A%E5%8F%82%E8%80%83%E5%A4%A7%E7%BA%B2.pdf</a:t>
            </a:r>
          </a:p>
          <a:p xmlns:a="http://schemas.openxmlformats.org/drawingml/2006/main">
            <a:r>
              <a:t>当前截止信息已于2026-10-13重新核验，优先于2026-10-05历史材料日期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 2026-10-07 已有的两个真实浏览器规格渲染截图，分别对应 valid_data_pipeline 与 event_accumulator 的正确 A 源码。WaveDrom 3.6.1 固定依赖的本机渲染 smoke、登记 write-spec 生成和显示检查已有回执。图中的正常操作片段沿用既有规格的八拍值，第一拍前假定复位完成。流水线图标明 E0 捕获、E1 输出与 flush 优先，事件累计器图标明 clear 优先以及四位计数。这是规格示例，图片不是 VCD，也不代表此次材料新增的 DUT 验证。未画出的复位脉冲、回绕等不能据此声称已测。图源来自 docs/experiment/rtl-spec-rendering-2026-10-07/visual，说明与回执见 docs/experiment/rtl_spec_rendering_2026-10-07.md 及同目录 rendering_receipt.json。不将渲染添加到旧 108、432 任务或工程回归统计。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本页采用 2026-10-13 本轮实际浏览器截图，图片只作裁切展示，原始 JPG 保留。进入页显示在线模型为默认选项，进入配置按钮为蓝色。上传工作台中关键校验与从表格生成 JSON 入口为蓝色，详细配置区域收起；尚未校验接口时，生成计划与运行按钮处于禁用状态。本轮在开发侧上传公开 valid_data_pipeline 正确 A RTL，实际 Icarus -tnull 编译预检查通过。没有点击计划生成或执行仿真，没有新增 API 请求。本页的界面观察与编译预检查不等于功能仿真通过，也不能代替真实用户在异机使用新版本成功复测或 H02 完成的证据。来源为 docs/competition/ic/v4/screenshots/onboarding-2026-10-13.jpg 和 upload-workspace-2026-10-13.jpg，以及本轮开发侧浏览器操作记录。裁切只突出界面已有控件，不增改控件内容。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事实源：docs/competition/ic/v3/material_data.json</a:t>
            </a:r>
          </a:p>
          <a:p xmlns:a="http://schemas.openxmlformats.org/drawingml/2006/main">
            <a:r>
              <a:t>SHA-256：33a11bcce08331a5ccf18ee1c7da05059a8978a4a233a87661ff409d2d1dc8b4</a:t>
            </a:r>
          </a:p>
          <a:p xmlns:a="http://schemas.openxmlformats.org/drawingml/2006/main">
            <a:r>
              <a:t>最新原件：docs/experiment/agent-new-holdout-study-live-2026-10-05/receipt.json</a:t>
            </a:r>
          </a:p>
          <a:p xmlns:a="http://schemas.openxmlformats.org/drawingml/2006/main">
            <a:r>
              <a:t>历史原件：docs/experiment/agent-feedback-study-live-2026-10-05/receipt.json</a:t>
            </a:r>
          </a:p>
          <a:p xmlns:a="http://schemas.openxmlformats.org/drawingml/2006/main">
            <a:r>
              <a:t>异机记录：docs/trial/other_pc_user_trial_2026-10-13.md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1c51ae0bd49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5d4bcb7b743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488a75ea54e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1391b248041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eb614990741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cad2cb38b45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E7854F-056F-49F9-A3CF-D1F7935703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7E33CA-83DA-4BDF-9B8E-19531395B8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2D4ABD-B352-4C02-8956-6049204D5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69E2D-FC70-44C0-A4E9-6102EEF121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3598BB-815D-4504-B474-8AD5BE817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D92AA9-6B10-479D-92A2-ED7210DD3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2705F2-1614-4CE2-9AF2-35CC06720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044656-DF6F-4C76-B4A2-5A86482AEF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D71509-791C-4991-B0DF-A1C7C611E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BACF08-8A95-41D6-B5E2-02501245D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5889513f1a471a" /><Relationship Type="http://schemas.openxmlformats.org/officeDocument/2006/relationships/slideLayout" Target="/ppt/slideLayouts/slideLayout1.xml" Id="Rae8ac8c524894bf6" /><Relationship Type="http://schemas.openxmlformats.org/officeDocument/2006/relationships/slideLayout" Target="/ppt/slideLayouts/slideLayout2.xml" Id="R241d69e8afa54a0d" /><Relationship Type="http://schemas.openxmlformats.org/officeDocument/2006/relationships/slideLayout" Target="/ppt/slideLayouts/slideLayout3.xml" Id="R828120d2cc5a4e33" /><Relationship Type="http://schemas.openxmlformats.org/officeDocument/2006/relationships/slideLayout" Target="/ppt/slideLayouts/slideLayout4.xml" Id="R84f80e103e0748b4" /><Relationship Type="http://schemas.openxmlformats.org/officeDocument/2006/relationships/slideLayout" Target="/ppt/slideLayouts/slideLayout5.xml" Id="Reac2f25b3aef4c4f" /><Relationship Type="http://schemas.openxmlformats.org/officeDocument/2006/relationships/slideLayout" Target="/ppt/slideLayouts/slideLayout6.xml" Id="R48e1bdc10c1040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8ac8c524894bf6"/>
    <p:sldLayoutId xmlns:r="http://schemas.openxmlformats.org/officeDocument/2006/relationships" id="2147483650" r:id="R241d69e8afa54a0d"/>
    <p:sldLayoutId xmlns:r="http://schemas.openxmlformats.org/officeDocument/2006/relationships" id="2147483651" r:id="R828120d2cc5a4e33"/>
    <p:sldLayoutId xmlns:r="http://schemas.openxmlformats.org/officeDocument/2006/relationships" id="2147483652" r:id="R84f80e103e0748b4"/>
    <p:sldLayoutId xmlns:r="http://schemas.openxmlformats.org/officeDocument/2006/relationships" id="2147483653" r:id="Reac2f25b3aef4c4f"/>
    <p:sldLayoutId xmlns:r="http://schemas.openxmlformats.org/officeDocument/2006/relationships" id="2147483654" r:id="R48e1bdc10c1040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1c69b7d10418e" /><Relationship Type="http://schemas.openxmlformats.org/officeDocument/2006/relationships/notesSlide" Target="/ppt/notesSlides/notesSlide1.xml" Id="Raec1aa5ad24f4a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2b18e31f642ae" /><Relationship Type="http://schemas.openxmlformats.org/officeDocument/2006/relationships/image" Target="/ppt/media/image.png" Id="Ra4f9f3ae5a1a413d" /><Relationship Type="http://schemas.openxmlformats.org/officeDocument/2006/relationships/notesSlide" Target="/ppt/notesSlides/notesSlide2.xml" Id="R652bb74e2ebe4a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d7ec9a0fa4026" /><Relationship Type="http://schemas.openxmlformats.org/officeDocument/2006/relationships/image" Target="/ppt/media/image2.png" Id="R2749a23f725744b6" /><Relationship Type="http://schemas.openxmlformats.org/officeDocument/2006/relationships/notesSlide" Target="/ppt/notesSlides/notesSlide3.xml" Id="R461e9b101bf4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fe07bc9624aed" /><Relationship Type="http://schemas.openxmlformats.org/officeDocument/2006/relationships/image" Target="/ppt/media/image3.png" Id="Rfa0ab180d492410c" /><Relationship Type="http://schemas.openxmlformats.org/officeDocument/2006/relationships/notesSlide" Target="/ppt/notesSlides/notesSlide4.xml" Id="Rf433bf953f0a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854db62334e83" /><Relationship Type="http://schemas.openxmlformats.org/officeDocument/2006/relationships/image" Target="/ppt/media/image4.png" Id="R4ebd58554d76454d" /><Relationship Type="http://schemas.openxmlformats.org/officeDocument/2006/relationships/notesSlide" Target="/ppt/notesSlides/notesSlide5.xml" Id="R81634f3a862b44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05e9d5d9a042b3" /><Relationship Type="http://schemas.openxmlformats.org/officeDocument/2006/relationships/image" Target="/ppt/media/image5.png" Id="R6ac2c136c6724016" /><Relationship Type="http://schemas.openxmlformats.org/officeDocument/2006/relationships/notesSlide" Target="/ppt/notesSlides/notesSlide6.xml" Id="R51b9e1f87d3a45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901cd1c6647ac" /><Relationship Type="http://schemas.openxmlformats.org/officeDocument/2006/relationships/image" Target="/ppt/media/image6.png" Id="R3d0e17511d3744c6" /><Relationship Type="http://schemas.openxmlformats.org/officeDocument/2006/relationships/notesSlide" Target="/ppt/notesSlides/notesSlide7.xml" Id="Rb5263886e34744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be77fe9d44b59" /><Relationship Type="http://schemas.openxmlformats.org/officeDocument/2006/relationships/image" Target="/ppt/media/image7.png" Id="Raa846d02214e402e" /><Relationship Type="http://schemas.openxmlformats.org/officeDocument/2006/relationships/notesSlide" Target="/ppt/notesSlides/notesSlide8.xml" Id="R7e21c5ba744d49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c08cdcc3bf4ea4" /><Relationship Type="http://schemas.openxmlformats.org/officeDocument/2006/relationships/image" Target="/ppt/media/image8.png" Id="R2a4729e3195f47bc" /><Relationship Type="http://schemas.openxmlformats.org/officeDocument/2006/relationships/notesSlide" Target="/ppt/notesSlides/notesSlide9.xml" Id="Rca8fb752857948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6836779c54b20" /><Relationship Type="http://schemas.openxmlformats.org/officeDocument/2006/relationships/notesSlide" Target="/ppt/notesSlides/notesSlide10.xml" Id="Rd4e35eb0a87541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e3e9e4e1b4288" /><Relationship Type="http://schemas.openxmlformats.org/officeDocument/2006/relationships/chart" Target="/ppt/slides/charts/chart1.xml" Id="Ra24dadb19a8847c9" /><Relationship Type="http://schemas.openxmlformats.org/officeDocument/2006/relationships/notesSlide" Target="/ppt/notesSlides/notesSlide11.xml" Id="Rb45a584f5d5740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a259ba4cc450c" /><Relationship Type="http://schemas.openxmlformats.org/officeDocument/2006/relationships/chart" Target="/ppt/slides/charts/chart2.xml" Id="R8e8bdd01821343b3" /><Relationship Type="http://schemas.openxmlformats.org/officeDocument/2006/relationships/notesSlide" Target="/ppt/notesSlides/notesSlide12.xml" Id="R8928e6ad34624e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a85fc9d354697" /><Relationship Type="http://schemas.openxmlformats.org/officeDocument/2006/relationships/notesSlide" Target="/ppt/notesSlides/notesSlide13.xml" Id="Rffd0f35909a84d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24cae6315490d" /><Relationship Type="http://schemas.openxmlformats.org/officeDocument/2006/relationships/image" Target="/ppt/media/image9.png" Id="R84a9e9fc427b460b" /><Relationship Type="http://schemas.openxmlformats.org/officeDocument/2006/relationships/notesSlide" Target="/ppt/notesSlides/notesSlide14.xml" Id="R6b50662205ff4c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9c40dacb34a29" /><Relationship Type="http://schemas.openxmlformats.org/officeDocument/2006/relationships/image" Target="/ppt/media/image10.png" Id="Rac19db887db34bcb" /><Relationship Type="http://schemas.openxmlformats.org/officeDocument/2006/relationships/notesSlide" Target="/ppt/notesSlides/notesSlide15.xml" Id="R420531dbb6b24d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57463983141c6" /><Relationship Type="http://schemas.openxmlformats.org/officeDocument/2006/relationships/image" Target="/ppt/media/image11.png" Id="Rcba8325f892842db" /><Relationship Type="http://schemas.openxmlformats.org/officeDocument/2006/relationships/notesSlide" Target="/ppt/notesSlides/notesSlide16.xml" Id="Rffe7319e89ef46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cb648823b470d" /><Relationship Type="http://schemas.openxmlformats.org/officeDocument/2006/relationships/notesSlide" Target="/ppt/notesSlides/notesSlide17.xml" Id="R787de2d69aed4b8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569c6fcef470e" /><Relationship Type="http://schemas.openxmlformats.org/officeDocument/2006/relationships/image" Target="/ppt/media/image12.png" Id="Rfb92130c02204dee" /><Relationship Type="http://schemas.openxmlformats.org/officeDocument/2006/relationships/notesSlide" Target="/ppt/notesSlides/notesSlide18.xml" Id="R247a1ac8cfdb44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81edb48c043fc" /><Relationship Type="http://schemas.openxmlformats.org/officeDocument/2006/relationships/image" Target="/ppt/media/image.jpeg" Id="R44ae3ab10a314aee" /><Relationship Type="http://schemas.openxmlformats.org/officeDocument/2006/relationships/image" Target="/ppt/media/image2.jpeg" Id="R9ad05c0a466040d8" /><Relationship Type="http://schemas.openxmlformats.org/officeDocument/2006/relationships/notesSlide" Target="/ppt/notesSlides/notesSlide19.xml" Id="R26229889eac445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530e3a4454c11" /><Relationship Type="http://schemas.openxmlformats.org/officeDocument/2006/relationships/image" Target="/ppt/media/image3.jpeg" Id="Rcc80575d9c8d451d" /><Relationship Type="http://schemas.openxmlformats.org/officeDocument/2006/relationships/image" Target="/ppt/media/image4.jpeg" Id="Ra959523951774d27" /><Relationship Type="http://schemas.openxmlformats.org/officeDocument/2006/relationships/image" Target="/ppt/media/image5.jpeg" Id="R325bbec6c30a405f" /><Relationship Type="http://schemas.openxmlformats.org/officeDocument/2006/relationships/notesSlide" Target="/ppt/notesSlides/notesSlide20.xml" Id="Rd25d1fcd3c3241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检出缺陷任务</c:v>
          </c:tx>
          <c:spPr>
            <a:solidFill xmlns:a="http://schemas.openxmlformats.org/drawingml/2006/main">
              <a:srgbClr val="7585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ABC8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8202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C9D3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9D3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5F7F8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5F7F8"/>
    </a:solidFill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检出缺陷任务</c:v>
          </c:tx>
          <c:spPr>
            <a:solidFill xmlns:a="http://schemas.openxmlformats.org/drawingml/2006/main">
              <a:srgbClr val="75858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00ABC8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无反馈 Agent</c:v>
                </c:pt>
                <c:pt idx="1">
                  <c:v>反馈 Agent</c:v>
                </c:pt>
                <c:pt idx="2">
                  <c:v>单次 API</c:v>
                </c:pt>
                <c:pt idx="3">
                  <c:v>协议随机</c:v>
                </c:pt>
                <c:pt idx="4">
                  <c:v>均匀随机</c:v>
                </c:pt>
                <c:pt idx="5">
                  <c:v>固定测试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37</c:v>
                </c:pt>
                <c:pt idx="1">
                  <c:v>37</c:v>
                </c:pt>
                <c:pt idx="2">
                  <c:v>29</c:v>
                </c:pt>
                <c:pt idx="3">
                  <c:v>48</c:v>
                </c:pt>
                <c:pt idx="4">
                  <c:v>32</c:v>
                </c:pt>
                <c:pt idx="5">
                  <c:v>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8202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48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C9D3D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9D3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12"/>
      </c:valAx>
      <c:spPr>
        <a:solidFill xmlns:a="http://schemas.openxmlformats.org/drawingml/2006/main">
          <a:srgbClr val="F5F7F8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5F7F8"/>
    </a:solidFill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0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CARUS">
            <a:extLst xmlns:a="http://schemas.openxmlformats.org/drawingml/2006/main">
              <a:ext uri="{FF2B5EF4-FFF2-40B4-BE49-F238E27FC236}">
                <a16:creationId xmlns:a16="http://schemas.microsoft.com/office/drawing/2014/main" id="{8B46F25B-1304-4F80-9D2E-73FA500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defRPr>
            </a:pPr>
            <a:r>
              <a:rPr sz="9450" b="1">
                <a:solidFill>
                  <a:srgbClr val="F1F3F4"/>
                </a:solidFill>
                <a:latin typeface="Bahnschrift"/>
                <a:ea typeface="Bahnschrift"/>
                <a:cs typeface="Bahnschrift"/>
              </a:rPr>
              <a:t>ICARUS</a:t>
            </a:r>
          </a:p>
        </p:txBody>
      </p:sp>
      <p:sp>
        <p:nvSpPr>
          <p:cNvPr id="2" name="数字 IP 验证智能体">
            <a:extLst xmlns:a="http://schemas.openxmlformats.org/drawingml/2006/main">
              <a:ext uri="{FF2B5EF4-FFF2-40B4-BE49-F238E27FC236}">
                <a16:creationId xmlns:a16="http://schemas.microsoft.com/office/drawing/2014/main" id="{53265687-ABFD-45C2-8144-0D6DBACB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F1F3F4"/>
                </a:solidFill>
                <a:latin typeface="Noto Sans SC"/>
                <a:ea typeface="Noto Sans SC"/>
                <a:cs typeface="Noto Sans SC"/>
              </a:rPr>
              <a:t>数字 IP 验证智能体</a:t>
            </a:r>
          </a:p>
        </p:txBody>
      </p:sp>
      <p:sp>
        <p:nvSpPr>
          <p:cNvPr id="3" name="AI 测试探索与真实仿真证据">
            <a:extLst xmlns:a="http://schemas.openxmlformats.org/drawingml/2006/main">
              <a:ext uri="{FF2B5EF4-FFF2-40B4-BE49-F238E27FC236}">
                <a16:creationId xmlns:a16="http://schemas.microsoft.com/office/drawing/2014/main" id="{19A2C623-DF29-4C80-AC28-F8DA82F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0">
                <a:solidFill>
                  <a:srgbClr val="B3BDC2"/>
                </a:solidFill>
                <a:latin typeface="Noto Sans SC"/>
                <a:ea typeface="Noto Sans SC"/>
                <a:cs typeface="Noto Sans SC"/>
              </a:rPr>
              <a:t>AI 测试探索与真实仿真证据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B78B-DD60-4CE4-A11E-70D3870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BC8"/>
            </a:solidFill>
          </a:ln>
        </p:spPr>
      </p:sp>
      <p:sp>
        <p:nvSpPr>
          <p:cNvPr id="5" name="AI+集成电路">
            <a:extLst xmlns:a="http://schemas.openxmlformats.org/drawingml/2006/main">
              <a:ext uri="{FF2B5EF4-FFF2-40B4-BE49-F238E27FC236}">
                <a16:creationId xmlns:a16="http://schemas.microsoft.com/office/drawing/2014/main" id="{9D49A42C-1640-4C7E-A3C9-D28950A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AI+集成电路</a:t>
            </a:r>
          </a:p>
        </p:txBody>
      </p:sp>
      <p:sp>
        <p:nvSpPr>
          <p:cNvPr id="6" name="2026-10-13">
            <a:extLst xmlns:a="http://schemas.openxmlformats.org/drawingml/2006/main">
              <a:ext uri="{FF2B5EF4-FFF2-40B4-BE49-F238E27FC236}">
                <a16:creationId xmlns:a16="http://schemas.microsoft.com/office/drawing/2014/main" id="{71D2A97B-D71F-4628-9B1A-6C59F22A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defRPr>
            </a:pPr>
            <a:r>
              <a:rPr sz="1800" b="0">
                <a:solidFill>
                  <a:srgbClr val="B3BDC2"/>
                </a:solidFill>
                <a:latin typeface="Bahnschrift"/>
                <a:ea typeface="Bahnschrift"/>
                <a:cs typeface="Bahnschrift"/>
              </a:rPr>
              <a:t>2026-10-13</a:t>
            </a:r>
          </a:p>
        </p:txBody>
      </p:sp>
    </p:spTree>
    <p:extLst>
      <p:ext uri="{BB962C8B-B14F-4D97-AF65-F5344CB8AC3E}">
        <p14:creationId xmlns:p14="http://schemas.microsoft.com/office/powerpoint/2010/main" val="478032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数字 IP 的时序验证需求">
            <a:extLst xmlns:a="http://schemas.openxmlformats.org/drawingml/2006/main">
              <a:ext uri="{FF2B5EF4-FFF2-40B4-BE49-F238E27FC236}">
                <a16:creationId xmlns:a16="http://schemas.microsoft.com/office/drawing/2014/main" id="{11ADDBE5-E4A6-4CDB-AEBD-41EC34E0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数字 IP 的时序验证需求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7A3FA42B-54D7-4939-8C99-1B35A770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522B-57C5-4F9A-B75A-2EFF8142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F0689-2A40-40F6-B9B7-CF9A9C839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9f3ae5a1a413d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需求来自公开合约、实际执行和用户问题记录">
            <a:extLst xmlns:a="http://schemas.openxmlformats.org/drawingml/2006/main">
              <a:ext uri="{FF2B5EF4-FFF2-40B4-BE49-F238E27FC236}">
                <a16:creationId xmlns:a16="http://schemas.microsoft.com/office/drawing/2014/main" id="{4E4BBC19-1F86-488B-BC2C-66ADC7AC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需求来自公开合约、实际执行和用户问题记录</a:t>
            </a:r>
          </a:p>
        </p:txBody>
      </p:sp>
    </p:spTree>
    <p:extLst>
      <p:ext uri="{BB962C8B-B14F-4D97-AF65-F5344CB8AC3E}">
        <p14:creationId xmlns:p14="http://schemas.microsoft.com/office/powerpoint/2010/main" val="2110058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测试探索与独立裁决">
            <a:extLst xmlns:a="http://schemas.openxmlformats.org/drawingml/2006/main">
              <a:ext uri="{FF2B5EF4-FFF2-40B4-BE49-F238E27FC236}">
                <a16:creationId xmlns:a16="http://schemas.microsoft.com/office/drawing/2014/main" id="{24DAE20C-38D0-4DE6-A6BD-000E59EC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测试探索与独立裁决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2903933-EB80-491F-BCA8-C6BBFF9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183FC-84C4-4B33-B988-9A72600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1980F-8761-4E80-B995-7171E0DBD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9a23f725744b6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第三方 DeepSeek API（4.1f），没有训练或微调模型权重">
            <a:extLst xmlns:a="http://schemas.openxmlformats.org/drawingml/2006/main">
              <a:ext uri="{FF2B5EF4-FFF2-40B4-BE49-F238E27FC236}">
                <a16:creationId xmlns:a16="http://schemas.microsoft.com/office/drawing/2014/main" id="{10565B02-B21E-404E-801B-218E5A01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第三方 DeepSeek API（4.1f），没有训练或微调模型权重</a:t>
            </a:r>
          </a:p>
        </p:txBody>
      </p:sp>
    </p:spTree>
    <p:extLst>
      <p:ext uri="{BB962C8B-B14F-4D97-AF65-F5344CB8AC3E}">
        <p14:creationId xmlns:p14="http://schemas.microsoft.com/office/powerpoint/2010/main" val="281377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验证链路的迭代过程">
            <a:extLst xmlns:a="http://schemas.openxmlformats.org/drawingml/2006/main">
              <a:ext uri="{FF2B5EF4-FFF2-40B4-BE49-F238E27FC236}">
                <a16:creationId xmlns:a16="http://schemas.microsoft.com/office/drawing/2014/main" id="{A0551C1B-DF38-4947-8375-CF5A9A1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验证链路的迭代过程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2283DBAD-E3F6-4713-B42F-3BC0E75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8448B-6996-4F39-8636-C8287BB2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F74F5-5DDF-4193-905B-B722E2CD3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ab180d492410c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各实验批次独立保留，迭代路线不代表 AI 效果增长曲线">
            <a:extLst xmlns:a="http://schemas.openxmlformats.org/drawingml/2006/main">
              <a:ext uri="{FF2B5EF4-FFF2-40B4-BE49-F238E27FC236}">
                <a16:creationId xmlns:a16="http://schemas.microsoft.com/office/drawing/2014/main" id="{A3A68EDB-F6D3-4E12-8412-9E5CCAC3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各实验批次独立保留，迭代路线不代表 AI 效果增长曲线</a:t>
            </a:r>
          </a:p>
        </p:txBody>
      </p:sp>
    </p:spTree>
    <p:extLst>
      <p:ext uri="{BB962C8B-B14F-4D97-AF65-F5344CB8AC3E}">
        <p14:creationId xmlns:p14="http://schemas.microsoft.com/office/powerpoint/2010/main" val="20037164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规格与接口前置校验">
            <a:extLst xmlns:a="http://schemas.openxmlformats.org/drawingml/2006/main">
              <a:ext uri="{FF2B5EF4-FFF2-40B4-BE49-F238E27FC236}">
                <a16:creationId xmlns:a16="http://schemas.microsoft.com/office/drawing/2014/main" id="{7E9461B5-07EA-43CD-8845-27F339BC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规格与接口前置校验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EF798AFF-88CC-4BEE-B46A-8BC2D6A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5A796-529A-4931-8389-0895DF6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5FE91-2B38-47CB-AD68-FFAF4F00CB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d58554d76454d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先校验接口与依赖，再生成计划和执行仿真">
            <a:extLst xmlns:a="http://schemas.openxmlformats.org/drawingml/2006/main">
              <a:ext uri="{FF2B5EF4-FFF2-40B4-BE49-F238E27FC236}">
                <a16:creationId xmlns:a16="http://schemas.microsoft.com/office/drawing/2014/main" id="{E0668144-4982-4EFE-8B21-E115B3D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先校验接口与依赖，再生成计划和执行仿真</a:t>
            </a:r>
          </a:p>
        </p:txBody>
      </p:sp>
    </p:spTree>
    <p:extLst>
      <p:ext uri="{BB962C8B-B14F-4D97-AF65-F5344CB8AC3E}">
        <p14:creationId xmlns:p14="http://schemas.microsoft.com/office/powerpoint/2010/main" val="881340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有界测试规划">
            <a:extLst xmlns:a="http://schemas.openxmlformats.org/drawingml/2006/main">
              <a:ext uri="{FF2B5EF4-FFF2-40B4-BE49-F238E27FC236}">
                <a16:creationId xmlns:a16="http://schemas.microsoft.com/office/drawing/2014/main" id="{8FCC027B-50FF-41F3-9A5E-C8C3043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有界测试规划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3330224-959D-4B03-A43B-8409A3D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D281-952A-4FE5-9253-2FD2643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6C296-E4B7-433A-A449-0F10A86C3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2c136c6724016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补提仍收费，并占用原任务共享请求上限">
            <a:extLst xmlns:a="http://schemas.openxmlformats.org/drawingml/2006/main">
              <a:ext uri="{FF2B5EF4-FFF2-40B4-BE49-F238E27FC236}">
                <a16:creationId xmlns:a16="http://schemas.microsoft.com/office/drawing/2014/main" id="{B25E0F1A-7433-4403-9CDC-A819E7B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补提仍收费，并占用原任务共享请求上限</a:t>
            </a:r>
          </a:p>
        </p:txBody>
      </p:sp>
    </p:spTree>
    <p:extLst>
      <p:ext uri="{BB962C8B-B14F-4D97-AF65-F5344CB8AC3E}">
        <p14:creationId xmlns:p14="http://schemas.microsoft.com/office/powerpoint/2010/main" val="642105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IFO 独立队列判据">
            <a:extLst xmlns:a="http://schemas.openxmlformats.org/drawingml/2006/main">
              <a:ext uri="{FF2B5EF4-FFF2-40B4-BE49-F238E27FC236}">
                <a16:creationId xmlns:a16="http://schemas.microsoft.com/office/drawing/2014/main" id="{B771ED58-4910-4859-AD80-0D8465F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FIFO 独立队列判据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0E50311-F88D-409A-B240-CAE699C8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D1E24-1A51-4CA6-A81E-F3A9C7B1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09FA4-7600-4BF6-8E0F-56A16ADE8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e17511d3744c6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历史规格修复案例：76 拍、228 次比较，差异 66 减至 0">
            <a:extLst xmlns:a="http://schemas.openxmlformats.org/drawingml/2006/main">
              <a:ext uri="{FF2B5EF4-FFF2-40B4-BE49-F238E27FC236}">
                <a16:creationId xmlns:a16="http://schemas.microsoft.com/office/drawing/2014/main" id="{1AFBE1DA-A3A8-4B7F-8410-27705F59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历史规格修复案例：76 拍、228 次比较，差异 66 减至 0</a:t>
            </a:r>
          </a:p>
        </p:txBody>
      </p:sp>
    </p:spTree>
    <p:extLst>
      <p:ext uri="{BB962C8B-B14F-4D97-AF65-F5344CB8AC3E}">
        <p14:creationId xmlns:p14="http://schemas.microsoft.com/office/powerpoint/2010/main" val="718185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带真实端口事实的反馈循环">
            <a:extLst xmlns:a="http://schemas.openxmlformats.org/drawingml/2006/main">
              <a:ext uri="{FF2B5EF4-FFF2-40B4-BE49-F238E27FC236}">
                <a16:creationId xmlns:a16="http://schemas.microsoft.com/office/drawing/2014/main" id="{7C698164-009D-4C2F-9F0F-7413C55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带真实端口事实的反馈循环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1E64754-793F-4CDB-9F8A-925FECF2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8A479-1F1C-4431-BB7C-A073513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9D6C7-52C0-4D53-BAF5-DC0EA58C8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46d02214e402e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保存 80 份端口文档，实际发给模型的反馈 STATE 为 20 个">
            <a:extLst xmlns:a="http://schemas.openxmlformats.org/drawingml/2006/main">
              <a:ext uri="{FF2B5EF4-FFF2-40B4-BE49-F238E27FC236}">
                <a16:creationId xmlns:a16="http://schemas.microsoft.com/office/drawing/2014/main" id="{224EF411-AA8C-4D30-AECF-44B1809B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保存 80 份端口文档，实际发给模型的反馈 STATE 为 20 个</a:t>
            </a:r>
          </a:p>
        </p:txBody>
      </p:sp>
    </p:spTree>
    <p:extLst>
      <p:ext uri="{BB962C8B-B14F-4D97-AF65-F5344CB8AC3E}">
        <p14:creationId xmlns:p14="http://schemas.microsoft.com/office/powerpoint/2010/main" val="1424814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请求预算与付费失败留存">
            <a:extLst xmlns:a="http://schemas.openxmlformats.org/drawingml/2006/main">
              <a:ext uri="{FF2B5EF4-FFF2-40B4-BE49-F238E27FC236}">
                <a16:creationId xmlns:a16="http://schemas.microsoft.com/office/drawing/2014/main" id="{1DBDA8F2-555F-44D1-A10C-14DB3304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请求预算与付费失败留存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2CE0C4B6-5569-4D99-A622-EDF2AB8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EA7F1-BD60-46B4-B594-36805D0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4E9BF-3852-4FDD-980F-E10421F58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729e3195f47bc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最新批次 87 请求、339,624 reported tokens，保留 1 ">
            <a:extLst xmlns:a="http://schemas.openxmlformats.org/drawingml/2006/main">
              <a:ext uri="{FF2B5EF4-FFF2-40B4-BE49-F238E27FC236}">
                <a16:creationId xmlns:a16="http://schemas.microsoft.com/office/drawing/2014/main" id="{8B1B1C22-67B8-4147-A7AA-1199F73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最新批次 87 请求、339,624 reported tokens，保留 1 项终态格式失败</a:t>
            </a:r>
          </a:p>
        </p:txBody>
      </p:sp>
    </p:spTree>
    <p:extLst>
      <p:ext uri="{BB962C8B-B14F-4D97-AF65-F5344CB8AC3E}">
        <p14:creationId xmlns:p14="http://schemas.microsoft.com/office/powerpoint/2010/main" val="80112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最新 108 任务的对照设计">
            <a:extLst xmlns:a="http://schemas.openxmlformats.org/drawingml/2006/main">
              <a:ext uri="{FF2B5EF4-FFF2-40B4-BE49-F238E27FC236}">
                <a16:creationId xmlns:a16="http://schemas.microsoft.com/office/drawing/2014/main" id="{0E4598F6-CD05-451E-B72D-0BFC784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最新 108 任务的对照设计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7883287-B509-4C48-93EC-B3BAA643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CA783-731E-4813-A294-4809F3D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两个新内部模块，六策略使用统一登记集合">
            <a:extLst xmlns:a="http://schemas.openxmlformats.org/drawingml/2006/main">
              <a:ext uri="{FF2B5EF4-FFF2-40B4-BE49-F238E27FC236}">
                <a16:creationId xmlns:a16="http://schemas.microsoft.com/office/drawing/2014/main" id="{1C4EF156-D9A3-4E63-8E82-58552E4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两个新内部模块，六策略使用统一登记集合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A4961-A639-4C91-80CD-47FEF5F150D6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4629150"/>
                <a:gridCol w="35242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公开合约要点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目标与重复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valid/data 流水线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两级对齐、flush 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事件累计器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 16 回绕、clear 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正确 / B / C，各 3 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2 模块 × 3 目标 × 3 重复 × 6 策略 = 108 任务">
            <a:extLst xmlns:a="http://schemas.openxmlformats.org/drawingml/2006/main">
              <a:ext uri="{FF2B5EF4-FFF2-40B4-BE49-F238E27FC236}">
                <a16:creationId xmlns:a16="http://schemas.microsoft.com/office/drawing/2014/main" id="{30C1590E-E153-4D27-AD78-8B9C5276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00ABC8"/>
                </a:solidFill>
                <a:latin typeface="Noto Sans SC"/>
                <a:ea typeface="Noto Sans SC"/>
                <a:cs typeface="Noto Sans SC"/>
              </a:rPr>
              <a:t>2 模块 × 3 目标 × 3 重复 × 6 策略 = 108 任务</a:t>
            </a:r>
          </a:p>
        </p:txBody>
      </p:sp>
      <p:sp>
        <p:nvSpPr>
          <p:cNvPr id="7" name="每策略 12 缺陷任务，另有 6 正确任务">
            <a:extLst xmlns:a="http://schemas.openxmlformats.org/drawingml/2006/main">
              <a:ext uri="{FF2B5EF4-FFF2-40B4-BE49-F238E27FC236}">
                <a16:creationId xmlns:a16="http://schemas.microsoft.com/office/drawing/2014/main" id="{D02DB3A2-130F-43AE-8427-6A411D84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每策略 12 缺陷任务，另有 6 正确任务</a:t>
            </a:r>
          </a:p>
        </p:txBody>
      </p:sp>
      <p:sp>
        <p:nvSpPr>
          <p:cNvPr id="8" name="同团队合成集合，未提供外部盲测或预训练未见证明">
            <a:extLst xmlns:a="http://schemas.openxmlformats.org/drawingml/2006/main">
              <a:ext uri="{FF2B5EF4-FFF2-40B4-BE49-F238E27FC236}">
                <a16:creationId xmlns:a16="http://schemas.microsoft.com/office/drawing/2014/main" id="{F16F9669-924B-4ACE-B672-0E1F3637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同团队合成集合，未提供外部盲测或预训练未见证明</a:t>
            </a:r>
          </a:p>
        </p:txBody>
      </p:sp>
    </p:spTree>
    <p:extLst>
      <p:ext uri="{BB962C8B-B14F-4D97-AF65-F5344CB8AC3E}">
        <p14:creationId xmlns:p14="http://schemas.microsoft.com/office/powerpoint/2010/main" val="1088611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最新批次的六策略检出">
            <a:extLst xmlns:a="http://schemas.openxmlformats.org/drawingml/2006/main">
              <a:ext uri="{FF2B5EF4-FFF2-40B4-BE49-F238E27FC236}">
                <a16:creationId xmlns:a16="http://schemas.microsoft.com/office/drawing/2014/main" id="{A1BB3D3E-8ACD-4B71-8451-6C5DF69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最新批次的六策略检出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10F837A7-19EE-467F-8BB9-E96CF1B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75A9E-2B82-4271-B290-601A476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反馈 11/12，仅比随机与无反馈各多 1 项">
            <a:extLst xmlns:a="http://schemas.openxmlformats.org/drawingml/2006/main">
              <a:ext uri="{FF2B5EF4-FFF2-40B4-BE49-F238E27FC236}">
                <a16:creationId xmlns:a16="http://schemas.microsoft.com/office/drawing/2014/main" id="{7C986D29-E897-4C63-BA2C-040850A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11/12，仅比随机与无反馈各多 1 项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6E7D836-F868-4828-8EA6-9F7218856530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7953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4dadb19a8847c9"/>
          </a:graphicData>
        </a:graphic>
      </p:graphicFrame>
      <p:sp>
        <p:nvSpPr>
          <p:cNvPr id="6" name="11 / 12">
            <a:extLst xmlns:a="http://schemas.openxmlformats.org/drawingml/2006/main">
              <a:ext uri="{FF2B5EF4-FFF2-40B4-BE49-F238E27FC236}">
                <a16:creationId xmlns:a16="http://schemas.microsoft.com/office/drawing/2014/main" id="{DAADB482-5717-4ECF-8409-2719EF7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71700"/>
            <a:ext cx="25050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5625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11 / 12</a:t>
            </a:r>
          </a:p>
        </p:txBody>
      </p:sp>
      <p:sp>
        <p:nvSpPr>
          <p:cNvPr id="7" name="反馈 Agent">
            <a:extLst xmlns:a="http://schemas.openxmlformats.org/drawingml/2006/main">
              <a:ext uri="{FF2B5EF4-FFF2-40B4-BE49-F238E27FC236}">
                <a16:creationId xmlns:a16="http://schemas.microsoft.com/office/drawing/2014/main" id="{C592C6DC-E8E1-44B0-8F86-5684C02B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62300"/>
            <a:ext cx="2505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 Agent</a:t>
            </a:r>
          </a:p>
        </p:txBody>
      </p:sp>
      <p:sp>
        <p:nvSpPr>
          <p:cNvPr id="8" name="36 / 36">
            <a:extLst xmlns:a="http://schemas.openxmlformats.org/drawingml/2006/main">
              <a:ext uri="{FF2B5EF4-FFF2-40B4-BE49-F238E27FC236}">
                <a16:creationId xmlns:a16="http://schemas.microsoft.com/office/drawing/2014/main" id="{55966078-040B-417A-BE34-70447476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71925"/>
            <a:ext cx="25050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pPr>
            <a:r>
              <a:rPr sz="3525" b="1">
                <a:solidFill>
                  <a:srgbClr val="182025"/>
                </a:solidFill>
                <a:latin typeface="Bahnschrift"/>
                <a:ea typeface="Bahnschrift"/>
                <a:cs typeface="Bahnschrift"/>
              </a:rPr>
              <a:t>36 / 36</a:t>
            </a:r>
          </a:p>
        </p:txBody>
      </p:sp>
      <p:sp>
        <p:nvSpPr>
          <p:cNvPr id="9" name="正确任务实际执行&#10;0 实际误报">
            <a:extLst xmlns:a="http://schemas.openxmlformats.org/drawingml/2006/main">
              <a:ext uri="{FF2B5EF4-FFF2-40B4-BE49-F238E27FC236}">
                <a16:creationId xmlns:a16="http://schemas.microsoft.com/office/drawing/2014/main" id="{7B99BD2C-B9B6-4119-B047-099286E6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695825"/>
            <a:ext cx="25050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正确任务实际执行</a:t>
            </a:r>
          </a:p>
          <a:p xmlns:a="http://schemas.openxmlformats.org/drawingml/2006/main">
            <a:pPr>
              <a:def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0 实际误报</a:t>
            </a:r>
          </a:p>
        </p:txBody>
      </p:sp>
      <p:sp>
        <p:nvSpPr>
          <p:cNvPr id="10" name="差异尚不支持显著性、因果或工业普适收益">
            <a:extLst xmlns:a="http://schemas.openxmlformats.org/drawingml/2006/main">
              <a:ext uri="{FF2B5EF4-FFF2-40B4-BE49-F238E27FC236}">
                <a16:creationId xmlns:a16="http://schemas.microsoft.com/office/drawing/2014/main" id="{32F213F4-8269-4EAE-AD69-8B5939C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差异尚不支持显著性、因果或工业普适收益</a:t>
            </a:r>
          </a:p>
        </p:txBody>
      </p:sp>
      <p:sp>
        <p:nvSpPr>
          <p:cNvPr id="11" name="共同 24 拍上限，single 最多 1 请求、Agent 最多 3 请求，实">
            <a:extLst xmlns:a="http://schemas.openxmlformats.org/drawingml/2006/main">
              <a:ext uri="{FF2B5EF4-FFF2-40B4-BE49-F238E27FC236}">
                <a16:creationId xmlns:a16="http://schemas.microsoft.com/office/drawing/2014/main" id="{BC9D319D-CEE8-4B2B-A984-2BED46F0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共同 24 拍上限，single 最多 1 请求、Agent 最多 3 请求，实际耗费不同</a:t>
            </a:r>
          </a:p>
        </p:txBody>
      </p:sp>
    </p:spTree>
    <p:extLst>
      <p:ext uri="{BB962C8B-B14F-4D97-AF65-F5344CB8AC3E}">
        <p14:creationId xmlns:p14="http://schemas.microsoft.com/office/powerpoint/2010/main" val="724652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历史 432 任务的完整记录">
            <a:extLst xmlns:a="http://schemas.openxmlformats.org/drawingml/2006/main">
              <a:ext uri="{FF2B5EF4-FFF2-40B4-BE49-F238E27FC236}">
                <a16:creationId xmlns:a16="http://schemas.microsoft.com/office/drawing/2014/main" id="{E820E502-8C2F-4BA3-BE4C-D9AB41F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历史 432 任务的完整记录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CAFB76B4-4B73-476C-B0A5-6218DE6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A3EB0-3ABD-48B4-B398-5BFC1771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历史反馈 37/48，与无反馈相同">
            <a:extLst xmlns:a="http://schemas.openxmlformats.org/drawingml/2006/main">
              <a:ext uri="{FF2B5EF4-FFF2-40B4-BE49-F238E27FC236}">
                <a16:creationId xmlns:a16="http://schemas.microsoft.com/office/drawing/2014/main" id="{5FEF7422-E92D-422C-9290-4134091F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历史反馈 37/48，与无反馈相同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7CC2B11-E519-45EA-A4FE-AC7C5B72CFE6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7953375" cy="3457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bdd01821343b3"/>
          </a:graphicData>
        </a:graphic>
      </p:graphicFrame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8CE2C068-381B-4CFC-881A-05191CB0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171700"/>
            <a:ext cx="2505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7" name="任务无 DUT 执行">
            <a:extLst xmlns:a="http://schemas.openxmlformats.org/drawingml/2006/main">
              <a:ext uri="{FF2B5EF4-FFF2-40B4-BE49-F238E27FC236}">
                <a16:creationId xmlns:a16="http://schemas.microsoft.com/office/drawing/2014/main" id="{6A612E91-528F-4BF0-A122-8B37FD7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71825"/>
            <a:ext cx="25050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任务无 DUT 执行</a:t>
            </a:r>
          </a:p>
        </p:txBody>
      </p:sp>
      <p:sp>
        <p:nvSpPr>
          <p:cNvPr id="8" name="strict=false">
            <a:extLst xmlns:a="http://schemas.openxmlformats.org/drawingml/2006/main">
              <a:ext uri="{FF2B5EF4-FFF2-40B4-BE49-F238E27FC236}">
                <a16:creationId xmlns:a16="http://schemas.microsoft.com/office/drawing/2014/main" id="{21D3CEDE-9E50-4987-A28B-E92D098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57650"/>
            <a:ext cx="2505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defRPr>
            </a:pPr>
            <a:r>
              <a:rPr sz="2325" b="1">
                <a:solidFill>
                  <a:srgbClr val="182025"/>
                </a:solidFill>
                <a:latin typeface="Bahnschrift"/>
                <a:ea typeface="Bahnschrift"/>
                <a:cs typeface="Bahnschrift"/>
              </a:rPr>
              <a:t>strict=false</a:t>
            </a:r>
          </a:p>
        </p:txBody>
      </p:sp>
      <p:sp>
        <p:nvSpPr>
          <p:cNvPr id="9" name="306 请求&#10;973,149 tokens">
            <a:extLst xmlns:a="http://schemas.openxmlformats.org/drawingml/2006/main">
              <a:ext uri="{FF2B5EF4-FFF2-40B4-BE49-F238E27FC236}">
                <a16:creationId xmlns:a16="http://schemas.microsoft.com/office/drawing/2014/main" id="{7872B45F-E554-457E-802E-711327E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91075"/>
            <a:ext cx="2505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rPr>
              <a:t>306 请求</a:t>
            </a:r>
          </a:p>
          <a:p xmlns:a="http://schemas.openxmlformats.org/drawingml/2006/main">
            <a:pPr>
              <a:def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defRPr>
            </a:pPr>
            <a:r>
              <a:rPr sz="1875" b="0">
                <a:solidFill>
                  <a:srgbClr val="53636B"/>
                </a:solidFill>
                <a:latin typeface="Bahnschrift"/>
                <a:ea typeface="Bahnschrift"/>
                <a:cs typeface="Bahnschrift"/>
              </a:rPr>
              <a:t>973,149 tokens</a:t>
            </a:r>
          </a:p>
        </p:txBody>
      </p:sp>
      <p:sp>
        <p:nvSpPr>
          <p:cNvPr id="10" name="反馈未超过固定与协议随机 48/48">
            <a:extLst xmlns:a="http://schemas.openxmlformats.org/drawingml/2006/main">
              <a:ext uri="{FF2B5EF4-FFF2-40B4-BE49-F238E27FC236}">
                <a16:creationId xmlns:a16="http://schemas.microsoft.com/office/drawing/2014/main" id="{EC804814-5BAE-40C6-A9DA-3243214D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反馈未超过固定与协议随机 48/48</a:t>
            </a:r>
          </a:p>
        </p:txBody>
      </p:sp>
      <p:sp>
        <p:nvSpPr>
          <p:cNvPr id="11" name="每策略完整缺陷分母 48，两批模块、预算和分母分别报告">
            <a:extLst xmlns:a="http://schemas.openxmlformats.org/drawingml/2006/main">
              <a:ext uri="{FF2B5EF4-FFF2-40B4-BE49-F238E27FC236}">
                <a16:creationId xmlns:a16="http://schemas.microsoft.com/office/drawing/2014/main" id="{915B28A4-6A37-449F-8981-2EEE2A7D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每策略完整缺陷分母 48，两批模块、预算和分母分别报告</a:t>
            </a:r>
          </a:p>
        </p:txBody>
      </p:sp>
    </p:spTree>
    <p:extLst>
      <p:ext uri="{BB962C8B-B14F-4D97-AF65-F5344CB8AC3E}">
        <p14:creationId xmlns:p14="http://schemas.microsoft.com/office/powerpoint/2010/main" val="1659503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2D914-5937-47AF-AA4A-47E607AC6DA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29650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D4694-8E3F-4F54-B267-B3F57854258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62625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05328-233F-4F09-A607-09027C5914B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2752725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BC8"/>
            </a:solidFill>
            <a:tailEnd type="arrow" w="sm" len="sm"/>
          </a:ln>
        </p:spPr>
      </p:cxnSp>
      <p:sp>
        <p:nvSpPr>
          <p:cNvPr id="15" name="执行记录与原件绑定">
            <a:extLst xmlns:a="http://schemas.openxmlformats.org/drawingml/2006/main">
              <a:ext uri="{FF2B5EF4-FFF2-40B4-BE49-F238E27FC236}">
                <a16:creationId xmlns:a16="http://schemas.microsoft.com/office/drawing/2014/main" id="{1EF9CC21-DF84-4800-BBE9-D40D6F05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执行记录与原件绑定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83207D25-E1B6-431D-8420-9C04F800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29231-F101-4CC2-8DAA-850C762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安全原文和执行记录进入证据链">
            <a:extLst xmlns:a="http://schemas.openxmlformats.org/drawingml/2006/main">
              <a:ext uri="{FF2B5EF4-FFF2-40B4-BE49-F238E27FC236}">
                <a16:creationId xmlns:a16="http://schemas.microsoft.com/office/drawing/2014/main" id="{A70AF92F-70A2-445D-A5D5-733D3ED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安全原文和执行记录进入证据链</a:t>
            </a:r>
          </a:p>
        </p:txBody>
      </p:sp>
      <p:sp>
        <p:nvSpPr>
          <p:cNvPr id="5" name="冻结输入&#10;458 项">
            <a:extLst xmlns:a="http://schemas.openxmlformats.org/drawingml/2006/main">
              <a:ext uri="{FF2B5EF4-FFF2-40B4-BE49-F238E27FC236}">
                <a16:creationId xmlns:a16="http://schemas.microsoft.com/office/drawing/2014/main" id="{BAD0670B-8C10-405C-B2AE-E55BE3D0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冻结输入</a:t>
            </a:r>
          </a:p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458 项</a:t>
            </a:r>
          </a:p>
        </p:txBody>
      </p:sp>
      <p:sp>
        <p:nvSpPr>
          <p:cNvPr id="6" name="实际执行与请求&#10;4,359 raw 文件">
            <a:extLst xmlns:a="http://schemas.openxmlformats.org/drawingml/2006/main">
              <a:ext uri="{FF2B5EF4-FFF2-40B4-BE49-F238E27FC236}">
                <a16:creationId xmlns:a16="http://schemas.microsoft.com/office/drawing/2014/main" id="{FA26421D-FFCC-49D8-9D00-691292D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实际执行与请求</a:t>
            </a:r>
          </a:p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4,359 raw 文件</a:t>
            </a:r>
          </a:p>
        </p:txBody>
      </p:sp>
      <p:sp>
        <p:nvSpPr>
          <p:cNvPr id="7" name="manifest 与 ZIP&#10;原字节绑定">
            <a:extLst xmlns:a="http://schemas.openxmlformats.org/drawingml/2006/main">
              <a:ext uri="{FF2B5EF4-FFF2-40B4-BE49-F238E27FC236}">
                <a16:creationId xmlns:a16="http://schemas.microsoft.com/office/drawing/2014/main" id="{7F944F67-6034-48E1-A1F0-5C2CAF38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manifest 与 ZIP</a:t>
            </a:r>
          </a:p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原字节绑定</a:t>
            </a:r>
          </a:p>
        </p:txBody>
      </p:sp>
      <p:sp>
        <p:nvSpPr>
          <p:cNvPr id="8" name="逐项机器审计&#10;保留失败">
            <a:extLst xmlns:a="http://schemas.openxmlformats.org/drawingml/2006/main">
              <a:ext uri="{FF2B5EF4-FFF2-40B4-BE49-F238E27FC236}">
                <a16:creationId xmlns:a16="http://schemas.microsoft.com/office/drawing/2014/main" id="{894012ED-C64C-4C84-8EDD-E51A4E9A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2764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逐项机器审计</a:t>
            </a:r>
          </a:p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保留失败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DECC4-CDF7-45AB-969C-CAA09B53A2B6}"/>
              </a:ext>
            </a:extLst>
          </p:cNvPr>
          <p:cNvGraphicFramePr/>
          <p:nvPr/>
        </p:nvGraphicFramePr>
        <p:xfrm>
          <a:off xmlns:a="http://schemas.openxmlformats.org/drawingml/2006/main" x="609600" y="360045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667250"/>
                <a:gridCol w="3781425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审计范围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记录量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身份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核心审计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2,192 项机器检查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非实现者代理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轨迹审计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54 轨迹、87 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实验 entry 代码作者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机器审计非独立人工 H02">
            <a:extLst xmlns:a="http://schemas.openxmlformats.org/drawingml/2006/main">
              <a:ext uri="{FF2B5EF4-FFF2-40B4-BE49-F238E27FC236}">
                <a16:creationId xmlns:a16="http://schemas.microsoft.com/office/drawing/2014/main" id="{08F14FCC-393D-4A5E-AC92-584F066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机器审计非独立人工 H02</a:t>
            </a:r>
          </a:p>
        </p:txBody>
      </p:sp>
      <p:sp>
        <p:nvSpPr>
          <p:cNvPr id="14" name="最新 strict=true 表示证据资格，134 round / 268 DU">
            <a:extLst xmlns:a="http://schemas.openxmlformats.org/drawingml/2006/main">
              <a:ext uri="{FF2B5EF4-FFF2-40B4-BE49-F238E27FC236}">
                <a16:creationId xmlns:a16="http://schemas.microsoft.com/office/drawing/2014/main" id="{E17AF413-42A1-41E8-8927-51153EA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最新 strict=true 表示证据资格，134 round / 268 DUT 与参考执行侧</a:t>
            </a:r>
          </a:p>
        </p:txBody>
      </p:sp>
    </p:spTree>
    <p:extLst>
      <p:ext uri="{BB962C8B-B14F-4D97-AF65-F5344CB8AC3E}">
        <p14:creationId xmlns:p14="http://schemas.microsoft.com/office/powerpoint/2010/main" val="7423932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跨平台运行与工程检查">
            <a:extLst xmlns:a="http://schemas.openxmlformats.org/drawingml/2006/main">
              <a:ext uri="{FF2B5EF4-FFF2-40B4-BE49-F238E27FC236}">
                <a16:creationId xmlns:a16="http://schemas.microsoft.com/office/drawing/2014/main" id="{EB2107DA-6516-4FE0-BB36-8AAA9AC9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跨平台运行与工程检查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EEC80BDF-B813-41A8-BA03-05297CE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5D6B2-3959-49CF-B322-509842B8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0CCFD-DB62-4B3F-9549-EBAEB59B4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9e9fc427b460b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历史提交 216438d 的 5 jobs 全绿，当前 df7ccfa 云端检查">
            <a:extLst xmlns:a="http://schemas.openxmlformats.org/drawingml/2006/main">
              <a:ext uri="{FF2B5EF4-FFF2-40B4-BE49-F238E27FC236}">
                <a16:creationId xmlns:a16="http://schemas.microsoft.com/office/drawing/2014/main" id="{7BFFB36D-87A5-4ED4-8742-D3B9597E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历史提交 216438d 的 5 jobs 全绿，当前 df7ccfa 云端检查未通过</a:t>
            </a:r>
          </a:p>
        </p:txBody>
      </p:sp>
    </p:spTree>
    <p:extLst>
      <p:ext uri="{BB962C8B-B14F-4D97-AF65-F5344CB8AC3E}">
        <p14:creationId xmlns:p14="http://schemas.microsoft.com/office/powerpoint/2010/main" val="11939645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真实异机操作中的卡点">
            <a:extLst xmlns:a="http://schemas.openxmlformats.org/drawingml/2006/main">
              <a:ext uri="{FF2B5EF4-FFF2-40B4-BE49-F238E27FC236}">
                <a16:creationId xmlns:a16="http://schemas.microsoft.com/office/drawing/2014/main" id="{E8600EF6-7B54-4B2B-B3C6-196C081A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真实异机操作中的卡点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3C8ED13D-07C2-40A8-AC6C-E6AC9BD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3B1B9-4121-46DF-85A3-724F279B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221CA-75AC-4623-B428-2DC4322149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9db887db34bcb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两次上传均编译失败，没有仿真比较或 VCD，用户复测仍待确认">
            <a:extLst xmlns:a="http://schemas.openxmlformats.org/drawingml/2006/main">
              <a:ext uri="{FF2B5EF4-FFF2-40B4-BE49-F238E27FC236}">
                <a16:creationId xmlns:a16="http://schemas.microsoft.com/office/drawing/2014/main" id="{2100C889-DF69-4FF6-868E-0D0B9BE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两次上传均编译失败，没有仿真比较或 VCD，用户复测仍待确认</a:t>
            </a:r>
          </a:p>
        </p:txBody>
      </p:sp>
    </p:spTree>
    <p:extLst>
      <p:ext uri="{BB962C8B-B14F-4D97-AF65-F5344CB8AC3E}">
        <p14:creationId xmlns:p14="http://schemas.microsoft.com/office/powerpoint/2010/main" val="1023266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异机反馈推动的产品修改">
            <a:extLst xmlns:a="http://schemas.openxmlformats.org/drawingml/2006/main">
              <a:ext uri="{FF2B5EF4-FFF2-40B4-BE49-F238E27FC236}">
                <a16:creationId xmlns:a16="http://schemas.microsoft.com/office/drawing/2014/main" id="{55C87775-2B78-4981-9BE5-DA14CE1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异机反馈推动的产品修改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6CA87BF6-25F6-4B19-9C87-CF7E9C7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54B3F-BDE1-4EE4-B088-C0C3BFC2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D9385-7684-4E74-A7E7-23D1C2337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8325f892842db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修改已发布，尚无用户在该电脑使用新版本成功复测的证据">
            <a:extLst xmlns:a="http://schemas.openxmlformats.org/drawingml/2006/main">
              <a:ext uri="{FF2B5EF4-FFF2-40B4-BE49-F238E27FC236}">
                <a16:creationId xmlns:a16="http://schemas.microsoft.com/office/drawing/2014/main" id="{AAB3D230-2238-44B7-B0A5-7BFCD0D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修改已发布，尚无用户在该电脑使用新版本成功复测的证据</a:t>
            </a:r>
          </a:p>
        </p:txBody>
      </p:sp>
    </p:spTree>
    <p:extLst>
      <p:ext uri="{BB962C8B-B14F-4D97-AF65-F5344CB8AC3E}">
        <p14:creationId xmlns:p14="http://schemas.microsoft.com/office/powerpoint/2010/main" val="20095121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与 IC 验证的工程结合">
            <a:extLst xmlns:a="http://schemas.openxmlformats.org/drawingml/2006/main">
              <a:ext uri="{FF2B5EF4-FFF2-40B4-BE49-F238E27FC236}">
                <a16:creationId xmlns:a16="http://schemas.microsoft.com/office/drawing/2014/main" id="{DFB64F16-225E-4E94-ABB6-D17F82A1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AI 与 IC 验证的工程结合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56BB42C6-E838-430A-80D7-F2A1DF2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333BA-0635-49D4-9DD0-A590C1F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贡献集中于模型建议到执行证据的连接">
            <a:extLst xmlns:a="http://schemas.openxmlformats.org/drawingml/2006/main">
              <a:ext uri="{FF2B5EF4-FFF2-40B4-BE49-F238E27FC236}">
                <a16:creationId xmlns:a16="http://schemas.microsoft.com/office/drawing/2014/main" id="{38564012-448F-4ADB-9AC4-8CA874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贡献集中于模型建议到执行证据的连接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70DDA-AB1F-47ED-9724-0988E3707A42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4057650"/>
                <a:gridCol w="42862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结合点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已实现的机制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1F3F4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针对的问题</a:t>
                      </a:r>
                    </a:p>
                  </a:txBody>
                  <a:tcPr marL="91440" marR="91440" marT="45720" marB="45720">
                    <a:solidFill>
                      <a:srgbClr val="1C20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公开规格与独立判据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接口约束、逐拍 oracle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无效输入与共享实现错误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有界模型动作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严格格式、共享请求预算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失败恢复造成无界请求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可核对的执行记录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原文、账本、manifest 绑定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选择性留存与结果难复核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真实操作反馈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依赖预查、入口与状态提示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02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异机环境和下一步不清楚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更广泛的效果仍需独立模块、复测与成本对照">
            <a:extLst xmlns:a="http://schemas.openxmlformats.org/drawingml/2006/main">
              <a:ext uri="{FF2B5EF4-FFF2-40B4-BE49-F238E27FC236}">
                <a16:creationId xmlns:a16="http://schemas.microsoft.com/office/drawing/2014/main" id="{CBAD9A4C-5A25-48FE-B28E-56F7294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更广泛的效果仍需独立模块、复测与成本对照</a:t>
            </a:r>
          </a:p>
        </p:txBody>
      </p:sp>
      <p:sp>
        <p:nvSpPr>
          <p:cNvPr id="7" name="本项目没有证明反馈的显著收益，也没有量化工业普适提升">
            <a:extLst xmlns:a="http://schemas.openxmlformats.org/drawingml/2006/main">
              <a:ext uri="{FF2B5EF4-FFF2-40B4-BE49-F238E27FC236}">
                <a16:creationId xmlns:a16="http://schemas.microsoft.com/office/drawing/2014/main" id="{06CA77FE-D35C-42A6-8FF9-F87ADE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本项目没有证明反馈的显著收益，也没有量化工业普适提升</a:t>
            </a:r>
          </a:p>
        </p:txBody>
      </p:sp>
    </p:spTree>
    <p:extLst>
      <p:ext uri="{BB962C8B-B14F-4D97-AF65-F5344CB8AC3E}">
        <p14:creationId xmlns:p14="http://schemas.microsoft.com/office/powerpoint/2010/main" val="6294197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后续验证与交付路线">
            <a:extLst xmlns:a="http://schemas.openxmlformats.org/drawingml/2006/main">
              <a:ext uri="{FF2B5EF4-FFF2-40B4-BE49-F238E27FC236}">
                <a16:creationId xmlns:a16="http://schemas.microsoft.com/office/drawing/2014/main" id="{73AEB0F9-28E2-40C6-A7F3-C7FA6A09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后续验证与交付路线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E75581F2-FC2B-4A2A-B989-5819E0E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9140-10F5-401D-93E4-5C4EA34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87E8D-D1E8-4869-A3A3-DFEF9B29E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2130c02204dee"/>
          <a:stretch xmlns:a="http://schemas.openxmlformats.org/drawingml/2006/main"/>
        </p:blipFill>
        <p:spPr>
          <a:xfrm xmlns:a="http://schemas.openxmlformats.org/drawingml/2006/main">
            <a:off x="614795" y="1581150"/>
            <a:ext cx="10962409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官方截止：2026-10-30 20:00 北京时间，答辩交 PDF，编辑使用 ">
            <a:extLst xmlns:a="http://schemas.openxmlformats.org/drawingml/2006/main">
              <a:ext uri="{FF2B5EF4-FFF2-40B4-BE49-F238E27FC236}">
                <a16:creationId xmlns:a16="http://schemas.microsoft.com/office/drawing/2014/main" id="{4470A1E1-657C-4B20-81DD-72B5AD6C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官方截止：2026-10-30 20:00 北京时间，答辩交 PDF，编辑使用 PPTX</a:t>
            </a:r>
          </a:p>
        </p:txBody>
      </p:sp>
    </p:spTree>
    <p:extLst>
      <p:ext uri="{BB962C8B-B14F-4D97-AF65-F5344CB8AC3E}">
        <p14:creationId xmlns:p14="http://schemas.microsoft.com/office/powerpoint/2010/main" val="8058014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附录 A  规格时序示例">
            <a:extLst xmlns:a="http://schemas.openxmlformats.org/drawingml/2006/main">
              <a:ext uri="{FF2B5EF4-FFF2-40B4-BE49-F238E27FC236}">
                <a16:creationId xmlns:a16="http://schemas.microsoft.com/office/drawing/2014/main" id="{BA3C69CC-AC87-4D7E-B9E2-09B2EDA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A  规格时序示例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19E303B7-02B2-4013-9BBB-246DE7C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77D0F-E3D2-4BE5-A679-6391957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两模块正确 A 规格的正常操作片段">
            <a:extLst xmlns:a="http://schemas.openxmlformats.org/drawingml/2006/main">
              <a:ext uri="{FF2B5EF4-FFF2-40B4-BE49-F238E27FC236}">
                <a16:creationId xmlns:a16="http://schemas.microsoft.com/office/drawing/2014/main" id="{8E9A6522-267D-4CE1-B7A4-AF7B596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两模块正确 A 规格的正常操作片段</a:t>
            </a:r>
          </a:p>
        </p:txBody>
      </p:sp>
      <p:sp>
        <p:nvSpPr>
          <p:cNvPr id="5" name="valid/data 流水线">
            <a:extLst xmlns:a="http://schemas.openxmlformats.org/drawingml/2006/main">
              <a:ext uri="{FF2B5EF4-FFF2-40B4-BE49-F238E27FC236}">
                <a16:creationId xmlns:a16="http://schemas.microsoft.com/office/drawing/2014/main" id="{A51312A4-A577-4509-ABE8-4FC3DB91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valid/data 流水线</a:t>
            </a:r>
          </a:p>
        </p:txBody>
      </p:sp>
      <p:sp>
        <p:nvSpPr>
          <p:cNvPr id="6" name="事件累计器">
            <a:extLst xmlns:a="http://schemas.openxmlformats.org/drawingml/2006/main">
              <a:ext uri="{FF2B5EF4-FFF2-40B4-BE49-F238E27FC236}">
                <a16:creationId xmlns:a16="http://schemas.microsoft.com/office/drawing/2014/main" id="{75CBBBFD-0ACE-4B06-9324-A15CA1E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050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事件累计器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8585E-75A0-4951-9BCE-C4F7969E4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e3ab10a314aee"/>
          <a:stretch xmlns:a="http://schemas.openxmlformats.org/drawingml/2006/main"/>
        </p:blipFill>
        <p:spPr>
          <a:xfrm xmlns:a="http://schemas.openxmlformats.org/drawingml/2006/main">
            <a:off x="612279" y="2686050"/>
            <a:ext cx="5233392" cy="28384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1D4A5-22DD-4D49-8033-12E6AEBF5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05c0a466040d8"/>
          <a:stretch xmlns:a="http://schemas.openxmlformats.org/drawingml/2006/main"/>
        </p:blipFill>
        <p:spPr>
          <a:xfrm xmlns:a="http://schemas.openxmlformats.org/drawingml/2006/main">
            <a:off x="6324600" y="2902066"/>
            <a:ext cx="5238750" cy="2406418"/>
          </a:xfrm>
          <a:prstGeom xmlns:a="http://schemas.openxmlformats.org/drawingml/2006/main" prst="rect">
            <a:avLst/>
          </a:prstGeom>
        </p:spPr>
      </p:pic>
      <p:sp>
        <p:nvSpPr>
          <p:cNvPr id="9" name="E0 捕获、E1 输出，flush 优先">
            <a:extLst xmlns:a="http://schemas.openxmlformats.org/drawingml/2006/main">
              <a:ext uri="{FF2B5EF4-FFF2-40B4-BE49-F238E27FC236}">
                <a16:creationId xmlns:a16="http://schemas.microsoft.com/office/drawing/2014/main" id="{73830F21-093F-4C30-8834-5C4FF38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E0 捕获、E1 输出，flush 优先</a:t>
            </a:r>
          </a:p>
        </p:txBody>
      </p:sp>
      <p:sp>
        <p:nvSpPr>
          <p:cNvPr id="10" name="clear 优先，4 bit 计数">
            <a:extLst xmlns:a="http://schemas.openxmlformats.org/drawingml/2006/main">
              <a:ext uri="{FF2B5EF4-FFF2-40B4-BE49-F238E27FC236}">
                <a16:creationId xmlns:a16="http://schemas.microsoft.com/office/drawing/2014/main" id="{6E9CDED2-F76A-4204-8EEF-318FE78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62600"/>
            <a:ext cx="523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clear 优先，4 bit 计数</a:t>
            </a:r>
          </a:p>
        </p:txBody>
      </p:sp>
      <p:sp>
        <p:nvSpPr>
          <p:cNvPr id="11" name="已有规格渲染截图，非 VCD、非新增 DUT 验证，未展示场景不构成验证结论">
            <a:extLst xmlns:a="http://schemas.openxmlformats.org/drawingml/2006/main">
              <a:ext uri="{FF2B5EF4-FFF2-40B4-BE49-F238E27FC236}">
                <a16:creationId xmlns:a16="http://schemas.microsoft.com/office/drawing/2014/main" id="{5B30821B-77E0-4692-98CF-06792637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已有规格渲染截图，非 VCD、非新增 DUT 验证，未展示场景不构成验证结论</a:t>
            </a:r>
          </a:p>
        </p:txBody>
      </p:sp>
    </p:spTree>
    <p:extLst>
      <p:ext uri="{BB962C8B-B14F-4D97-AF65-F5344CB8AC3E}">
        <p14:creationId xmlns:p14="http://schemas.microsoft.com/office/powerpoint/2010/main" val="17352365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附录 B  实际浏览器界面">
            <a:extLst xmlns:a="http://schemas.openxmlformats.org/drawingml/2006/main">
              <a:ext uri="{FF2B5EF4-FFF2-40B4-BE49-F238E27FC236}">
                <a16:creationId xmlns:a16="http://schemas.microsoft.com/office/drawing/2014/main" id="{79017E74-8A31-4CF7-A01D-5A7C09C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附录 B  实际浏览器界面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E6D7D026-6D9E-4CB9-9610-6263F70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476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00ABC8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A84CB-7625-46F1-B3A5-01699DD0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8"/>
            </a:solidFill>
          </a:ln>
        </p:spPr>
      </p:sp>
      <p:sp>
        <p:nvSpPr>
          <p:cNvPr id="4" name="今天的界面观察与编译预检查">
            <a:extLst xmlns:a="http://schemas.openxmlformats.org/drawingml/2006/main">
              <a:ext uri="{FF2B5EF4-FFF2-40B4-BE49-F238E27FC236}">
                <a16:creationId xmlns:a16="http://schemas.microsoft.com/office/drawing/2014/main" id="{090C3936-6A16-4B15-81F9-41CB72EF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今天的界面观察与编译预检查</a:t>
            </a:r>
          </a:p>
        </p:txBody>
      </p:sp>
      <p:sp>
        <p:nvSpPr>
          <p:cNvPr id="5" name="默认在线模型">
            <a:extLst xmlns:a="http://schemas.openxmlformats.org/drawingml/2006/main">
              <a:ext uri="{FF2B5EF4-FFF2-40B4-BE49-F238E27FC236}">
                <a16:creationId xmlns:a16="http://schemas.microsoft.com/office/drawing/2014/main" id="{3704DA94-4816-4442-99BA-FF6AB43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默认在线模型</a:t>
            </a:r>
          </a:p>
        </p:txBody>
      </p:sp>
      <p:sp>
        <p:nvSpPr>
          <p:cNvPr id="6" name="校验前计划生成禁用">
            <a:extLst xmlns:a="http://schemas.openxmlformats.org/drawingml/2006/main">
              <a:ext uri="{FF2B5EF4-FFF2-40B4-BE49-F238E27FC236}">
                <a16:creationId xmlns:a16="http://schemas.microsoft.com/office/drawing/2014/main" id="{633EACF1-7A93-4E84-9BF0-B0360E57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85975"/>
            <a:ext cx="546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2025"/>
                </a:solidFill>
                <a:latin typeface="Noto Sans SC"/>
                <a:ea typeface="Noto Sans SC"/>
                <a:cs typeface="Noto Sans SC"/>
              </a:rPr>
              <a:t>校验前计划生成禁用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EC9D3-DADA-4359-ADC4-27CBECF43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0575d9c8d451d"/>
          <a:srcRect xmlns:a="http://schemas.openxmlformats.org/drawingml/2006/main" l="3000" t="31000" r="47000" b="31000"/>
          <a:stretch xmlns:a="http://schemas.openxmlformats.org/drawingml/2006/main"/>
        </p:blipFill>
        <p:spPr>
          <a:xfrm xmlns:a="http://schemas.openxmlformats.org/drawingml/2006/main">
            <a:off x="609600" y="2619375"/>
            <a:ext cx="5048250" cy="19050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29C54-7C61-491B-9045-C07BE1A26D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9523951774d27"/>
          <a:srcRect xmlns:a="http://schemas.openxmlformats.org/drawingml/2006/main" l="3700" t="78500" r="56500" b="3400"/>
          <a:stretch xmlns:a="http://schemas.openxmlformats.org/drawingml/2006/main"/>
        </p:blipFill>
        <p:spPr>
          <a:xfrm xmlns:a="http://schemas.openxmlformats.org/drawingml/2006/main">
            <a:off x="609600" y="4676775"/>
            <a:ext cx="5048250" cy="12382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E5BD7-4084-46B5-9B17-5998A6561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bbec6c30a405f"/>
          <a:srcRect xmlns:a="http://schemas.openxmlformats.org/drawingml/2006/main" l="47000" t="26000" r="2500" b="11500"/>
          <a:stretch xmlns:a="http://schemas.openxmlformats.org/drawingml/2006/main"/>
        </p:blipFill>
        <p:spPr>
          <a:xfrm xmlns:a="http://schemas.openxmlformats.org/drawingml/2006/main">
            <a:off x="6096000" y="2619375"/>
            <a:ext cx="5467350" cy="3295650"/>
          </a:xfrm>
          <a:prstGeom xmlns:a="http://schemas.openxmlformats.org/drawingml/2006/main" prst="rect">
            <a:avLst/>
          </a:prstGeom>
        </p:spPr>
      </p:pic>
      <p:sp>
        <p:nvSpPr>
          <p:cNvPr id="10" name="仅 UI 观察与 -tnull 预检，0 API，未生成计划或仿真，未确认真人复">
            <a:extLst xmlns:a="http://schemas.openxmlformats.org/drawingml/2006/main">
              <a:ext uri="{FF2B5EF4-FFF2-40B4-BE49-F238E27FC236}">
                <a16:creationId xmlns:a16="http://schemas.microsoft.com/office/drawing/2014/main" id="{27450714-3C35-4159-9AC6-DA3CFB9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36B"/>
                </a:solidFill>
                <a:latin typeface="Noto Sans SC"/>
                <a:ea typeface="Noto Sans SC"/>
                <a:cs typeface="Noto Sans SC"/>
              </a:rPr>
              <a:t>仅 UI 观察与 -tnull 预检，0 API，未生成计划或仿真，未确认真人复测</a:t>
            </a:r>
          </a:p>
        </p:txBody>
      </p:sp>
    </p:spTree>
    <p:extLst>
      <p:ext uri="{BB962C8B-B14F-4D97-AF65-F5344CB8AC3E}">
        <p14:creationId xmlns:p14="http://schemas.microsoft.com/office/powerpoint/2010/main" val="1932234055"/>
      </p:ext>
    </p:extLst>
  </p:cSld>
</p:sld>
</file>

<file path=ppt/theme/theme1.xml><?xml version="1.0" encoding="utf-8"?>
<a:theme xmlns:a="http://schemas.openxmlformats.org/drawingml/2006/main" name="ChatGPT">
  <a:themeElements>
    <a:clrScheme name="ICARUS industrial cyan">
      <a:dk1>
        <a:srgbClr val="182025"/>
      </a:dk1>
      <a:lt1>
        <a:srgbClr val="FFFFFF"/>
      </a:lt1>
      <a:dk2>
        <a:srgbClr val="1C2023"/>
      </a:dk2>
      <a:lt2>
        <a:srgbClr val="F5F7F8"/>
      </a:lt2>
      <a:accent1>
        <a:srgbClr val="00ABC8"/>
      </a:accent1>
      <a:accent2>
        <a:srgbClr val="75858D"/>
      </a:accent2>
      <a:accent3>
        <a:srgbClr val="53636B"/>
      </a:accent3>
      <a:accent4>
        <a:srgbClr val="DDE6E9"/>
      </a:accent4>
      <a:accent5>
        <a:srgbClr val="1C2023"/>
      </a:accent5>
      <a:accent6>
        <a:srgbClr val="8FA2AC"/>
      </a:accent6>
      <a:hlink>
        <a:srgbClr val="00ABC8"/>
      </a:hlink>
      <a:folHlink>
        <a:srgbClr val="00ABC8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ICARUS industrial cy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2026-10-13T03:23:18.0390000Z</dcterms:created>
  <dcterms:modified xsi:type="dcterms:W3CDTF">2026-10-13T03:23:18.0390000Z</dcterms:modified>
</coreProperties>
</file>