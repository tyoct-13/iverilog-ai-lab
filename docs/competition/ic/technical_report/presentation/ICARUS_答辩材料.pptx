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6fe3289d82496e" /><Relationship Type="http://schemas.openxmlformats.org/officeDocument/2006/relationships/extended-properties" Target="/docProps/app.xml" Id="Rb4f2edfd5bad41b9" /><Relationship Type="http://schemas.openxmlformats.org/officeDocument/2006/relationships/officeDocument" Target="/ppt/presentation.xml" Id="Rc1637646ad5a47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f4368dd1f64794"/>
  </p:sldMasterIdLst>
  <p:notesMasterIdLst>
    <p:notesMasterId xmlns:r="http://schemas.openxmlformats.org/officeDocument/2006/relationships" r:id="R184c6025e2b3413d"/>
  </p:notesMasterIdLst>
  <p:sldIdLst>
    <p:sldId xmlns:r="http://schemas.openxmlformats.org/officeDocument/2006/relationships" id="256" r:id="Refe8cdb204dd4933"/>
    <p:sldId xmlns:r="http://schemas.openxmlformats.org/officeDocument/2006/relationships" id="257" r:id="R6952a953d0804488"/>
    <p:sldId xmlns:r="http://schemas.openxmlformats.org/officeDocument/2006/relationships" id="258" r:id="Ra48ef737069c4c4d"/>
    <p:sldId xmlns:r="http://schemas.openxmlformats.org/officeDocument/2006/relationships" id="259" r:id="Ra2f51c1bf5e948e6"/>
    <p:sldId xmlns:r="http://schemas.openxmlformats.org/officeDocument/2006/relationships" id="260" r:id="Rd2888032f9e64f42"/>
    <p:sldId xmlns:r="http://schemas.openxmlformats.org/officeDocument/2006/relationships" id="261" r:id="Rc8bfebeb480a402f"/>
    <p:sldId xmlns:r="http://schemas.openxmlformats.org/officeDocument/2006/relationships" id="262" r:id="R0c604bb859004ca6"/>
    <p:sldId xmlns:r="http://schemas.openxmlformats.org/officeDocument/2006/relationships" id="263" r:id="R5a175800eac340df"/>
    <p:sldId xmlns:r="http://schemas.openxmlformats.org/officeDocument/2006/relationships" id="264" r:id="R309f18a890404896"/>
    <p:sldId xmlns:r="http://schemas.openxmlformats.org/officeDocument/2006/relationships" id="265" r:id="Re71ba69425c84468"/>
    <p:sldId xmlns:r="http://schemas.openxmlformats.org/officeDocument/2006/relationships" id="266" r:id="Ree7fc7f3450444da"/>
    <p:sldId xmlns:r="http://schemas.openxmlformats.org/officeDocument/2006/relationships" id="267" r:id="R9e08364bcfdb4c6f"/>
    <p:sldId xmlns:r="http://schemas.openxmlformats.org/officeDocument/2006/relationships" id="268" r:id="R66bb21e0065e43ba"/>
    <p:sldId xmlns:r="http://schemas.openxmlformats.org/officeDocument/2006/relationships" id="269" r:id="R9399fa4322e6471f"/>
    <p:sldId xmlns:r="http://schemas.openxmlformats.org/officeDocument/2006/relationships" id="270" r:id="Rc17fcfb3dfe14e4b"/>
    <p:sldId xmlns:r="http://schemas.openxmlformats.org/officeDocument/2006/relationships" id="271" r:id="R1601726e08484808"/>
    <p:sldId xmlns:r="http://schemas.openxmlformats.org/officeDocument/2006/relationships" id="272" r:id="R0435cf5b309f49b7"/>
    <p:sldId xmlns:r="http://schemas.openxmlformats.org/officeDocument/2006/relationships" id="273" r:id="Rd181e09eecbc4d27"/>
    <p:sldId xmlns:r="http://schemas.openxmlformats.org/officeDocument/2006/relationships" id="274" r:id="R281ce483ed6e4d88"/>
    <p:sldId xmlns:r="http://schemas.openxmlformats.org/officeDocument/2006/relationships" id="275" r:id="Rcd671f339b3d4c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5dc25712e14c06" /><Relationship Type="http://schemas.openxmlformats.org/officeDocument/2006/relationships/slideMaster" Target="/ppt/slideMasters/slideMaster1.xml" Id="R9ef4368dd1f64794" /><Relationship Type="http://schemas.openxmlformats.org/officeDocument/2006/relationships/notesMaster" Target="/ppt/notesMasters/notesMaster1.xml" Id="R184c6025e2b3413d" /><Relationship Type="http://schemas.openxmlformats.org/officeDocument/2006/relationships/presProps" Target="/ppt/presProps.xml" Id="R10da7be0bf1a44d7" /><Relationship Type="http://schemas.openxmlformats.org/officeDocument/2006/relationships/tableStyles" Target="/ppt/tableStyles.xml" Id="R94b566b4eb0447af" /><Relationship Type="http://schemas.openxmlformats.org/officeDocument/2006/relationships/slide" Target="/ppt/slides/slide1.xml" Id="Refe8cdb204dd4933" /><Relationship Type="http://schemas.openxmlformats.org/officeDocument/2006/relationships/slide" Target="/ppt/slides/slide2.xml" Id="R6952a953d0804488" /><Relationship Type="http://schemas.openxmlformats.org/officeDocument/2006/relationships/slide" Target="/ppt/slides/slide3.xml" Id="Ra48ef737069c4c4d" /><Relationship Type="http://schemas.openxmlformats.org/officeDocument/2006/relationships/slide" Target="/ppt/slides/slide4.xml" Id="Ra2f51c1bf5e948e6" /><Relationship Type="http://schemas.openxmlformats.org/officeDocument/2006/relationships/slide" Target="/ppt/slides/slide5.xml" Id="Rd2888032f9e64f42" /><Relationship Type="http://schemas.openxmlformats.org/officeDocument/2006/relationships/slide" Target="/ppt/slides/slide6.xml" Id="Rc8bfebeb480a402f" /><Relationship Type="http://schemas.openxmlformats.org/officeDocument/2006/relationships/slide" Target="/ppt/slides/slide7.xml" Id="R0c604bb859004ca6" /><Relationship Type="http://schemas.openxmlformats.org/officeDocument/2006/relationships/slide" Target="/ppt/slides/slide8.xml" Id="R5a175800eac340df" /><Relationship Type="http://schemas.openxmlformats.org/officeDocument/2006/relationships/slide" Target="/ppt/slides/slide9.xml" Id="R309f18a890404896" /><Relationship Type="http://schemas.openxmlformats.org/officeDocument/2006/relationships/slide" Target="/ppt/slides/slide10.xml" Id="Re71ba69425c84468" /><Relationship Type="http://schemas.openxmlformats.org/officeDocument/2006/relationships/slide" Target="/ppt/slides/slide11.xml" Id="Ree7fc7f3450444da" /><Relationship Type="http://schemas.openxmlformats.org/officeDocument/2006/relationships/slide" Target="/ppt/slides/slide12.xml" Id="R9e08364bcfdb4c6f" /><Relationship Type="http://schemas.openxmlformats.org/officeDocument/2006/relationships/slide" Target="/ppt/slides/slide13.xml" Id="R66bb21e0065e43ba" /><Relationship Type="http://schemas.openxmlformats.org/officeDocument/2006/relationships/slide" Target="/ppt/slides/slide14.xml" Id="R9399fa4322e6471f" /><Relationship Type="http://schemas.openxmlformats.org/officeDocument/2006/relationships/slide" Target="/ppt/slides/slide15.xml" Id="Rc17fcfb3dfe14e4b" /><Relationship Type="http://schemas.openxmlformats.org/officeDocument/2006/relationships/slide" Target="/ppt/slides/slide16.xml" Id="R1601726e08484808" /><Relationship Type="http://schemas.openxmlformats.org/officeDocument/2006/relationships/slide" Target="/ppt/slides/slide17.xml" Id="R0435cf5b309f49b7" /><Relationship Type="http://schemas.openxmlformats.org/officeDocument/2006/relationships/slide" Target="/ppt/slides/slide18.xml" Id="Rd181e09eecbc4d27" /><Relationship Type="http://schemas.openxmlformats.org/officeDocument/2006/relationships/slide" Target="/ppt/slides/slide19.xml" Id="R281ce483ed6e4d88" /><Relationship Type="http://schemas.openxmlformats.org/officeDocument/2006/relationships/slide" Target="/ppt/slides/slide20.xml" Id="Rcd671f339b3d4c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ea97a97f924b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CARUS industrial cyan">
      <a:dk1>
        <a:srgbClr val="182025"/>
      </a:dk1>
      <a:lt1>
        <a:srgbClr val="FFFFFF"/>
      </a:lt1>
      <a:dk2>
        <a:srgbClr val="1C2023"/>
      </a:dk2>
      <a:lt2>
        <a:srgbClr val="F5F7F8"/>
      </a:lt2>
      <a:accent1>
        <a:srgbClr val="00ABC8"/>
      </a:accent1>
      <a:accent2>
        <a:srgbClr val="75858D"/>
      </a:accent2>
      <a:accent3>
        <a:srgbClr val="53636B"/>
      </a:accent3>
      <a:accent4>
        <a:srgbClr val="DDE6E9"/>
      </a:accent4>
      <a:accent5>
        <a:srgbClr val="1C2023"/>
      </a:accent5>
      <a:accent6>
        <a:srgbClr val="8FA2AC"/>
      </a:accent6>
      <a:hlink>
        <a:srgbClr val="00ABC8"/>
      </a:hlink>
      <a:folHlink>
        <a:srgbClr val="00ABC8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ICARUS industrial cy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1ebf41827146c7" /><Relationship Type="http://schemas.openxmlformats.org/officeDocument/2006/relationships/notesMaster" Target="/ppt/notesMasters/notesMaster1.xml" Id="R3cda045d926147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4d87f1203b48e6" /><Relationship Type="http://schemas.openxmlformats.org/officeDocument/2006/relationships/notesMaster" Target="/ppt/notesMasters/notesMaster1.xml" Id="R4317ef19560045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5ec092f5c84f91" /><Relationship Type="http://schemas.openxmlformats.org/officeDocument/2006/relationships/notesMaster" Target="/ppt/notesMasters/notesMaster1.xml" Id="R918988d5984443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59e9c7f306453e" /><Relationship Type="http://schemas.openxmlformats.org/officeDocument/2006/relationships/notesMaster" Target="/ppt/notesMasters/notesMaster1.xml" Id="R0bc753e1588c42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4209090ddc48fc" /><Relationship Type="http://schemas.openxmlformats.org/officeDocument/2006/relationships/notesMaster" Target="/ppt/notesMasters/notesMaster1.xml" Id="R18f97e016f9f4a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9c318dca3a434f" /><Relationship Type="http://schemas.openxmlformats.org/officeDocument/2006/relationships/notesMaster" Target="/ppt/notesMasters/notesMaster1.xml" Id="R85b175ec214449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1f6861d1e3403b" /><Relationship Type="http://schemas.openxmlformats.org/officeDocument/2006/relationships/notesMaster" Target="/ppt/notesMasters/notesMaster1.xml" Id="R1b2b597765a743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08f11641eb4194" /><Relationship Type="http://schemas.openxmlformats.org/officeDocument/2006/relationships/notesMaster" Target="/ppt/notesMasters/notesMaster1.xml" Id="R25c4af4f3b4242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01879b8e8540de" /><Relationship Type="http://schemas.openxmlformats.org/officeDocument/2006/relationships/notesMaster" Target="/ppt/notesMasters/notesMaster1.xml" Id="R40a77046bc5c47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d298ad19294e8d" /><Relationship Type="http://schemas.openxmlformats.org/officeDocument/2006/relationships/notesMaster" Target="/ppt/notesMasters/notesMaster1.xml" Id="Rdef5d0fa4cfd46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1d494b21d1424a" /><Relationship Type="http://schemas.openxmlformats.org/officeDocument/2006/relationships/notesMaster" Target="/ppt/notesMasters/notesMaster1.xml" Id="R89ca695905ed4f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fdd76dde0a44f7" /><Relationship Type="http://schemas.openxmlformats.org/officeDocument/2006/relationships/notesMaster" Target="/ppt/notesMasters/notesMaster1.xml" Id="R7ed3de64c1134a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ee6b75a9104e49" /><Relationship Type="http://schemas.openxmlformats.org/officeDocument/2006/relationships/notesMaster" Target="/ppt/notesMasters/notesMaster1.xml" Id="R6ae8b91ec6e34d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aea844ef424d41" /><Relationship Type="http://schemas.openxmlformats.org/officeDocument/2006/relationships/notesMaster" Target="/ppt/notesMasters/notesMaster1.xml" Id="R4d8881c4f7fe43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d20aa0170841a3" /><Relationship Type="http://schemas.openxmlformats.org/officeDocument/2006/relationships/notesMaster" Target="/ppt/notesMasters/notesMaster1.xml" Id="Rc0e9b54499fd45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056992f04d4f77" /><Relationship Type="http://schemas.openxmlformats.org/officeDocument/2006/relationships/notesMaster" Target="/ppt/notesMasters/notesMaster1.xml" Id="Rff2ab1ac519546c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ad5c3870e6f4245" /><Relationship Type="http://schemas.openxmlformats.org/officeDocument/2006/relationships/notesMaster" Target="/ppt/notesMasters/notesMaster1.xml" Id="R89dc9233c11c4ef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40a7b1f3db74131" /><Relationship Type="http://schemas.openxmlformats.org/officeDocument/2006/relationships/notesMaster" Target="/ppt/notesMasters/notesMaster1.xml" Id="Re66114f4519c4b3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397a23fc76b4883" /><Relationship Type="http://schemas.openxmlformats.org/officeDocument/2006/relationships/notesMaster" Target="/ppt/notesMasters/notesMaster1.xml" Id="R88ac1f2373fc4f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886444e99b14992" /><Relationship Type="http://schemas.openxmlformats.org/officeDocument/2006/relationships/notesMaster" Target="/ppt/notesMasters/notesMaster1.xml" Id="R80930298b88447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FIFO独立队列用于重放和回归；运行时oracle仍维护存储、指针和计数。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432登记、414执行、18未执行，含1项正确控制；8项触达token预算，严格完整比较资格false。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第4包与第5包的计划和时钟不同，7项不一致到0项不能解释为同测试下的能力提升。第5包实际65ns，不是精确16MHz。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UART同一15个人工缺陷由13/15到15/15，6个正确/等价控制无误报，3个编译失败控制不可判定。图为规格时序示意。来源：docs/experiment/protocol_oracle_improvements_2026-10-04.md。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正文来源：docs/competition/ic/technical_report/technical_report.md</a:t>
            </a:r>
          </a:p>
          <a:p xmlns:a="http://schemas.openxmlformats.org/drawingml/2006/main">
            <a:r>
              <a:t>SHA-256：516d745799a82998d874813a968d9df036b342924485b4128bf3bd5ac0d7fdd2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对照数据：docs/competition/ic/v3/material_data.json。实验原始数值及全部失败分母保留。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用户运行来源：docs/trial/other_pc_user_trial_2026-10-20.md 与 docs/trial/evidence_20261020/receipt.json。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复核来源：docs/review/teacher_ai_review_response_20261020.md。教师组织AI辅助，未收到亲自确认原件。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图表范围：FIFO差异66/0/56/46；两模块检出12/10/8/8/11/10；八模块48/32/48/29/37/37。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界面图片来源：docs/competition/ic/v4/screenshots/；历史截图，不宣称最新提交的浏览器验收。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362514a4d44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0eddb4ad446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3aee1da7e41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590dd74c540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c67b613c54e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8e3bd7313647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E7854F-056F-49F9-A3CF-D1F7935703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7E33CA-83DA-4BDF-9B8E-19531395B83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92D4ABD-B352-4C02-8956-6049204D50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D69E2D-FC70-44C0-A4E9-6102EEF121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03598BB-815D-4504-B474-8AD5BE817E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CD92AA9-6B10-479D-92A2-ED7210DD36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2705F2-1614-4CE2-9AF2-35CC067204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1044656-DF6F-4C76-B4A2-5A86482AEF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D71509-791C-4991-B0DF-A1C7C611E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BACF08-8A95-41D6-B5E2-02501245D5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719b6065284e8c" /><Relationship Type="http://schemas.openxmlformats.org/officeDocument/2006/relationships/slideLayout" Target="/ppt/slideLayouts/slideLayout1.xml" Id="R7bed6efd466f441e" /><Relationship Type="http://schemas.openxmlformats.org/officeDocument/2006/relationships/slideLayout" Target="/ppt/slideLayouts/slideLayout2.xml" Id="R4da6e0d97e3b4ed3" /><Relationship Type="http://schemas.openxmlformats.org/officeDocument/2006/relationships/slideLayout" Target="/ppt/slideLayouts/slideLayout3.xml" Id="Re644ea9aa65f4dc4" /><Relationship Type="http://schemas.openxmlformats.org/officeDocument/2006/relationships/slideLayout" Target="/ppt/slideLayouts/slideLayout4.xml" Id="Rd7662c3947da4065" /><Relationship Type="http://schemas.openxmlformats.org/officeDocument/2006/relationships/slideLayout" Target="/ppt/slideLayouts/slideLayout5.xml" Id="R7a888c938fb54bcb" /><Relationship Type="http://schemas.openxmlformats.org/officeDocument/2006/relationships/slideLayout" Target="/ppt/slideLayouts/slideLayout6.xml" Id="Rbe4dd25541334a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ed6efd466f441e"/>
    <p:sldLayoutId xmlns:r="http://schemas.openxmlformats.org/officeDocument/2006/relationships" id="2147483650" r:id="R4da6e0d97e3b4ed3"/>
    <p:sldLayoutId xmlns:r="http://schemas.openxmlformats.org/officeDocument/2006/relationships" id="2147483651" r:id="Re644ea9aa65f4dc4"/>
    <p:sldLayoutId xmlns:r="http://schemas.openxmlformats.org/officeDocument/2006/relationships" id="2147483652" r:id="Rd7662c3947da4065"/>
    <p:sldLayoutId xmlns:r="http://schemas.openxmlformats.org/officeDocument/2006/relationships" id="2147483653" r:id="R7a888c938fb54bcb"/>
    <p:sldLayoutId xmlns:r="http://schemas.openxmlformats.org/officeDocument/2006/relationships" id="2147483654" r:id="Rbe4dd25541334a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CARUS industrial cyan">
      <a:dk1>
        <a:srgbClr val="182025"/>
      </a:dk1>
      <a:lt1>
        <a:srgbClr val="FFFFFF"/>
      </a:lt1>
      <a:dk2>
        <a:srgbClr val="1C2023"/>
      </a:dk2>
      <a:lt2>
        <a:srgbClr val="F5F7F8"/>
      </a:lt2>
      <a:accent1>
        <a:srgbClr val="00ABC8"/>
      </a:accent1>
      <a:accent2>
        <a:srgbClr val="75858D"/>
      </a:accent2>
      <a:accent3>
        <a:srgbClr val="53636B"/>
      </a:accent3>
      <a:accent4>
        <a:srgbClr val="DDE6E9"/>
      </a:accent4>
      <a:accent5>
        <a:srgbClr val="1C2023"/>
      </a:accent5>
      <a:accent6>
        <a:srgbClr val="8FA2AC"/>
      </a:accent6>
      <a:hlink>
        <a:srgbClr val="00ABC8"/>
      </a:hlink>
      <a:folHlink>
        <a:srgbClr val="00ABC8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ICARUS industrial cy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14ad3699cd4f17" /><Relationship Type="http://schemas.openxmlformats.org/officeDocument/2006/relationships/notesSlide" Target="/ppt/notesSlides/notesSlide1.xml" Id="Rf4bd79bd39df42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16fd656fed4fd2" /><Relationship Type="http://schemas.openxmlformats.org/officeDocument/2006/relationships/image" Target="/ppt/media/image.png" Id="Rc6298aff837d4fa1" /><Relationship Type="http://schemas.openxmlformats.org/officeDocument/2006/relationships/notesSlide" Target="/ppt/notesSlides/notesSlide2.xml" Id="R54cc6c01ce8240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59e0be4c743f8" /><Relationship Type="http://schemas.openxmlformats.org/officeDocument/2006/relationships/image" Target="/ppt/media/image2.png" Id="R2961be1fc4644ef0" /><Relationship Type="http://schemas.openxmlformats.org/officeDocument/2006/relationships/notesSlide" Target="/ppt/notesSlides/notesSlide3.xml" Id="Rfd7f6ba5bc2c49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cf12ac5e2a4968" /><Relationship Type="http://schemas.openxmlformats.org/officeDocument/2006/relationships/notesSlide" Target="/ppt/notesSlides/notesSlide4.xml" Id="R59199b1513694e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9dfd31956e40e4" /><Relationship Type="http://schemas.openxmlformats.org/officeDocument/2006/relationships/notesSlide" Target="/ppt/notesSlides/notesSlide5.xml" Id="Rfeff4470f32243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7cc2121cdb4ead" /><Relationship Type="http://schemas.openxmlformats.org/officeDocument/2006/relationships/image" Target="/ppt/media/image3.png" Id="Rc3210873a08b404c" /><Relationship Type="http://schemas.openxmlformats.org/officeDocument/2006/relationships/notesSlide" Target="/ppt/notesSlides/notesSlide6.xml" Id="R7641d0484c8d41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170d89eff64d97" /><Relationship Type="http://schemas.openxmlformats.org/officeDocument/2006/relationships/chart" Target="/ppt/slides/charts/chart1.xml" Id="R39c2cf8f7a51411d" /><Relationship Type="http://schemas.openxmlformats.org/officeDocument/2006/relationships/notesSlide" Target="/ppt/notesSlides/notesSlide7.xml" Id="R1fca18ed8c8c4a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9744d1c54f42bc" /><Relationship Type="http://schemas.openxmlformats.org/officeDocument/2006/relationships/image" Target="/ppt/media/image4.png" Id="R9240222992434f77" /><Relationship Type="http://schemas.openxmlformats.org/officeDocument/2006/relationships/notesSlide" Target="/ppt/notesSlides/notesSlide8.xml" Id="Rd970529df2584b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47dd8b06d2476a" /><Relationship Type="http://schemas.openxmlformats.org/officeDocument/2006/relationships/image" Target="/ppt/media/image5.png" Id="Rb31ed8875bec436e" /><Relationship Type="http://schemas.openxmlformats.org/officeDocument/2006/relationships/notesSlide" Target="/ppt/notesSlides/notesSlide9.xml" Id="R8e16e2e803d440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971fb3e8b3425b" /><Relationship Type="http://schemas.openxmlformats.org/officeDocument/2006/relationships/notesSlide" Target="/ppt/notesSlides/notesSlide10.xml" Id="Ra3ac16b152354c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51342c402243db" /><Relationship Type="http://schemas.openxmlformats.org/officeDocument/2006/relationships/chart" Target="/ppt/slides/charts/chart2.xml" Id="Rae0523c558fd4df7" /><Relationship Type="http://schemas.openxmlformats.org/officeDocument/2006/relationships/notesSlide" Target="/ppt/notesSlides/notesSlide11.xml" Id="Rbd0875eeb2164f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5efe0f95af44d1" /><Relationship Type="http://schemas.openxmlformats.org/officeDocument/2006/relationships/chart" Target="/ppt/slides/charts/chart3.xml" Id="R85aba7dc18e84a8f" /><Relationship Type="http://schemas.openxmlformats.org/officeDocument/2006/relationships/notesSlide" Target="/ppt/notesSlides/notesSlide12.xml" Id="R8ae2c18cee4945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9574275e8340ea" /><Relationship Type="http://schemas.openxmlformats.org/officeDocument/2006/relationships/notesSlide" Target="/ppt/notesSlides/notesSlide13.xml" Id="R09ab03ce155a4d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9084712564df2" /><Relationship Type="http://schemas.openxmlformats.org/officeDocument/2006/relationships/notesSlide" Target="/ppt/notesSlides/notesSlide14.xml" Id="R5cc6064549a347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2325a01674c80" /><Relationship Type="http://schemas.openxmlformats.org/officeDocument/2006/relationships/image" Target="/ppt/media/image6.png" Id="R539fbf41ea0141da" /><Relationship Type="http://schemas.openxmlformats.org/officeDocument/2006/relationships/notesSlide" Target="/ppt/notesSlides/notesSlide15.xml" Id="Rb42def51adbb47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3a2e368f3c4c66" /><Relationship Type="http://schemas.openxmlformats.org/officeDocument/2006/relationships/notesSlide" Target="/ppt/notesSlides/notesSlide16.xml" Id="Re5944efbeb034ed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773872da4f40bb" /><Relationship Type="http://schemas.openxmlformats.org/officeDocument/2006/relationships/notesSlide" Target="/ppt/notesSlides/notesSlide17.xml" Id="Reeb46f4079bd498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e423d6ee5748b9" /><Relationship Type="http://schemas.openxmlformats.org/officeDocument/2006/relationships/notesSlide" Target="/ppt/notesSlides/notesSlide18.xml" Id="R59c0b71af9d841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6f467699e94a51" /><Relationship Type="http://schemas.openxmlformats.org/officeDocument/2006/relationships/image" Target="/ppt/media/image.jpeg" Id="R1e554d516f624592" /><Relationship Type="http://schemas.openxmlformats.org/officeDocument/2006/relationships/image" Target="/ppt/media/image2.jpeg" Id="Rd899feb426d94a80" /><Relationship Type="http://schemas.openxmlformats.org/officeDocument/2006/relationships/notesSlide" Target="/ppt/notesSlides/notesSlide19.xml" Id="R61efdf766c06438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2aca3d4bf4d31" /><Relationship Type="http://schemas.openxmlformats.org/officeDocument/2006/relationships/image" Target="/ppt/media/image3.jpeg" Id="R8d02322912ff4214" /><Relationship Type="http://schemas.openxmlformats.org/officeDocument/2006/relationships/image" Target="/ppt/media/image4.jpeg" Id="R3d487e271c7a4f23" /><Relationship Type="http://schemas.openxmlformats.org/officeDocument/2006/relationships/image" Target="/ppt/media/image5.jpeg" Id="R2620110a513d4fc4" /><Relationship Type="http://schemas.openxmlformats.org/officeDocument/2006/relationships/notesSlide" Target="/ppt/notesSlides/notesSlide20.xml" Id="Rcf26286725044cc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?xml version='1.0' encoding='utf-8'?>
<Relationships xmlns="http://schemas.openxmlformats.org/package/2006/relationships"><Relationship Id="rIdRetainedSourceWorkbook" Type="http://schemas.openxmlformats.org/officeDocument/2006/relationships/package" Target="../../embeddings/retained-source-slide-11.xlsx" /></Relationships>
</file>

<file path=ppt/slides/charts/_rels/chart3.xml.rels><?xml version='1.0' encoding='utf-8'?>
<Relationships xmlns="http://schemas.openxmlformats.org/package/2006/relationships"><Relationship Id="rIdRetainedSourceWorkbook" Type="http://schemas.openxmlformats.org/officeDocument/2006/relationships/package" Target="../../embeddings/retained-source-slide-12.xlsx" 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与独立队列的差异数</c:v>
          </c:tx>
          <c:spPr>
            <a:solidFill xmlns:a="http://schemas.openxmlformats.org/drawingml/2006/main">
              <a:srgbClr val="75858D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满时写入缺陷</c:v>
                </c:pt>
                <c:pt idx="1">
                  <c:v>满标志缺陷</c:v>
                </c:pt>
                <c:pt idx="2">
                  <c:v>修复后基线</c:v>
                </c:pt>
                <c:pt idx="3">
                  <c:v>修复前基线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46</c:v>
                </c:pt>
                <c:pt idx="1">
                  <c:v>56</c:v>
                </c:pt>
                <c:pt idx="2">
                  <c:v>0</c:v>
                </c:pt>
                <c:pt idx="3">
                  <c:v>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18202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C9D3D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5F7F8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5F7F8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ns1="http://schemas.openxmlformats.org/drawingml/2006/main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检出缺陷任务</c:v>
          </c:tx>
          <c:spPr>
            <ns1:solidFill>
              <ns1:srgbClr val="75858D"/>
            </ns1:solidFill>
          </c:spPr>
          <c:invertIfNegative val="0"/>
          <c:dPt>
            <c:idx val="1"/>
            <c:invertIfNegative val="0"/>
            <c:spPr>
              <ns1:solidFill>
                <ns1:srgbClr val="00ABC8"/>
              </ns1:solidFill>
            </c:spPr>
          </c:dPt>
          <c:cat>
            <c:strRef>
              <c:f>'Chart Data'!$A$2:$A$7</c:f>
              <c:strCache>
                <c:ptCount val="6"/>
                <c:pt idx="0">
                  <c:v>无反馈 Agent</c:v>
                </c:pt>
                <c:pt idx="1">
                  <c:v>反馈 Agent</c:v>
                </c:pt>
                <c:pt idx="2">
                  <c:v>单次 API</c:v>
                </c:pt>
                <c:pt idx="3">
                  <c:v>协议随机</c:v>
                </c:pt>
                <c:pt idx="4">
                  <c:v>均匀随机</c:v>
                </c:pt>
                <c:pt idx="5">
                  <c:v>固定测试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10</c:v>
                </c:pt>
                <c:pt idx="1">
                  <c:v>11</c:v>
                </c:pt>
                <c:pt idx="2">
                  <c:v>8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</c:numCache>
            </c:numRef>
          </c:val>
        </c:ser>
        <c:dLbls>
          <c:txPr>
            <ns1:bodyPr anchorCtr="1"/>
            <ns1:lstStyle/>
            <ns1:p>
              <ns1:pPr>
                <ns1:defRPr sz="2175" b="1">
                  <ns1:solidFill>
                    <ns1:srgbClr val="182025"/>
                  </ns1:solidFill>
                  <ns1:latin typeface="Noto Sans SC"/>
                  <ns1:ea typeface="Noto Sans SC"/>
                  <ns1:cs typeface="Noto Sans SC"/>
                </ns1:defRPr>
              </ns1:pPr>
            </ns1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ns1:ln>
            <ns1:noFill/>
          </ns1:ln>
        </c:spPr>
        <c:txPr>
          <ns1:bodyPr anchorCtr="1"/>
          <ns1:lstStyle/>
          <ns1:p>
            <ns1:pPr>
              <ns1:defRPr sz="1950">
                <ns1:solidFill>
                  <ns1:srgbClr val="182025"/>
                </ns1:solidFill>
                <ns1:latin typeface="Noto Sans SC"/>
                <ns1:ea typeface="Noto Sans SC"/>
                <ns1:cs typeface="Noto Sans SC"/>
              </ns1:defRPr>
            </ns1:pPr>
          </ns1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b"/>
        <c:majorGridlines>
          <c:spPr>
            <ns1:ln w="6668">
              <ns1:solidFill>
                <ns1:srgbClr val="C9D3D8"/>
              </ns1:solidFill>
            </ns1:ln>
          </c:spPr>
        </c:majorGridlines>
        <c:numFmt formatCode="0"/>
        <c:majorTickMark val="none"/>
        <c:minorTickMark val="none"/>
        <c:spPr>
          <ns1:ln w="9525">
            <ns1:solidFill>
              <ns1:srgbClr val="C9D3D8"/>
            </ns1:solidFill>
          </ns1:ln>
        </c:spPr>
        <c:txPr>
          <ns1:bodyPr anchorCtr="1"/>
          <ns1:lstStyle/>
          <ns1:p>
            <ns1:pPr>
              <ns1:defRPr sz="1725">
                <ns1:solidFill>
                  <ns1:srgbClr val="53636B"/>
                </ns1:solidFill>
                <ns1:latin typeface="Noto Sans SC"/>
                <ns1:ea typeface="Noto Sans SC"/>
                <ns1:cs typeface="Noto Sans SC"/>
              </ns1:defRPr>
            </ns1:pPr>
          </ns1:p>
        </c:txPr>
        <c:crossAx val="48650112"/>
        <c:crossBetween val="between"/>
        <c:majorUnit val="3"/>
      </c:valAx>
      <c:spPr>
        <ns1:solidFill>
          <ns1:srgbClr val="F5F7F8"/>
        </ns1:solidFill>
        <ns1:ln>
          <ns1:noFill/>
        </ns1:ln>
      </c:spPr>
    </c:plotArea>
    <c:plotVisOnly val="1"/>
  </c:chart>
  <c:spPr>
    <ns1:solidFill>
      <ns1:srgbClr val="F5F7F8"/>
    </ns1:solidFill>
    <ns1:ln>
      <ns1:noFill/>
    </ns1:ln>
  </c:spPr>
  <c:externalData r:id="rIdRetainedSourceWorkbook"/>
</c:chartSpace>
</file>

<file path=ppt/slides/charts/chart3.xml><?xml version="1.0" encoding="utf-8"?>
<c:chartSpace xmlns:c="http://schemas.openxmlformats.org/drawingml/2006/chart" xmlns:ns1="http://schemas.openxmlformats.org/drawingml/2006/main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检出缺陷任务</c:v>
          </c:tx>
          <c:spPr>
            <ns1:solidFill>
              <ns1:srgbClr val="75858D"/>
            </ns1:solidFill>
          </c:spPr>
          <c:invertIfNegative val="0"/>
          <c:dPt>
            <c:idx val="1"/>
            <c:invertIfNegative val="0"/>
            <c:spPr>
              <ns1:solidFill>
                <ns1:srgbClr val="00ABC8"/>
              </ns1:solidFill>
            </c:spPr>
          </c:dPt>
          <c:cat>
            <c:strRef>
              <c:f>'Chart Data'!$A$2:$A$7</c:f>
              <c:strCache>
                <c:ptCount val="6"/>
                <c:pt idx="0">
                  <c:v>无反馈 Agent</c:v>
                </c:pt>
                <c:pt idx="1">
                  <c:v>反馈 Agent</c:v>
                </c:pt>
                <c:pt idx="2">
                  <c:v>单次 API</c:v>
                </c:pt>
                <c:pt idx="3">
                  <c:v>协议随机</c:v>
                </c:pt>
                <c:pt idx="4">
                  <c:v>均匀随机</c:v>
                </c:pt>
                <c:pt idx="5">
                  <c:v>固定测试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37</c:v>
                </c:pt>
                <c:pt idx="1">
                  <c:v>37</c:v>
                </c:pt>
                <c:pt idx="2">
                  <c:v>29</c:v>
                </c:pt>
                <c:pt idx="3">
                  <c:v>48</c:v>
                </c:pt>
                <c:pt idx="4">
                  <c:v>32</c:v>
                </c:pt>
                <c:pt idx="5">
                  <c:v>48</c:v>
                </c:pt>
              </c:numCache>
            </c:numRef>
          </c:val>
        </c:ser>
        <c:dLbls>
          <c:txPr>
            <ns1:bodyPr anchorCtr="1"/>
            <ns1:lstStyle/>
            <ns1:p>
              <ns1:pPr>
                <ns1:defRPr sz="2175" b="1">
                  <ns1:solidFill>
                    <ns1:srgbClr val="182025"/>
                  </ns1:solidFill>
                  <ns1:latin typeface="Noto Sans SC"/>
                  <ns1:ea typeface="Noto Sans SC"/>
                  <ns1:cs typeface="Noto Sans SC"/>
                </ns1:defRPr>
              </ns1:pPr>
            </ns1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ns1:ln>
            <ns1:noFill/>
          </ns1:ln>
        </c:spPr>
        <c:txPr>
          <ns1:bodyPr anchorCtr="1"/>
          <ns1:lstStyle/>
          <ns1:p>
            <ns1:pPr>
              <ns1:defRPr sz="1950">
                <ns1:solidFill>
                  <ns1:srgbClr val="182025"/>
                </ns1:solidFill>
                <ns1:latin typeface="Noto Sans SC"/>
                <ns1:ea typeface="Noto Sans SC"/>
                <ns1:cs typeface="Noto Sans SC"/>
              </ns1:defRPr>
            </ns1:pPr>
          </ns1:p>
        </c:txPr>
        <c:crossAx val="48672768"/>
      </c:catAx>
      <c:valAx>
        <c:axId val="48672768"/>
        <c:scaling>
          <c:orientation val="minMax"/>
          <c:max val="48"/>
          <c:min val="0"/>
        </c:scaling>
        <c:delete val="0"/>
        <c:axPos val="b"/>
        <c:majorGridlines>
          <c:spPr>
            <ns1:ln w="6668">
              <ns1:solidFill>
                <ns1:srgbClr val="C9D3D8"/>
              </ns1:solidFill>
            </ns1:ln>
          </c:spPr>
        </c:majorGridlines>
        <c:numFmt formatCode="0"/>
        <c:majorTickMark val="none"/>
        <c:minorTickMark val="none"/>
        <c:spPr>
          <ns1:ln w="9525">
            <ns1:solidFill>
              <ns1:srgbClr val="C9D3D8"/>
            </ns1:solidFill>
          </ns1:ln>
        </c:spPr>
        <c:txPr>
          <ns1:bodyPr anchorCtr="1"/>
          <ns1:lstStyle/>
          <ns1:p>
            <ns1:pPr>
              <ns1:defRPr sz="1725">
                <ns1:solidFill>
                  <ns1:srgbClr val="53636B"/>
                </ns1:solidFill>
                <ns1:latin typeface="Noto Sans SC"/>
                <ns1:ea typeface="Noto Sans SC"/>
                <ns1:cs typeface="Noto Sans SC"/>
              </ns1:defRPr>
            </ns1:pPr>
          </ns1:p>
        </c:txPr>
        <c:crossAx val="48650112"/>
        <c:crossBetween val="between"/>
        <c:majorUnit val="12"/>
      </c:valAx>
      <c:spPr>
        <ns1:solidFill>
          <ns1:srgbClr val="F5F7F8"/>
        </ns1:solidFill>
        <ns1:ln>
          <ns1:noFill/>
        </ns1:ln>
      </c:spPr>
    </c:plotArea>
    <c:plotVisOnly val="1"/>
  </c:chart>
  <c:spPr>
    <ns1:solidFill>
      <ns1:srgbClr val="F5F7F8"/>
    </ns1:solidFill>
    <ns1:ln>
      <ns1:noFill/>
    </ns1:ln>
  </c:spPr>
  <c:externalData r:id="rIdRetainedSourceWorkbook"/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ICARUS">
            <a:extLst xmlns:a="http://schemas.openxmlformats.org/drawingml/2006/main">
              <a:ext uri="{FF2B5EF4-FFF2-40B4-BE49-F238E27FC236}">
                <a16:creationId xmlns:a16="http://schemas.microsoft.com/office/drawing/2014/main" id="{8B46F25B-1304-4F80-9D2E-73FA5003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9450" b="1">
                <a:solidFill>
                  <a:srgbClr val="F1F3F4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9450" b="1">
                <a:solidFill>
                  <a:srgbClr val="F1F3F4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9450" b="1">
                <a:solidFill>
                  <a:srgbClr val="F1F3F4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9450" b="1">
                <a:solidFill>
                  <a:srgbClr val="F1F3F4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9450" b="1">
                <a:solidFill>
                  <a:srgbClr val="F1F3F4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9450" b="1">
                <a:solidFill>
                  <a:srgbClr val="F1F3F4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9450" b="1">
                <a:solidFill>
                  <a:srgbClr val="F1F3F4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9450" b="1">
                <a:solidFill>
                  <a:srgbClr val="F1F3F4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9450" b="1">
                <a:solidFill>
                  <a:srgbClr val="F1F3F4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9450" b="1">
                <a:solidFill>
                  <a:srgbClr val="F1F3F4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9450" b="1">
                <a:solidFill>
                  <a:srgbClr val="F1F3F4"/>
                </a:solidFill>
                <a:latin typeface="Bahnschrift"/>
                <a:ea typeface="Bahnschrift"/>
                <a:cs typeface="Bahnschrift"/>
              </a:defRPr>
            </a:pPr>
            <a:r>
              <a:rPr sz="9450" b="1">
                <a:solidFill>
                  <a:srgbClr val="F1F3F4"/>
                </a:solidFill>
                <a:latin typeface="Bahnschrift"/>
                <a:ea typeface="Bahnschrift"/>
                <a:cs typeface="Bahnschrift"/>
              </a:rPr>
              <a:t>ICARUS</a:t>
            </a:r>
          </a:p>
        </p:txBody>
      </p:sp>
      <p:sp>
        <p:nvSpPr>
          <p:cNvPr id="2" name="数字 IP 验证智能体">
            <a:extLst xmlns:a="http://schemas.openxmlformats.org/drawingml/2006/main">
              <a:ext uri="{FF2B5EF4-FFF2-40B4-BE49-F238E27FC236}">
                <a16:creationId xmlns:a16="http://schemas.microsoft.com/office/drawing/2014/main" id="{53265687-ABFD-45C2-8144-0D6DBACB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7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7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7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7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7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7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7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7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7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7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7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37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数字 IP 验证智能体</a:t>
            </a:r>
          </a:p>
        </p:txBody>
      </p:sp>
      <p:sp>
        <p:nvSpPr>
          <p:cNvPr id="3" name="AI 测试探索与真实仿真证据">
            <a:extLst xmlns:a="http://schemas.openxmlformats.org/drawingml/2006/main">
              <a:ext uri="{FF2B5EF4-FFF2-40B4-BE49-F238E27FC236}">
                <a16:creationId xmlns:a16="http://schemas.microsoft.com/office/drawing/2014/main" id="{19A2C623-DF29-4C80-AC28-F8DA82F3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861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7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7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7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7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7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7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7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7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7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7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7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在线 API 规划与逐拍功能验证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8B78B-DD60-4CE4-A11E-70D3870A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BC8"/>
            </a:solidFill>
          </a:ln>
        </p:spPr>
      </p:sp>
      <p:sp>
        <p:nvSpPr>
          <p:cNvPr id="5" name="AI+集成电路">
            <a:extLst xmlns:a="http://schemas.openxmlformats.org/drawingml/2006/main">
              <a:ext uri="{FF2B5EF4-FFF2-40B4-BE49-F238E27FC236}">
                <a16:creationId xmlns:a16="http://schemas.microsoft.com/office/drawing/2014/main" id="{9D49A42C-1640-4C7E-A3C9-D28950AB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25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25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25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25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25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25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25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25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25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AI+集成电路</a:t>
            </a:r>
          </a:p>
        </p:txBody>
      </p:sp>
      <p:sp>
        <p:nvSpPr>
          <p:cNvPr id="6" name="2026-10-13">
            <a:extLst xmlns:a="http://schemas.openxmlformats.org/drawingml/2006/main">
              <a:ext uri="{FF2B5EF4-FFF2-40B4-BE49-F238E27FC236}">
                <a16:creationId xmlns:a16="http://schemas.microsoft.com/office/drawing/2014/main" id="{71D2A97B-D71F-4628-9B1A-6C59F22A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00" b="0">
                <a:solidFill>
                  <a:srgbClr val="B3BDC2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1800" b="0">
                <a:solidFill>
                  <a:srgbClr val="B3BDC2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1800" b="0">
                <a:solidFill>
                  <a:srgbClr val="B3BDC2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1800" b="0">
                <a:solidFill>
                  <a:srgbClr val="B3BDC2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1800" b="0">
                <a:solidFill>
                  <a:srgbClr val="B3BDC2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1800" b="0">
                <a:solidFill>
                  <a:srgbClr val="B3BDC2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1800" b="0">
                <a:solidFill>
                  <a:srgbClr val="B3BDC2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1800" b="0">
                <a:solidFill>
                  <a:srgbClr val="B3BDC2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1800" b="0">
                <a:solidFill>
                  <a:srgbClr val="B3BDC2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1800" b="0">
                <a:solidFill>
                  <a:srgbClr val="B3BDC2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B3BDC2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B3BDC2"/>
                </a:solidFill>
                <a:latin typeface="Bahnschrift"/>
                <a:ea typeface="Bahnschrift"/>
                <a:cs typeface="Bahnschrift"/>
              </a:rPr>
              <a:t>2026-10-20</a:t>
            </a:r>
          </a:p>
        </p:txBody>
      </p:sp>
    </p:spTree>
    <p:extLst>
      <p:ext uri="{BB962C8B-B14F-4D97-AF65-F5344CB8AC3E}">
        <p14:creationId xmlns:p14="http://schemas.microsoft.com/office/powerpoint/2010/main" val="4780327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数字 IP 的时序验证需求">
            <a:extLst xmlns:a="http://schemas.openxmlformats.org/drawingml/2006/main">
              <a:ext uri="{FF2B5EF4-FFF2-40B4-BE49-F238E27FC236}">
                <a16:creationId xmlns:a16="http://schemas.microsoft.com/office/drawing/2014/main" id="{11ADDBE5-E4A6-4CDB-AEBD-41EC34E0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数字 IP 的时序验证需求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7A3FA42B-54D7-4939-8C99-1B35A770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C522B-57C5-4F9A-B75A-2EFF8142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08C33-0BD9-486C-A6D4-84012B4C2B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98aff837d4fa1"/>
          <a:stretch xmlns:a="http://schemas.openxmlformats.org/drawingml/2006/main"/>
        </p:blipFill>
        <p:spPr>
          <a:xfrm xmlns:a="http://schemas.openxmlformats.org/drawingml/2006/main">
            <a:off x="614795" y="1581150"/>
            <a:ext cx="10962409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需求来自公开合约、实际执行和用户问题记录">
            <a:extLst xmlns:a="http://schemas.openxmlformats.org/drawingml/2006/main">
              <a:ext uri="{FF2B5EF4-FFF2-40B4-BE49-F238E27FC236}">
                <a16:creationId xmlns:a16="http://schemas.microsoft.com/office/drawing/2014/main" id="{4E4BBC19-1F86-488B-BC2C-66ADC7AC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需求来自公开合约、实际执行和用户问题记录</a:t>
            </a:r>
          </a:p>
        </p:txBody>
      </p:sp>
    </p:spTree>
    <p:extLst>
      <p:ext uri="{BB962C8B-B14F-4D97-AF65-F5344CB8AC3E}">
        <p14:creationId xmlns:p14="http://schemas.microsoft.com/office/powerpoint/2010/main" val="2110058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测试探索与独立裁决">
            <a:extLst xmlns:a="http://schemas.openxmlformats.org/drawingml/2006/main">
              <a:ext uri="{FF2B5EF4-FFF2-40B4-BE49-F238E27FC236}">
                <a16:creationId xmlns:a16="http://schemas.microsoft.com/office/drawing/2014/main" id="{24DAE20C-38D0-4DE6-A6BD-000E59EC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在线规划与本地功能验证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F2903933-EB80-491F-BCA8-C6BBFF95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183FC-84C4-4B33-B988-9A726005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799CD-1ADA-48E2-9146-6F55ED288A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1be1fc4644ef0"/>
          <a:stretch xmlns:a="http://schemas.openxmlformats.org/drawingml/2006/main"/>
        </p:blipFill>
        <p:spPr>
          <a:xfrm xmlns:a="http://schemas.openxmlformats.org/drawingml/2006/main">
            <a:off x="614795" y="1581150"/>
            <a:ext cx="10962409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第三方 DeepSeek API（4.1f），没有训练或微调模型权重">
            <a:extLst xmlns:a="http://schemas.openxmlformats.org/drawingml/2006/main">
              <a:ext uri="{FF2B5EF4-FFF2-40B4-BE49-F238E27FC236}">
                <a16:creationId xmlns:a16="http://schemas.microsoft.com/office/drawing/2014/main" id="{10565B02-B21E-404E-801B-218E5A01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第三方 DeepSeek API（4.1f），没有训练或微调模型权重</a:t>
            </a:r>
          </a:p>
        </p:txBody>
      </p:sp>
    </p:spTree>
    <p:extLst>
      <p:ext uri="{BB962C8B-B14F-4D97-AF65-F5344CB8AC3E}">
        <p14:creationId xmlns:p14="http://schemas.microsoft.com/office/powerpoint/2010/main" val="2813772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验证链路的迭代过程">
            <a:extLst xmlns:a="http://schemas.openxmlformats.org/drawingml/2006/main">
              <a:ext uri="{FF2B5EF4-FFF2-40B4-BE49-F238E27FC236}">
                <a16:creationId xmlns:a16="http://schemas.microsoft.com/office/drawing/2014/main" id="{A0551C1B-DF38-4947-8375-CF5A9A12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模块级验证的执行流程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2283DBAD-E3F6-4713-B42F-3BC0E757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8448B-6996-4F39-8636-C8287BB2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5" name="各实验批次独立保留，迭代路线不代表 AI 效果增长曲线">
            <a:extLst xmlns:a="http://schemas.openxmlformats.org/drawingml/2006/main">
              <a:ext uri="{FF2B5EF4-FFF2-40B4-BE49-F238E27FC236}">
                <a16:creationId xmlns:a16="http://schemas.microsoft.com/office/drawing/2014/main" id="{A3A68EDB-F6D3-4E12-8412-9E5CCAC3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验证目标引导输入探索，功能结论由实际执行和可检查的判据支持。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B0591-BE47-440E-BF9B-7A6365B00681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T w="9525">
                      <a:solidFill>
                        <a:srgbClr val="C9D3D8"/>
                      </a:solidFill>
                      <a:prstDash val="solid"/>
                    </a:lnT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当前实现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T w="9525">
                      <a:solidFill>
                        <a:srgbClr val="C9D3D8"/>
                      </a:solidFill>
                      <a:prstDash val="solid"/>
                    </a:lnT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输入与环境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RTL、接口、时钟、复位及验证目标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测试计划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JSON 向量、持续周期、采样位置与受限断言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真实执行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生成测试台，Icarus 编译，vvp 仿真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输出核对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规格参考或显式期望值，记录比较数与反例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716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规格与接口前置校验">
            <a:extLst xmlns:a="http://schemas.openxmlformats.org/drawingml/2006/main">
              <a:ext uri="{FF2B5EF4-FFF2-40B4-BE49-F238E27FC236}">
                <a16:creationId xmlns:a16="http://schemas.microsoft.com/office/drawing/2014/main" id="{7E9461B5-07EA-43CD-8845-27F339BC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接口与多文件编译预检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EF798AFF-88CC-4BEE-B46A-8BC2D6AE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5A796-529A-4931-8389-0895DF6E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5" name="先校验接口与依赖，再生成计划和执行仿真">
            <a:extLst xmlns:a="http://schemas.openxmlformats.org/drawingml/2006/main">
              <a:ext uri="{FF2B5EF4-FFF2-40B4-BE49-F238E27FC236}">
                <a16:creationId xmlns:a16="http://schemas.microsoft.com/office/drawing/2014/main" id="{E0668144-4982-4EFE-8B21-E115B3D7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预检不执行 initial 块。头文件或源码替换后，旧计划与旧结果失效。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4361C-7993-4B33-8FAB-FBDCE77C5711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523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输入或阶段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T w="9525">
                      <a:solidFill>
                        <a:srgbClr val="C9D3D8"/>
                      </a:solidFill>
                      <a:prstDash val="solid"/>
                    </a:lnT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处理方式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T w="9525">
                      <a:solidFill>
                        <a:srgbClr val="C9D3D8"/>
                      </a:solidFill>
                      <a:prstDash val="solid"/>
                    </a:lnT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RTL 源文件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保留原文件名与文件边界，按实际源文件集合预检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上传头文件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保留 include 指令，自动加入头文件搜索目录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未定义宏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即使编译器退出 0，也拒绝预检并保留原诊断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执行前提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接口确认且编译预检通过，才允许运行测试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13408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有界测试规划">
            <a:extLst xmlns:a="http://schemas.openxmlformats.org/drawingml/2006/main">
              <a:ext uri="{FF2B5EF4-FFF2-40B4-BE49-F238E27FC236}">
                <a16:creationId xmlns:a16="http://schemas.microsoft.com/office/drawing/2014/main" id="{8FCC027B-50FF-41F3-9A5E-C8C30437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有界测试规划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F3330224-959D-4B03-A43B-8409A3D9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2D281-952A-4FE5-9253-2FD2643D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C3180-A269-4FAA-B9DC-104A88EC8B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10873a08b404c"/>
          <a:stretch xmlns:a="http://schemas.openxmlformats.org/drawingml/2006/main"/>
        </p:blipFill>
        <p:spPr>
          <a:xfrm xmlns:a="http://schemas.openxmlformats.org/drawingml/2006/main">
            <a:off x="614795" y="1581150"/>
            <a:ext cx="10962409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补提仍收费，并占用原任务共享请求上限">
            <a:extLst xmlns:a="http://schemas.openxmlformats.org/drawingml/2006/main">
              <a:ext uri="{FF2B5EF4-FFF2-40B4-BE49-F238E27FC236}">
                <a16:creationId xmlns:a16="http://schemas.microsoft.com/office/drawing/2014/main" id="{B25E0F1A-7433-4403-9CDC-A819E7B3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初始规划先归一化重复名与 reset 字段，再做结构校验。</a:t>
            </a:r>
          </a:p>
          <a:p xmlns:a="http://schemas.openxmlformats.org/drawingml/2006/main">
            <a:pPr>
              <a:buNone/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目标文字用于引导，执行检查依赖期望值、参考模型或受限断言。</a:t>
            </a:r>
          </a:p>
        </p:txBody>
      </p:sp>
    </p:spTree>
    <p:extLst>
      <p:ext uri="{BB962C8B-B14F-4D97-AF65-F5344CB8AC3E}">
        <p14:creationId xmlns:p14="http://schemas.microsoft.com/office/powerpoint/2010/main" val="6421052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IFO 独立队列判据">
            <a:extLst xmlns:a="http://schemas.openxmlformats.org/drawingml/2006/main">
              <a:ext uri="{FF2B5EF4-FFF2-40B4-BE49-F238E27FC236}">
                <a16:creationId xmlns:a16="http://schemas.microsoft.com/office/drawing/2014/main" id="{B771ED58-4910-4859-AD80-0D8465F9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FIFO 规格判据与同拍读写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F0E50311-F88D-409A-B240-CAE699C8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D1E24-1A51-4CA6-A81E-F3A9C7B1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5" name="历史规格修复案例：76 拍、228 次比较，差异 66 减至 0">
            <a:extLst xmlns:a="http://schemas.openxmlformats.org/drawingml/2006/main">
              <a:ext uri="{FF2B5EF4-FFF2-40B4-BE49-F238E27FC236}">
                <a16:creationId xmlns:a16="http://schemas.microsoft.com/office/drawing/2014/main" id="{1AFBE1DA-A3A8-4B7F-8410-27705F59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独立 deque 用于重放及回归规格对照，运行时仍采用经过对照的指针与计数模型。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5CD09D4-B05A-4450-92FA-B7F50B8002E5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7620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c2cf8f7a51411d"/>
          </a:graphicData>
        </a:graphic>
      </p:graphicFrame>
      <p:sp>
        <p:nvSpPr>
          <p:cNvPr id="8" name="66 减至 0">
            <a:extLst xmlns:a="http://schemas.openxmlformats.org/drawingml/2006/main">
              <a:ext uri="{FF2B5EF4-FFF2-40B4-BE49-F238E27FC236}">
                <a16:creationId xmlns:a16="http://schemas.microsoft.com/office/drawing/2014/main" id="{7611F286-AC47-4EF7-A305-33A61CB9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300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9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9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9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9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9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9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9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9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9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pPr>
            <a:r>
              <a:rPr sz="39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66 减至 0</a:t>
            </a:r>
          </a:p>
        </p:txBody>
      </p:sp>
      <p:sp>
        <p:nvSpPr>
          <p:cNvPr id="9" name="相同 76 周期&#10;每次 228 项比较">
            <a:extLst xmlns:a="http://schemas.openxmlformats.org/drawingml/2006/main">
              <a:ext uri="{FF2B5EF4-FFF2-40B4-BE49-F238E27FC236}">
                <a16:creationId xmlns:a16="http://schemas.microsoft.com/office/drawing/2014/main" id="{16893F92-C19D-46DD-A960-4BF5A5F3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3000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相同 76 周期</a:t>
            </a:r>
          </a:p>
          <a:p xmlns:a="http://schemas.openxmlformats.org/drawingml/2006/main">
            <a: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每次 228 项比较</a:t>
            </a:r>
          </a:p>
        </p:txBody>
      </p:sp>
      <p:sp>
        <p:nvSpPr>
          <p:cNvPr id="10" name="控制缺陷继续检出">
            <a:extLst xmlns:a="http://schemas.openxmlformats.org/drawingml/2006/main">
              <a:ext uri="{FF2B5EF4-FFF2-40B4-BE49-F238E27FC236}">
                <a16:creationId xmlns:a16="http://schemas.microsoft.com/office/drawing/2014/main" id="{687EC489-BE8B-45A0-B686-3E8E2E3A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控制缺陷继续检出</a:t>
            </a:r>
          </a:p>
        </p:txBody>
      </p:sp>
    </p:spTree>
    <p:extLst>
      <p:ext uri="{BB962C8B-B14F-4D97-AF65-F5344CB8AC3E}">
        <p14:creationId xmlns:p14="http://schemas.microsoft.com/office/powerpoint/2010/main" val="7181855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带真实端口事实的反馈循环">
            <a:extLst xmlns:a="http://schemas.openxmlformats.org/drawingml/2006/main">
              <a:ext uri="{FF2B5EF4-FFF2-40B4-BE49-F238E27FC236}">
                <a16:creationId xmlns:a16="http://schemas.microsoft.com/office/drawing/2014/main" id="{7C698164-009D-4C2F-9F0F-7413C555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真实端口反馈与后续输入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F1E64754-793F-4CDB-9F8A-925FECF2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8A479-1F1C-4431-BB7C-A0735137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B2367-2980-4688-A015-83AEA0AFDC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0222992434f77"/>
          <a:stretch xmlns:a="http://schemas.openxmlformats.org/drawingml/2006/main"/>
        </p:blipFill>
        <p:spPr>
          <a:xfrm xmlns:a="http://schemas.openxmlformats.org/drawingml/2006/main">
            <a:off x="614795" y="1581150"/>
            <a:ext cx="10962409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保存 80 份端口文档，实际发给模型的反馈 STATE 为 20 个">
            <a:extLst xmlns:a="http://schemas.openxmlformats.org/drawingml/2006/main">
              <a:ext uri="{FF2B5EF4-FFF2-40B4-BE49-F238E27FC236}">
                <a16:creationId xmlns:a16="http://schemas.microsoft.com/office/drawing/2014/main" id="{224EF411-AA8C-4D30-AECF-44B1809B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保存 80 份端口文档，实际发给模型的反馈 STATE 为 20 个</a:t>
            </a:r>
          </a:p>
        </p:txBody>
      </p:sp>
    </p:spTree>
    <p:extLst>
      <p:ext uri="{BB962C8B-B14F-4D97-AF65-F5344CB8AC3E}">
        <p14:creationId xmlns:p14="http://schemas.microsoft.com/office/powerpoint/2010/main" val="14248145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请求预算与付费失败留存">
            <a:extLst xmlns:a="http://schemas.openxmlformats.org/drawingml/2006/main">
              <a:ext uri="{FF2B5EF4-FFF2-40B4-BE49-F238E27FC236}">
                <a16:creationId xmlns:a16="http://schemas.microsoft.com/office/drawing/2014/main" id="{1DBDA8F2-555F-44D1-A10C-14DB3304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请求预算与失败响应留存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2CE0C4B6-5569-4D99-A622-EDF2AB85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EA7F1-BD60-46B4-B594-36805D03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68DE7-E76E-475D-BCFF-05EFD3362A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ed8875bec436e"/>
          <a:stretch xmlns:a="http://schemas.openxmlformats.org/drawingml/2006/main"/>
        </p:blipFill>
        <p:spPr>
          <a:xfrm xmlns:a="http://schemas.openxmlformats.org/drawingml/2006/main">
            <a:off x="614795" y="1581150"/>
            <a:ext cx="10962409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最新批次 87 请求、339,624 reported tokens，保留 1 ">
            <a:extLst xmlns:a="http://schemas.openxmlformats.org/drawingml/2006/main">
              <a:ext uri="{FF2B5EF4-FFF2-40B4-BE49-F238E27FC236}">
                <a16:creationId xmlns:a16="http://schemas.microsoft.com/office/drawing/2014/main" id="{8B1B1C22-67B8-4147-A7AA-1199F739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最新批次 87 请求、339,624 reported tokens，保留 1 项终态格式失败</a:t>
            </a:r>
          </a:p>
        </p:txBody>
      </p:sp>
    </p:spTree>
    <p:extLst>
      <p:ext uri="{BB962C8B-B14F-4D97-AF65-F5344CB8AC3E}">
        <p14:creationId xmlns:p14="http://schemas.microsoft.com/office/powerpoint/2010/main" val="801123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最新 108 任务的对照设计">
            <a:extLst xmlns:a="http://schemas.openxmlformats.org/drawingml/2006/main">
              <a:ext uri="{FF2B5EF4-FFF2-40B4-BE49-F238E27FC236}">
                <a16:creationId xmlns:a16="http://schemas.microsoft.com/office/drawing/2014/main" id="{0E4598F6-CD05-451E-B72D-0BFC784C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六策略对照的实验设计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E7883287-B509-4C48-93EC-B3BAA643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CA783-731E-4813-A294-4809F3DE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4" name="两个新内部模块，六策略使用统一登记集合">
            <a:extLst xmlns:a="http://schemas.openxmlformats.org/drawingml/2006/main">
              <a:ext uri="{FF2B5EF4-FFF2-40B4-BE49-F238E27FC236}">
                <a16:creationId xmlns:a16="http://schemas.microsoft.com/office/drawing/2014/main" id="{1C4EF156-D9A3-4E63-8E82-58552E43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两个新内部模块，六策略使用统一登记集合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64B66-2FB9-47CA-A035-1B7CC6D82547}"/>
              </a:ext>
            </a:extLst>
          </p:cNvPr>
          <p:cNvGraphicFramePr/>
          <p:nvPr/>
        </p:nvGraphicFramePr>
        <p:xfrm>
          <a:off xmlns:a="http://schemas.openxmlformats.org/drawingml/2006/main" x="609600" y="2333625"/>
          <a:ext xmlns:a="http://schemas.openxmlformats.org/drawingml/2006/main" cx="109728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9400"/>
                <a:gridCol w="4629150"/>
                <a:gridCol w="3524250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公开合约要点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目标与重复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valid/data 流水线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两级对齐、flush 优先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正确 / B / C，各 3 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事件累计器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 16 回绕、clear 优先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正确 / B / C，各 3 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2 模块 × 3 目标 × 3 重复 × 6 策略 = 108 任务">
            <a:extLst xmlns:a="http://schemas.openxmlformats.org/drawingml/2006/main">
              <a:ext uri="{FF2B5EF4-FFF2-40B4-BE49-F238E27FC236}">
                <a16:creationId xmlns:a16="http://schemas.microsoft.com/office/drawing/2014/main" id="{30C1590E-E153-4D27-AD78-8B9C5276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6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6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6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6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6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6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6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6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6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6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6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2 模块 × 3 目标 × 3 重复 × 6 策略 = 108 任务</a:t>
            </a:r>
          </a:p>
        </p:txBody>
      </p:sp>
      <p:sp>
        <p:nvSpPr>
          <p:cNvPr id="7" name="每策略 12 缺陷任务，另有 6 正确任务">
            <a:extLst xmlns:a="http://schemas.openxmlformats.org/drawingml/2006/main">
              <a:ext uri="{FF2B5EF4-FFF2-40B4-BE49-F238E27FC236}">
                <a16:creationId xmlns:a16="http://schemas.microsoft.com/office/drawing/2014/main" id="{D02DB3A2-130F-43AE-8427-6A411D84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每策略 12 缺陷任务，另有 6 正确任务</a:t>
            </a:r>
          </a:p>
        </p:txBody>
      </p:sp>
      <p:sp>
        <p:nvSpPr>
          <p:cNvPr id="8" name="同团队合成集合，未提供外部盲测或预训练未见证明">
            <a:extLst xmlns:a="http://schemas.openxmlformats.org/drawingml/2006/main">
              <a:ext uri="{FF2B5EF4-FFF2-40B4-BE49-F238E27FC236}">
                <a16:creationId xmlns:a16="http://schemas.microsoft.com/office/drawing/2014/main" id="{F16F9669-924B-4ACE-B672-0E1F3637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同团队合成集合，未提供外部盲测或预训练未见证明</a:t>
            </a:r>
          </a:p>
        </p:txBody>
      </p:sp>
    </p:spTree>
    <p:extLst>
      <p:ext uri="{BB962C8B-B14F-4D97-AF65-F5344CB8AC3E}">
        <p14:creationId xmlns:p14="http://schemas.microsoft.com/office/powerpoint/2010/main" val="10886118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最新批次的六策略检出">
            <a:extLst xmlns:a="http://schemas.openxmlformats.org/drawingml/2006/main">
              <a:ext uri="{FF2B5EF4-FFF2-40B4-BE49-F238E27FC236}">
                <a16:creationId xmlns:a16="http://schemas.microsoft.com/office/drawing/2014/main" id="{A1BB3D3E-8ACD-4B71-8451-6C5DF699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两模块任务的检出结果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10F837A7-19EE-467F-8BB9-E96CF1B9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75A9E-2B82-4271-B290-601A4768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4" name="反馈 11/12，仅比随机与无反馈各多 1 项">
            <a:extLst xmlns:a="http://schemas.openxmlformats.org/drawingml/2006/main">
              <a:ext uri="{FF2B5EF4-FFF2-40B4-BE49-F238E27FC236}">
                <a16:creationId xmlns:a16="http://schemas.microsoft.com/office/drawing/2014/main" id="{7C986D29-E897-4C63-BA2C-040850A2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反馈 11/12，仅比随机与无反馈各多 1 项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6063D4A-9FEC-40E5-AEF8-AE641E9FC4AE}"/>
              </a:ext>
            </a:extLst>
          </p:cNvPr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7953375" cy="3457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0523c558fd4df7"/>
          </a:graphicData>
        </a:graphic>
      </p:graphicFrame>
      <p:sp>
        <p:nvSpPr>
          <p:cNvPr id="6" name="11 / 12">
            <a:extLst xmlns:a="http://schemas.openxmlformats.org/drawingml/2006/main">
              <a:ext uri="{FF2B5EF4-FFF2-40B4-BE49-F238E27FC236}">
                <a16:creationId xmlns:a16="http://schemas.microsoft.com/office/drawing/2014/main" id="{DAADB482-5717-4ECF-8409-2719EF7D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171700"/>
            <a:ext cx="25050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5625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5625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5625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5625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5625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5625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5625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5625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5625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5625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5625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5625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11 / 12</a:t>
            </a:r>
          </a:p>
        </p:txBody>
      </p:sp>
      <p:sp>
        <p:nvSpPr>
          <p:cNvPr id="7" name="反馈 Agent">
            <a:extLst xmlns:a="http://schemas.openxmlformats.org/drawingml/2006/main">
              <a:ext uri="{FF2B5EF4-FFF2-40B4-BE49-F238E27FC236}">
                <a16:creationId xmlns:a16="http://schemas.microsoft.com/office/drawing/2014/main" id="{C592C6DC-E8E1-44B0-8F86-5684C02B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62300"/>
            <a:ext cx="2505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反馈 Agent</a:t>
            </a:r>
          </a:p>
        </p:txBody>
      </p:sp>
      <p:sp>
        <p:nvSpPr>
          <p:cNvPr id="8" name="36 / 36">
            <a:extLst xmlns:a="http://schemas.openxmlformats.org/drawingml/2006/main">
              <a:ext uri="{FF2B5EF4-FFF2-40B4-BE49-F238E27FC236}">
                <a16:creationId xmlns:a16="http://schemas.microsoft.com/office/drawing/2014/main" id="{55966078-040B-417A-BE34-70447476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971925"/>
            <a:ext cx="25050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5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35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35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35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35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35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35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35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35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35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35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pPr>
            <a:r>
              <a:rPr sz="3525" b="1">
                <a:solidFill>
                  <a:srgbClr val="182025"/>
                </a:solidFill>
                <a:latin typeface="Bahnschrift"/>
                <a:ea typeface="Bahnschrift"/>
                <a:cs typeface="Bahnschrift"/>
              </a:rPr>
              <a:t>36 / 36</a:t>
            </a:r>
          </a:p>
        </p:txBody>
      </p:sp>
      <p:sp>
        <p:nvSpPr>
          <p:cNvPr id="9" name="正确任务实际执行&#10;0 实际误报">
            <a:extLst xmlns:a="http://schemas.openxmlformats.org/drawingml/2006/main">
              <a:ext uri="{FF2B5EF4-FFF2-40B4-BE49-F238E27FC236}">
                <a16:creationId xmlns:a16="http://schemas.microsoft.com/office/drawing/2014/main" id="{7B99BD2C-B9B6-4119-B047-099286E6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695825"/>
            <a:ext cx="25050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正确任务实际执行</a:t>
            </a:r>
          </a:p>
          <a:p xmlns:a="http://schemas.openxmlformats.org/drawingml/2006/main">
            <a:pPr>
              <a:buNone/>
              <a:def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0 实际误报</a:t>
            </a:r>
          </a:p>
        </p:txBody>
      </p:sp>
      <p:sp>
        <p:nvSpPr>
          <p:cNvPr id="10" name="差异尚不支持显著性、因果或工业普适收益">
            <a:extLst xmlns:a="http://schemas.openxmlformats.org/drawingml/2006/main">
              <a:ext uri="{FF2B5EF4-FFF2-40B4-BE49-F238E27FC236}">
                <a16:creationId xmlns:a16="http://schemas.microsoft.com/office/drawing/2014/main" id="{32F213F4-8269-4EAE-AD69-8B5939C9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差异尚不支持显著性、因果或工业普适收益</a:t>
            </a:r>
          </a:p>
        </p:txBody>
      </p:sp>
      <p:sp>
        <p:nvSpPr>
          <p:cNvPr id="11" name="共同 24 拍上限，single 最多 1 请求、Agent 最多 3 请求，实">
            <a:extLst xmlns:a="http://schemas.openxmlformats.org/drawingml/2006/main">
              <a:ext uri="{FF2B5EF4-FFF2-40B4-BE49-F238E27FC236}">
                <a16:creationId xmlns:a16="http://schemas.microsoft.com/office/drawing/2014/main" id="{BC9D319D-CEE8-4B2B-A984-2BED46F0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42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42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42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42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42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42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42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42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42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候选侧实际激励周期：432 / 432 / 432 / 236 / 300 / 290，正确侧同量另计。</a:t>
            </a:r>
          </a:p>
          <a:p xmlns:a="http://schemas.openxmlformats.org/drawingml/2006/main">
            <a:pPr>
              <a:buNone/>
              <a:defRPr sz="142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各任务共享 24 拍上限，自动初始复位不计入该列。</a:t>
            </a:r>
          </a:p>
        </p:txBody>
      </p:sp>
    </p:spTree>
    <p:extLst>
      <p:ext uri="{BB962C8B-B14F-4D97-AF65-F5344CB8AC3E}">
        <p14:creationId xmlns:p14="http://schemas.microsoft.com/office/powerpoint/2010/main" val="7246527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历史 432 任务的完整记录">
            <a:extLst xmlns:a="http://schemas.openxmlformats.org/drawingml/2006/main">
              <a:ext uri="{FF2B5EF4-FFF2-40B4-BE49-F238E27FC236}">
                <a16:creationId xmlns:a16="http://schemas.microsoft.com/office/drawing/2014/main" id="{E820E502-8C2F-4BA3-BE4C-D9AB41F9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八模块批次的执行范围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CAFB76B4-4B73-476C-B0A5-6218DE64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A3EB0-3ABD-48B4-B398-5BFC1771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4" name="历史反馈 37/48，与无反馈相同">
            <a:extLst xmlns:a="http://schemas.openxmlformats.org/drawingml/2006/main">
              <a:ext uri="{FF2B5EF4-FFF2-40B4-BE49-F238E27FC236}">
                <a16:creationId xmlns:a16="http://schemas.microsoft.com/office/drawing/2014/main" id="{5FEF7422-E92D-422C-9290-4134091F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历史反馈 37/48，与无反馈相同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E7A500A-E0BE-4B77-9A65-8513A4A87F2D}"/>
              </a:ext>
            </a:extLst>
          </p:cNvPr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7953375" cy="3457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aba7dc18e84a8f"/>
          </a:graphicData>
        </a:graphic>
      </p:graphicFrame>
      <p:sp>
        <p:nvSpPr>
          <p:cNvPr id="6" name="18">
            <a:extLst xmlns:a="http://schemas.openxmlformats.org/drawingml/2006/main">
              <a:ext uri="{FF2B5EF4-FFF2-40B4-BE49-F238E27FC236}">
                <a16:creationId xmlns:a16="http://schemas.microsoft.com/office/drawing/2014/main" id="{8CE2C068-381B-4CFC-881A-05191CB0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171700"/>
            <a:ext cx="25050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57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57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57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57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57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57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57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57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57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57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57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57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18</a:t>
            </a:r>
          </a:p>
        </p:txBody>
      </p:sp>
      <p:sp>
        <p:nvSpPr>
          <p:cNvPr id="7" name="任务无 DUT 执行">
            <a:extLst xmlns:a="http://schemas.openxmlformats.org/drawingml/2006/main">
              <a:ext uri="{FF2B5EF4-FFF2-40B4-BE49-F238E27FC236}">
                <a16:creationId xmlns:a16="http://schemas.microsoft.com/office/drawing/2014/main" id="{6A612E91-528F-4BF0-A122-8B37FD73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71825"/>
            <a:ext cx="25050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任务无 DUT 执行</a:t>
            </a:r>
          </a:p>
        </p:txBody>
      </p:sp>
      <p:sp>
        <p:nvSpPr>
          <p:cNvPr id="8" name="strict=false">
            <a:extLst xmlns:a="http://schemas.openxmlformats.org/drawingml/2006/main">
              <a:ext uri="{FF2B5EF4-FFF2-40B4-BE49-F238E27FC236}">
                <a16:creationId xmlns:a16="http://schemas.microsoft.com/office/drawing/2014/main" id="{21D3CEDE-9E50-4987-A28B-E92D0988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057650"/>
            <a:ext cx="2505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3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3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3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3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3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3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3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3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3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3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182025"/>
                </a:solidFill>
                <a:latin typeface="Bahnschrift"/>
                <a:ea typeface="Bahnschrift"/>
                <a:cs typeface="Bahnschrift"/>
              </a:rPr>
              <a:t>strict=false</a:t>
            </a:r>
          </a:p>
        </p:txBody>
      </p:sp>
      <p:sp>
        <p:nvSpPr>
          <p:cNvPr id="9" name="306 请求&#10;973,149 tokens">
            <a:extLst xmlns:a="http://schemas.openxmlformats.org/drawingml/2006/main">
              <a:ext uri="{FF2B5EF4-FFF2-40B4-BE49-F238E27FC236}">
                <a16:creationId xmlns:a16="http://schemas.microsoft.com/office/drawing/2014/main" id="{7872B45F-E554-457E-802E-711327E2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791075"/>
            <a:ext cx="25050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defRPr>
            </a:pPr>
            <a:r>
              <a: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rPr>
              <a:t>306 请求</a:t>
            </a:r>
          </a:p>
          <a:p xmlns:a="http://schemas.openxmlformats.org/drawingml/2006/main">
            <a:pPr>
              <a:buNone/>
              <a:def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defRPr>
            </a:pPr>
            <a:r>
              <a: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rPr>
              <a:t>973,149 tokens</a:t>
            </a:r>
          </a:p>
        </p:txBody>
      </p:sp>
      <p:sp>
        <p:nvSpPr>
          <p:cNvPr id="10" name="反馈未超过固定与协议随机 48/48">
            <a:extLst xmlns:a="http://schemas.openxmlformats.org/drawingml/2006/main">
              <a:ext uri="{FF2B5EF4-FFF2-40B4-BE49-F238E27FC236}">
                <a16:creationId xmlns:a16="http://schemas.microsoft.com/office/drawing/2014/main" id="{EC804814-5BAE-40C6-A9DA-3243214D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反馈未超过固定与协议随机 48/48</a:t>
            </a:r>
          </a:p>
        </p:txBody>
      </p:sp>
      <p:sp>
        <p:nvSpPr>
          <p:cNvPr id="11" name="每策略完整缺陷分母 48，两批模块、预算和分母分别报告">
            <a:extLst xmlns:a="http://schemas.openxmlformats.org/drawingml/2006/main">
              <a:ext uri="{FF2B5EF4-FFF2-40B4-BE49-F238E27FC236}">
                <a16:creationId xmlns:a16="http://schemas.microsoft.com/office/drawing/2014/main" id="{915B28A4-6A37-449F-8981-2EEE2A7D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18 项未执行含 1 项正确控制，8 项触达 token 预算。全部缺陷分母仍为 48。</a:t>
            </a:r>
          </a:p>
        </p:txBody>
      </p:sp>
    </p:spTree>
    <p:extLst>
      <p:ext uri="{BB962C8B-B14F-4D97-AF65-F5344CB8AC3E}">
        <p14:creationId xmlns:p14="http://schemas.microsoft.com/office/powerpoint/2010/main" val="16595038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F977E-9912-48D8-8F5B-11564489FDD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29650" y="2752725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BC8"/>
            </a:solidFill>
            <a:tailEnd type="arrow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101FE-5973-492D-A304-C4E8F12C3F6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62625" y="2752725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BC8"/>
            </a:solidFill>
            <a:tailEnd type="arrow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4A9C2-BD0D-45CF-932E-DD7A714FED4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95600" y="2752725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BC8"/>
            </a:solidFill>
            <a:tailEnd type="arrow" w="sm" len="sm"/>
          </a:ln>
        </p:spPr>
      </p:cxnSp>
      <p:sp>
        <p:nvSpPr>
          <p:cNvPr id="15" name="执行记录与原件绑定">
            <a:extLst xmlns:a="http://schemas.openxmlformats.org/drawingml/2006/main">
              <a:ext uri="{FF2B5EF4-FFF2-40B4-BE49-F238E27FC236}">
                <a16:creationId xmlns:a16="http://schemas.microsoft.com/office/drawing/2014/main" id="{1EF9CC21-DF84-4800-BBE9-D40D6F05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执行记录与原件绑定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83207D25-E1B6-431D-8420-9C04F800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29231-F101-4CC2-8DAA-850C7627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4" name="安全原文和执行记录进入证据链">
            <a:extLst xmlns:a="http://schemas.openxmlformats.org/drawingml/2006/main">
              <a:ext uri="{FF2B5EF4-FFF2-40B4-BE49-F238E27FC236}">
                <a16:creationId xmlns:a16="http://schemas.microsoft.com/office/drawing/2014/main" id="{A70AF92F-70A2-445D-A5D5-733D3ED1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安全原文和执行记录进入证据链</a:t>
            </a:r>
          </a:p>
        </p:txBody>
      </p:sp>
      <p:sp>
        <p:nvSpPr>
          <p:cNvPr id="5" name="冻结输入&#10;458 项">
            <a:extLst xmlns:a="http://schemas.openxmlformats.org/drawingml/2006/main">
              <a:ext uri="{FF2B5EF4-FFF2-40B4-BE49-F238E27FC236}">
                <a16:creationId xmlns:a16="http://schemas.microsoft.com/office/drawing/2014/main" id="{BAD0670B-8C10-405C-B2AE-E55BE3D0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冻结输入</a:t>
            </a:r>
          </a:p>
          <a:p xmlns:a="http://schemas.openxmlformats.org/drawingml/2006/main">
            <a:pPr>
              <a:buNone/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458 项</a:t>
            </a:r>
          </a:p>
        </p:txBody>
      </p:sp>
      <p:sp>
        <p:nvSpPr>
          <p:cNvPr id="6" name="实际执行与请求&#10;4,359 raw 文件">
            <a:extLst xmlns:a="http://schemas.openxmlformats.org/drawingml/2006/main">
              <a:ext uri="{FF2B5EF4-FFF2-40B4-BE49-F238E27FC236}">
                <a16:creationId xmlns:a16="http://schemas.microsoft.com/office/drawing/2014/main" id="{FA26421D-FFCC-49D8-9D00-691292D0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7647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实际执行与请求</a:t>
            </a:r>
          </a:p>
          <a:p xmlns:a="http://schemas.openxmlformats.org/drawingml/2006/main">
            <a:pPr>
              <a:buNone/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4,359 raw 文件</a:t>
            </a:r>
          </a:p>
        </p:txBody>
      </p:sp>
      <p:sp>
        <p:nvSpPr>
          <p:cNvPr id="7" name="manifest 与 ZIP&#10;原字节绑定">
            <a:extLst xmlns:a="http://schemas.openxmlformats.org/drawingml/2006/main">
              <a:ext uri="{FF2B5EF4-FFF2-40B4-BE49-F238E27FC236}">
                <a16:creationId xmlns:a16="http://schemas.microsoft.com/office/drawing/2014/main" id="{7F944F67-6034-48E1-A1F0-5C2CAF38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7647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manifest 与 ZIP</a:t>
            </a:r>
          </a:p>
          <a:p xmlns:a="http://schemas.openxmlformats.org/drawingml/2006/main">
            <a:pPr>
              <a:buNone/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原字节绑定</a:t>
            </a:r>
          </a:p>
        </p:txBody>
      </p:sp>
      <p:sp>
        <p:nvSpPr>
          <p:cNvPr id="8" name="逐项机器审计&#10;保留失败">
            <a:extLst xmlns:a="http://schemas.openxmlformats.org/drawingml/2006/main">
              <a:ext uri="{FF2B5EF4-FFF2-40B4-BE49-F238E27FC236}">
                <a16:creationId xmlns:a16="http://schemas.microsoft.com/office/drawing/2014/main" id="{894012ED-C64C-4C84-8EDD-E51A4E9A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27647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逐项机器审计</a:t>
            </a:r>
          </a:p>
          <a:p xmlns:a="http://schemas.openxmlformats.org/drawingml/2006/main">
            <a:pPr>
              <a:buNone/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保留失败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7232D-294F-4B05-86F7-EE0BDBD6539B}"/>
              </a:ext>
            </a:extLst>
          </p:cNvPr>
          <p:cNvGraphicFramePr/>
          <p:nvPr/>
        </p:nvGraphicFramePr>
        <p:xfrm>
          <a:off xmlns:a="http://schemas.openxmlformats.org/drawingml/2006/main" x="609600" y="3600450"/>
          <a:ext xmlns:a="http://schemas.openxmlformats.org/drawingml/2006/main" cx="109728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667250"/>
                <a:gridCol w="3781425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审计范围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记录量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身份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核心审计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2,192 项机器检查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非实现者代理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轨迹审计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54 轨迹、87 请求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实验 entry 代码作者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机器审计非独立人工 H02">
            <a:extLst xmlns:a="http://schemas.openxmlformats.org/drawingml/2006/main">
              <a:ext uri="{FF2B5EF4-FFF2-40B4-BE49-F238E27FC236}">
                <a16:creationId xmlns:a16="http://schemas.microsoft.com/office/drawing/2014/main" id="{08F14FCC-393D-4A5E-AC92-584F066B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3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3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3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3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3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3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3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3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3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3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机器审计非独立人工 H02</a:t>
            </a:r>
          </a:p>
        </p:txBody>
      </p:sp>
      <p:sp>
        <p:nvSpPr>
          <p:cNvPr id="14" name="最新 strict=true 表示证据资格，134 round / 268 DU">
            <a:extLst xmlns:a="http://schemas.openxmlformats.org/drawingml/2006/main">
              <a:ext uri="{FF2B5EF4-FFF2-40B4-BE49-F238E27FC236}">
                <a16:creationId xmlns:a16="http://schemas.microsoft.com/office/drawing/2014/main" id="{E17AF413-42A1-41E8-8927-51153EA7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最新 strict=true 表示证据资格，134 round / 268 DUT 与参考执行侧</a:t>
            </a:r>
          </a:p>
        </p:txBody>
      </p:sp>
    </p:spTree>
    <p:extLst>
      <p:ext uri="{BB962C8B-B14F-4D97-AF65-F5344CB8AC3E}">
        <p14:creationId xmlns:p14="http://schemas.microsoft.com/office/powerpoint/2010/main" val="7423932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跨平台运行与工程检查">
            <a:extLst xmlns:a="http://schemas.openxmlformats.org/drawingml/2006/main">
              <a:ext uri="{FF2B5EF4-FFF2-40B4-BE49-F238E27FC236}">
                <a16:creationId xmlns:a16="http://schemas.microsoft.com/office/drawing/2014/main" id="{EB2107DA-6516-4FE0-BB36-8AAA9AC9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用户自定义 RTL 核心运行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EEC80BDF-B813-41A8-BA03-05297CEE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5D6B2-3959-49CF-B322-509842B8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5" name="历史提交 216438d 的 5 jobs 全绿，当前 df7ccfa 云端检查">
            <a:extLst xmlns:a="http://schemas.openxmlformats.org/drawingml/2006/main">
              <a:ext uri="{FF2B5EF4-FFF2-40B4-BE49-F238E27FC236}">
                <a16:creationId xmlns:a16="http://schemas.microsoft.com/office/drawing/2014/main" id="{7BFFB36D-87A5-4ED4-8742-D3B9597E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成功包实际时钟 65ns，期望值来自 AI。不同计划不作提升对照，也不外推完整 OneWire 协议通过。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F1A84-5DDD-4378-8ECE-432DD949899D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952750"/>
                <a:gridCol w="3333750"/>
                <a:gridCol w="249555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记录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T w="9525">
                      <a:solidFill>
                        <a:srgbClr val="C9D3D8"/>
                      </a:solidFill>
                      <a:prstDash val="solid"/>
                    </a:lnT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执行阶段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T w="9525">
                      <a:solidFill>
                        <a:srgbClr val="C9D3D8"/>
                      </a:solidFill>
                      <a:prstDash val="solid"/>
                    </a:lnT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实际比较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T w="9525">
                      <a:solidFill>
                        <a:srgbClr val="C9D3D8"/>
                      </a:solidFill>
                      <a:prstDash val="solid"/>
                    </a:lnT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T w="9525">
                      <a:solidFill>
                        <a:srgbClr val="C9D3D8"/>
                      </a:solidFill>
                      <a:prstDash val="solid"/>
                    </a:lnT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首次两次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编译停止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 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缺少子模块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后续第 4 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编译与仿真完成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30 项，7 项不一致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failed_checks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后续第 5 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编译与仿真完成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42 项，0 项不一致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15 组向量，22 周期，报告与 VCD 已导出">
            <a:extLst xmlns:a="http://schemas.openxmlformats.org/drawingml/2006/main">
              <a:ext uri="{FF2B5EF4-FFF2-40B4-BE49-F238E27FC236}">
                <a16:creationId xmlns:a16="http://schemas.microsoft.com/office/drawing/2014/main" id="{2CE5DE92-E3F1-4AB4-BD70-60D76D44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7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7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7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7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7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7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7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7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7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15 组向量，22 周期，报告与 VCD 已导出</a:t>
            </a:r>
          </a:p>
        </p:txBody>
      </p:sp>
      <p:sp>
        <p:nvSpPr>
          <p:cNvPr id="9" name="输入源码与替换包的两个模块内容核对一致">
            <a:extLst xmlns:a="http://schemas.openxmlformats.org/drawingml/2006/main">
              <a:ext uri="{FF2B5EF4-FFF2-40B4-BE49-F238E27FC236}">
                <a16:creationId xmlns:a16="http://schemas.microsoft.com/office/drawing/2014/main" id="{92514C9E-7CC7-4504-9545-C3E58245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输入源码与替换包的两个模块内容核对一致</a:t>
            </a:r>
          </a:p>
        </p:txBody>
      </p:sp>
    </p:spTree>
    <p:extLst>
      <p:ext uri="{BB962C8B-B14F-4D97-AF65-F5344CB8AC3E}">
        <p14:creationId xmlns:p14="http://schemas.microsoft.com/office/powerpoint/2010/main" val="11939645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真实异机操作中的卡点">
            <a:extLst xmlns:a="http://schemas.openxmlformats.org/drawingml/2006/main">
              <a:ext uri="{FF2B5EF4-FFF2-40B4-BE49-F238E27FC236}">
                <a16:creationId xmlns:a16="http://schemas.microsoft.com/office/drawing/2014/main" id="{E8600EF6-7B54-4B2B-B3C6-196C081A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UART 时序判据补全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3C8ED13D-07C2-40A8-AC6C-E6AC9BD0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3B1B9-4121-46DF-85A3-724F279B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5" name="两次上传均编译失败，没有仿真比较或 VCD，用户复测仍待确认">
            <a:extLst xmlns:a="http://schemas.openxmlformats.org/drawingml/2006/main">
              <a:ext uri="{FF2B5EF4-FFF2-40B4-BE49-F238E27FC236}">
                <a16:creationId xmlns:a16="http://schemas.microsoft.com/office/drawing/2014/main" id="{2100C889-DF69-4FF6-868E-0D0B9BE5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人工完善判据，未计为 AI 新发现。图为规格示意，时间条件仅针对冻结实现与登记参数。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E347E-D50B-431E-92BF-3E7FC5C74F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fbf41ea0141da"/>
          <a:stretch xmlns:a="http://schemas.openxmlformats.org/drawingml/2006/main"/>
        </p:blipFill>
        <p:spPr>
          <a:xfrm xmlns:a="http://schemas.openxmlformats.org/drawingml/2006/main">
            <a:off x="2354036" y="1666875"/>
            <a:ext cx="7483929" cy="2619375"/>
          </a:xfrm>
          <a:prstGeom xmlns:a="http://schemas.openxmlformats.org/drawingml/2006/main" prst="rect">
            <a:avLst/>
          </a:prstGeom>
        </p:spPr>
      </p:pic>
      <p:sp>
        <p:nvSpPr>
          <p:cNvPr id="8" name="同一组缺陷检出由 13/15 增至 15/15">
            <a:extLst xmlns:a="http://schemas.openxmlformats.org/drawingml/2006/main">
              <a:ext uri="{FF2B5EF4-FFF2-40B4-BE49-F238E27FC236}">
                <a16:creationId xmlns:a16="http://schemas.microsoft.com/office/drawing/2014/main" id="{5D2592B3-6DC5-42DC-974A-46761457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9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9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9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9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9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9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9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9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9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9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同一组缺陷检出由 13/15 增至 15/15</a:t>
            </a:r>
          </a:p>
        </p:txBody>
      </p:sp>
      <p:sp>
        <p:nvSpPr>
          <p:cNvPr id="9" name="补充位持续时间与 busy 释放检查，正确及等价控制保持无误报">
            <a:extLst xmlns:a="http://schemas.openxmlformats.org/drawingml/2006/main">
              <a:ext uri="{FF2B5EF4-FFF2-40B4-BE49-F238E27FC236}">
                <a16:creationId xmlns:a16="http://schemas.microsoft.com/office/drawing/2014/main" id="{BE5D6B1E-5F65-4CD6-AC04-82D45A3E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补充位持续时间与 busy 释放检查，正确及等价控制保持无误报</a:t>
            </a:r>
          </a:p>
        </p:txBody>
      </p:sp>
    </p:spTree>
    <p:extLst>
      <p:ext uri="{BB962C8B-B14F-4D97-AF65-F5344CB8AC3E}">
        <p14:creationId xmlns:p14="http://schemas.microsoft.com/office/powerpoint/2010/main" val="10232669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异机反馈推动的产品修改">
            <a:extLst xmlns:a="http://schemas.openxmlformats.org/drawingml/2006/main">
              <a:ext uri="{FF2B5EF4-FFF2-40B4-BE49-F238E27FC236}">
                <a16:creationId xmlns:a16="http://schemas.microsoft.com/office/drawing/2014/main" id="{55C87775-2B78-4981-9BE5-DA14CE15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教师组织的 AI 辅助技术复核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6CA87BF6-25F6-4B19-9C87-CF7E9C7B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54B3F-BDE1-4EE4-B088-C0C3BFC2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5" name="修改已发布，尚无用户在该电脑使用新版本成功复测的证据">
            <a:extLst xmlns:a="http://schemas.openxmlformats.org/drawingml/2006/main">
              <a:ext uri="{FF2B5EF4-FFF2-40B4-BE49-F238E27FC236}">
                <a16:creationId xmlns:a16="http://schemas.microsoft.com/office/drawing/2014/main" id="{AAB3D230-2238-44B7-B0A5-7BFCD0D7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复核含统计重算和真实执行。教师亲自确认尚未取得，不记为独立人工审核通过。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A25C0-6C32-4DE7-BFE2-45231344BA12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1055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复核意见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T w="9525">
                      <a:solidFill>
                        <a:srgbClr val="C9D3D8"/>
                      </a:solidFill>
                      <a:prstDash val="solid"/>
                    </a:lnT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本次处理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T w="9525">
                      <a:solidFill>
                        <a:srgbClr val="C9D3D8"/>
                      </a:solidFill>
                      <a:prstDash val="solid"/>
                    </a:lnT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多文件预检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按实际文件集合检查，自动定位头文件并拒绝未定义宏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FIFO 参考表述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区分独立队列对照与运行时指针模型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432 任务完整性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披露 strict=false、未执行正确控制与预算终止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初始归一化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披露重名修正及 reset 字段处理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激励周期口径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注明候选侧周期，正确侧同量另计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5121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I 与 IC 验证的工程结合">
            <a:extLst xmlns:a="http://schemas.openxmlformats.org/drawingml/2006/main">
              <a:ext uri="{FF2B5EF4-FFF2-40B4-BE49-F238E27FC236}">
                <a16:creationId xmlns:a16="http://schemas.microsoft.com/office/drawing/2014/main" id="{DFB64F16-225E-4E94-ABB6-D17F82A1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AI 与 IC 验证的工程结合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56BB42C6-E838-430A-80D7-F2A1DF26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333BA-0635-49D4-9DD0-A590C1FD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4" name="贡献集中于模型建议到执行证据的连接">
            <a:extLst xmlns:a="http://schemas.openxmlformats.org/drawingml/2006/main">
              <a:ext uri="{FF2B5EF4-FFF2-40B4-BE49-F238E27FC236}">
                <a16:creationId xmlns:a16="http://schemas.microsoft.com/office/drawing/2014/main" id="{38564012-448F-4ADB-9AC4-8CA87492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贡献集中于模型建议到执行证据的连接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B4F8C-AFF4-4C2A-B690-7FB617CFDCA8}"/>
              </a:ext>
            </a:extLst>
          </p:cNvPr>
          <p:cNvGraphicFramePr/>
          <p:nvPr/>
        </p:nvGraphicFramePr>
        <p:xfrm>
          <a:off xmlns:a="http://schemas.openxmlformats.org/drawingml/2006/main" x="609600" y="2181225"/>
          <a:ext xmlns:a="http://schemas.openxmlformats.org/drawingml/2006/main" cx="109728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28900"/>
                <a:gridCol w="4057650"/>
                <a:gridCol w="4286250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结合点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已实现的机制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针对的问题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公开规格与独立判据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接口约束、逐拍 oracle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无效输入与共享实现错误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有界模型动作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严格格式、共享请求预算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失败恢复造成无界请求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可核对的执行记录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原文、账本、manifest 绑定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选择性留存与结果难复核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真实操作反馈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依赖预查、入口与状态提示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异机环境和下一步不清楚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更广泛的效果仍需独立模块、复测与成本对照">
            <a:extLst xmlns:a="http://schemas.openxmlformats.org/drawingml/2006/main">
              <a:ext uri="{FF2B5EF4-FFF2-40B4-BE49-F238E27FC236}">
                <a16:creationId xmlns:a16="http://schemas.microsoft.com/office/drawing/2014/main" id="{CBAD9A4C-5A25-48FE-B28E-56F72949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更广泛的效果仍需独立模块、复测与成本对照</a:t>
            </a:r>
          </a:p>
        </p:txBody>
      </p:sp>
      <p:sp>
        <p:nvSpPr>
          <p:cNvPr id="7" name="本项目没有证明反馈的显著收益，也没有量化工业普适提升">
            <a:extLst xmlns:a="http://schemas.openxmlformats.org/drawingml/2006/main">
              <a:ext uri="{FF2B5EF4-FFF2-40B4-BE49-F238E27FC236}">
                <a16:creationId xmlns:a16="http://schemas.microsoft.com/office/drawing/2014/main" id="{06CA77FE-D35C-42A6-8FF9-F87ADE16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本项目没有证明反馈的显著收益，也没有量化工业普适提升</a:t>
            </a:r>
          </a:p>
        </p:txBody>
      </p:sp>
    </p:spTree>
    <p:extLst>
      <p:ext uri="{BB962C8B-B14F-4D97-AF65-F5344CB8AC3E}">
        <p14:creationId xmlns:p14="http://schemas.microsoft.com/office/powerpoint/2010/main" val="6294197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后续验证与交付路线">
            <a:extLst xmlns:a="http://schemas.openxmlformats.org/drawingml/2006/main">
              <a:ext uri="{FF2B5EF4-FFF2-40B4-BE49-F238E27FC236}">
                <a16:creationId xmlns:a16="http://schemas.microsoft.com/office/drawing/2014/main" id="{73AEB0F9-28E2-40C6-A7F3-C7FA6A09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应用范围与后续方向</a:t>
            </a:r>
          </a:p>
        </p:txBody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E75581F2-FC2B-4A2A-B989-5819E0E9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B9140-10F5-401D-93E4-5C4EA34C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5" name="官方截止：2026-10-30 20:00 北京时间，答辩交 PDF，编辑使用 ">
            <a:extLst xmlns:a="http://schemas.openxmlformats.org/drawingml/2006/main">
              <a:ext uri="{FF2B5EF4-FFF2-40B4-BE49-F238E27FC236}">
                <a16:creationId xmlns:a16="http://schemas.microsoft.com/office/drawing/2014/main" id="{4470A1E1-657C-4B20-81DD-72B5AD6C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当前结果属于模块级功能验证，未开展时序或物理签核、芯片流片和工业协议认证。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C7787-99A7-41EC-9413-9170BF29EB5A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523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方面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T w="9525">
                      <a:solidFill>
                        <a:srgbClr val="C9D3D8"/>
                      </a:solidFill>
                      <a:prstDash val="solid"/>
                    </a:lnT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当前范围及后续工作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T w="9525">
                      <a:solidFill>
                        <a:srgbClr val="C9D3D8"/>
                      </a:solidFill>
                      <a:prstDash val="solid"/>
                    </a:lnT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1C20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应用范围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模块开发与教学，验证 RTL 的状态和输出行为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协议环境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继续补充从设备响应和采样窗口，避免仅有主机输入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效果评价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扩展独立模块与缺陷来源，并对齐实际请求及周期消耗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工程交付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3D8"/>
                      </a:solidFill>
                      <a:prstDash val="solid"/>
                    </a:lnL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代码、报告、计划、日志和波形对应保存，检查状态分别记录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3D8"/>
                      </a:solidFill>
                      <a:prstDash val="solid"/>
                    </a:lnR>
                    <a:lnB w="9525">
                      <a:solidFill>
                        <a:srgbClr val="C9D3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8014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附录 A  规格时序示例">
            <a:extLst xmlns:a="http://schemas.openxmlformats.org/drawingml/2006/main">
              <a:ext uri="{FF2B5EF4-FFF2-40B4-BE49-F238E27FC236}">
                <a16:creationId xmlns:a16="http://schemas.microsoft.com/office/drawing/2014/main" id="{BA3C69CC-AC87-4D7E-B9E2-09B2EDA2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附录 A  规格时序示例</a:t>
            </a:r>
          </a:p>
        </p:txBody>
      </p:sp>
      <p:sp>
        <p:nvSpPr>
          <p:cNvPr id="2" name="19">
            <a:extLst xmlns:a="http://schemas.openxmlformats.org/drawingml/2006/main">
              <a:ext uri="{FF2B5EF4-FFF2-40B4-BE49-F238E27FC236}">
                <a16:creationId xmlns:a16="http://schemas.microsoft.com/office/drawing/2014/main" id="{19E303B7-02B2-4013-9BBB-246DE7C6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77D0F-E3D2-4BE5-A679-6391957D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4" name="两模块正确 A 规格的正常操作片段">
            <a:extLst xmlns:a="http://schemas.openxmlformats.org/drawingml/2006/main">
              <a:ext uri="{FF2B5EF4-FFF2-40B4-BE49-F238E27FC236}">
                <a16:creationId xmlns:a16="http://schemas.microsoft.com/office/drawing/2014/main" id="{8E9A6522-267D-4CE1-B7A4-AF7B5965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两模块正确 A 规格的正常操作片段</a:t>
            </a:r>
          </a:p>
        </p:txBody>
      </p:sp>
      <p:sp>
        <p:nvSpPr>
          <p:cNvPr id="5" name="valid/data 流水线">
            <a:extLst xmlns:a="http://schemas.openxmlformats.org/drawingml/2006/main">
              <a:ext uri="{FF2B5EF4-FFF2-40B4-BE49-F238E27FC236}">
                <a16:creationId xmlns:a16="http://schemas.microsoft.com/office/drawing/2014/main" id="{A51312A4-A577-4509-ABE8-4FC3DB91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valid/data 流水线</a:t>
            </a:r>
          </a:p>
        </p:txBody>
      </p:sp>
      <p:sp>
        <p:nvSpPr>
          <p:cNvPr id="6" name="事件累计器">
            <a:extLst xmlns:a="http://schemas.openxmlformats.org/drawingml/2006/main">
              <a:ext uri="{FF2B5EF4-FFF2-40B4-BE49-F238E27FC236}">
                <a16:creationId xmlns:a16="http://schemas.microsoft.com/office/drawing/2014/main" id="{75CBBBFD-0ACE-4B06-9324-A15CA1EF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050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事件累计器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C9363-5ABA-48AB-8011-1D28DF8A6D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54d516f624592"/>
          <a:stretch xmlns:a="http://schemas.openxmlformats.org/drawingml/2006/main"/>
        </p:blipFill>
        <p:spPr>
          <a:xfrm xmlns:a="http://schemas.openxmlformats.org/drawingml/2006/main">
            <a:off x="612279" y="2686050"/>
            <a:ext cx="5233392" cy="28384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A5395-BC30-4405-B788-D3A3D3FCC0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9feb426d94a80"/>
          <a:stretch xmlns:a="http://schemas.openxmlformats.org/drawingml/2006/main"/>
        </p:blipFill>
        <p:spPr>
          <a:xfrm xmlns:a="http://schemas.openxmlformats.org/drawingml/2006/main">
            <a:off x="6324600" y="2902066"/>
            <a:ext cx="5238750" cy="2406418"/>
          </a:xfrm>
          <a:prstGeom xmlns:a="http://schemas.openxmlformats.org/drawingml/2006/main" prst="rect">
            <a:avLst/>
          </a:prstGeom>
        </p:spPr>
      </p:pic>
      <p:sp>
        <p:nvSpPr>
          <p:cNvPr id="9" name="E0 捕获、E1 输出，flush 优先">
            <a:extLst xmlns:a="http://schemas.openxmlformats.org/drawingml/2006/main">
              <a:ext uri="{FF2B5EF4-FFF2-40B4-BE49-F238E27FC236}">
                <a16:creationId xmlns:a16="http://schemas.microsoft.com/office/drawing/2014/main" id="{73830F21-093F-4C30-8834-5C4FF38C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E0 捕获、E1 输出，flush 优先</a:t>
            </a:r>
          </a:p>
        </p:txBody>
      </p:sp>
      <p:sp>
        <p:nvSpPr>
          <p:cNvPr id="10" name="clear 优先，4 bit 计数">
            <a:extLst xmlns:a="http://schemas.openxmlformats.org/drawingml/2006/main">
              <a:ext uri="{FF2B5EF4-FFF2-40B4-BE49-F238E27FC236}">
                <a16:creationId xmlns:a16="http://schemas.microsoft.com/office/drawing/2014/main" id="{6E9CDED2-F76A-4204-8EEF-318FE78C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62600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clear 优先，4 bit 计数</a:t>
            </a:r>
          </a:p>
        </p:txBody>
      </p:sp>
      <p:sp>
        <p:nvSpPr>
          <p:cNvPr id="11" name="已有规格渲染截图，非 VCD、非新增 DUT 验证，未展示场景不构成验证结论">
            <a:extLst xmlns:a="http://schemas.openxmlformats.org/drawingml/2006/main">
              <a:ext uri="{FF2B5EF4-FFF2-40B4-BE49-F238E27FC236}">
                <a16:creationId xmlns:a16="http://schemas.microsoft.com/office/drawing/2014/main" id="{5B30821B-77E0-4692-98CF-06792637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已有规格渲染截图，非 VCD、非新增 DUT 验证，未展示场景不构成验证结论</a:t>
            </a:r>
          </a:p>
        </p:txBody>
      </p:sp>
    </p:spTree>
    <p:extLst>
      <p:ext uri="{BB962C8B-B14F-4D97-AF65-F5344CB8AC3E}">
        <p14:creationId xmlns:p14="http://schemas.microsoft.com/office/powerpoint/2010/main" val="17352365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附录 B  实际浏览器界面">
            <a:extLst xmlns:a="http://schemas.openxmlformats.org/drawingml/2006/main">
              <a:ext uri="{FF2B5EF4-FFF2-40B4-BE49-F238E27FC236}">
                <a16:creationId xmlns:a16="http://schemas.microsoft.com/office/drawing/2014/main" id="{79017E74-8A31-4CF7-A01D-5A7C09C1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附录 B  实际浏览器界面</a:t>
            </a:r>
          </a:p>
        </p:txBody>
      </p:sp>
      <p:sp>
        <p:nvSpPr>
          <p:cNvPr id="2" name="20">
            <a:extLst xmlns:a="http://schemas.openxmlformats.org/drawingml/2006/main">
              <a:ext uri="{FF2B5EF4-FFF2-40B4-BE49-F238E27FC236}">
                <a16:creationId xmlns:a16="http://schemas.microsoft.com/office/drawing/2014/main" id="{E6D7D026-6D9E-4CB9-9610-6263F704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  <a:lvl1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1pPr>
            <a:lvl2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2pPr>
            <a:lvl3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3pPr>
            <a:lvl4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4pPr>
            <a:lvl5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5pPr>
            <a:lvl6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6pPr>
            <a:lvl7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7pPr>
            <a:lvl8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8pPr>
            <a:lvl9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A84CB-7625-46F1-B3A5-01699DD0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4" name="今天的界面观察与编译预检查">
            <a:extLst xmlns:a="http://schemas.openxmlformats.org/drawingml/2006/main">
              <a:ext uri="{FF2B5EF4-FFF2-40B4-BE49-F238E27FC236}">
                <a16:creationId xmlns:a16="http://schemas.microsoft.com/office/drawing/2014/main" id="{090C3936-6A16-4B15-81F9-41CB72EF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既有工作台界面的操作入口</a:t>
            </a:r>
          </a:p>
        </p:txBody>
      </p:sp>
      <p:sp>
        <p:nvSpPr>
          <p:cNvPr id="5" name="默认在线模型">
            <a:extLst xmlns:a="http://schemas.openxmlformats.org/drawingml/2006/main">
              <a:ext uri="{FF2B5EF4-FFF2-40B4-BE49-F238E27FC236}">
                <a16:creationId xmlns:a16="http://schemas.microsoft.com/office/drawing/2014/main" id="{3704DA94-4816-4442-99BA-FF6AB433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默认在线模型</a:t>
            </a:r>
          </a:p>
        </p:txBody>
      </p:sp>
      <p:sp>
        <p:nvSpPr>
          <p:cNvPr id="6" name="校验前计划生成禁用">
            <a:extLst xmlns:a="http://schemas.openxmlformats.org/drawingml/2006/main">
              <a:ext uri="{FF2B5EF4-FFF2-40B4-BE49-F238E27FC236}">
                <a16:creationId xmlns:a16="http://schemas.microsoft.com/office/drawing/2014/main" id="{633EACF1-7A93-4E84-9BF0-B0360E57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85975"/>
            <a:ext cx="546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校验前计划生成禁用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A1841-A865-4BCB-9A60-18955D7F4F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2322912ff4214"/>
          <a:srcRect xmlns:a="http://schemas.openxmlformats.org/drawingml/2006/main" l="3000" t="31000" r="47000" b="31000"/>
          <a:stretch xmlns:a="http://schemas.openxmlformats.org/drawingml/2006/main"/>
        </p:blipFill>
        <p:spPr>
          <a:xfrm xmlns:a="http://schemas.openxmlformats.org/drawingml/2006/main">
            <a:off x="609600" y="2619375"/>
            <a:ext cx="5048250" cy="19050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B2910-E54A-4FAC-9766-EA3DD75B51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87e271c7a4f23"/>
          <a:srcRect xmlns:a="http://schemas.openxmlformats.org/drawingml/2006/main" l="3700" t="78500" r="56500" b="3400"/>
          <a:stretch xmlns:a="http://schemas.openxmlformats.org/drawingml/2006/main"/>
        </p:blipFill>
        <p:spPr>
          <a:xfrm xmlns:a="http://schemas.openxmlformats.org/drawingml/2006/main">
            <a:off x="609600" y="4676775"/>
            <a:ext cx="5048250" cy="12382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D9CC4-AB3B-46A6-8787-0F9F544A0D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0110a513d4fc4"/>
          <a:srcRect xmlns:a="http://schemas.openxmlformats.org/drawingml/2006/main" l="47000" t="26000" r="2500" b="11500"/>
          <a:stretch xmlns:a="http://schemas.openxmlformats.org/drawingml/2006/main"/>
        </p:blipFill>
        <p:spPr>
          <a:xfrm xmlns:a="http://schemas.openxmlformats.org/drawingml/2006/main">
            <a:off x="6096000" y="2619375"/>
            <a:ext cx="5467350" cy="3295650"/>
          </a:xfrm>
          <a:prstGeom xmlns:a="http://schemas.openxmlformats.org/drawingml/2006/main" prst="rect">
            <a:avLst/>
          </a:prstGeom>
        </p:spPr>
      </p:pic>
      <p:sp>
        <p:nvSpPr>
          <p:cNvPr id="10" name="仅 UI 观察与 -tnull 预检，0 API，未生成计划或仿真，未确认真人复">
            <a:extLst xmlns:a="http://schemas.openxmlformats.org/drawingml/2006/main">
              <a:ext uri="{FF2B5EF4-FFF2-40B4-BE49-F238E27FC236}">
                <a16:creationId xmlns:a16="http://schemas.microsoft.com/office/drawing/2014/main" id="{27450714-3C35-4159-9AC6-DA3CFB99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  <a:lvl1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1pPr>
            <a:lvl2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2pPr>
            <a:lvl3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3pPr>
            <a:lvl4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4pPr>
            <a:lvl5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5pPr>
            <a:lvl6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6pPr>
            <a:lvl7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7pPr>
            <a:lvl8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8pPr>
            <a:lvl9pPr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截图来自既有界面记录。用户核心运行结果见第 14 页，截图本身不作为功能验证证据。</a:t>
            </a:r>
          </a:p>
        </p:txBody>
      </p:sp>
    </p:spTree>
    <p:extLst>
      <p:ext uri="{BB962C8B-B14F-4D97-AF65-F5344CB8AC3E}">
        <p14:creationId xmlns:p14="http://schemas.microsoft.com/office/powerpoint/2010/main" val="1932234055"/>
      </p:ext>
    </p:extLst>
  </p:cSld>
</p:sld>
</file>

<file path=ppt/theme/theme1.xml><?xml version="1.0" encoding="utf-8"?>
<a:theme xmlns:a="http://schemas.openxmlformats.org/drawingml/2006/main" name="ChatGPT">
  <a:themeElements>
    <a:clrScheme name="ICARUS industrial cyan">
      <a:dk1>
        <a:srgbClr val="182025"/>
      </a:dk1>
      <a:lt1>
        <a:srgbClr val="FFFFFF"/>
      </a:lt1>
      <a:dk2>
        <a:srgbClr val="1C2023"/>
      </a:dk2>
      <a:lt2>
        <a:srgbClr val="F5F7F8"/>
      </a:lt2>
      <a:accent1>
        <a:srgbClr val="00ABC8"/>
      </a:accent1>
      <a:accent2>
        <a:srgbClr val="75858D"/>
      </a:accent2>
      <a:accent3>
        <a:srgbClr val="53636B"/>
      </a:accent3>
      <a:accent4>
        <a:srgbClr val="DDE6E9"/>
      </a:accent4>
      <a:accent5>
        <a:srgbClr val="1C2023"/>
      </a:accent5>
      <a:accent6>
        <a:srgbClr val="8FA2AC"/>
      </a:accent6>
      <a:hlink>
        <a:srgbClr val="00ABC8"/>
      </a:hlink>
      <a:folHlink>
        <a:srgbClr val="00ABC8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ICARUS industrial cy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20</ap:Slides>
  <ap:Notes>20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ICARUS数字IP验证智能体 答辩材料</dc:title>
  <dcterms:created xsi:type="dcterms:W3CDTF">2026-10-20T16:06:18.9450000Z</dcterms:created>
  <dcterms:modified xsi:type="dcterms:W3CDTF">2026-10-20T16:06:18.9450000Z</dcterms:modified>
</coreProperties>
</file>