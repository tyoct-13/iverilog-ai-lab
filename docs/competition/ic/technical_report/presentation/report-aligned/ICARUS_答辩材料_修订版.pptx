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75858D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00" b="1">
                    <a:solidFill>
                      <a:srgbClr val="182025"/>
                    </a:solidFill>
                    <a:latin typeface="Noto Sans SC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满时写入缺陷</c:v>
                </c:pt>
                <c:pt idx="1">
                  <c:v>满标志缺陷</c:v>
                </c:pt>
                <c:pt idx="2">
                  <c:v>修复后基线</c:v>
                </c:pt>
                <c:pt idx="3">
                  <c:v>修复前基线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56</c:v>
                </c:pt>
                <c:pt idx="2">
                  <c:v>0</c:v>
                </c:pt>
                <c:pt idx="3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C4D-4A9D-9A4A-C80544579F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182025"/>
                </a:solidFill>
                <a:latin typeface="Noto Sans SC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b"/>
        <c:majorGridlines>
          <c:spPr>
            <a:ln w="7620">
              <a:solidFill>
                <a:srgbClr val="C9D3D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82025"/>
                </a:solidFill>
                <a:latin typeface="Noto Sans SC"/>
              </a:defRPr>
            </a:pPr>
            <a:endParaRPr lang="zh-CN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182025"/>
          </a:solidFill>
          <a:latin typeface="Noto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75858D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00AB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81D-4944-8B70-EA586CA0083F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00" b="1">
                    <a:solidFill>
                      <a:srgbClr val="182025"/>
                    </a:solidFill>
                    <a:latin typeface="Noto Sans SC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81D-4944-8B70-EA586CA008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182025"/>
                </a:solidFill>
                <a:latin typeface="Noto Sans SC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"/>
          <c:min val="0"/>
        </c:scaling>
        <c:delete val="0"/>
        <c:axPos val="b"/>
        <c:majorGridlines>
          <c:spPr>
            <a:ln w="7620">
              <a:solidFill>
                <a:srgbClr val="C9D3D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82025"/>
                </a:solidFill>
                <a:latin typeface="Noto Sans SC"/>
              </a:defRPr>
            </a:pPr>
            <a:endParaRPr lang="zh-CN"/>
          </a:p>
        </c:txPr>
        <c:crossAx val="-2068027336"/>
        <c:crosses val="autoZero"/>
        <c:crossBetween val="between"/>
        <c:majorUnit val="3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182025"/>
          </a:solidFill>
          <a:latin typeface="Noto Sans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rgbClr val="75858D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00AB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DA5-4EE6-BBD9-355A8E43F144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00" b="1">
                    <a:solidFill>
                      <a:srgbClr val="182025"/>
                    </a:solidFill>
                    <a:latin typeface="Noto Sans SC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37</c:v>
                </c:pt>
                <c:pt idx="2">
                  <c:v>29</c:v>
                </c:pt>
                <c:pt idx="3">
                  <c:v>48</c:v>
                </c:pt>
                <c:pt idx="4">
                  <c:v>32</c:v>
                </c:pt>
                <c:pt idx="5">
                  <c:v>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DA5-4EE6-BBD9-355A8E43F1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182025"/>
                </a:solidFill>
                <a:latin typeface="Noto Sans SC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"/>
          <c:min val="0"/>
        </c:scaling>
        <c:delete val="0"/>
        <c:axPos val="b"/>
        <c:majorGridlines>
          <c:spPr>
            <a:ln w="7620">
              <a:solidFill>
                <a:srgbClr val="C9D3D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82025"/>
                </a:solidFill>
                <a:latin typeface="Noto Sans SC"/>
              </a:defRPr>
            </a:pPr>
            <a:endParaRPr lang="zh-CN"/>
          </a:p>
        </c:txPr>
        <c:crossAx val="-2068027336"/>
        <c:crosses val="autoZero"/>
        <c:crossBetween val="between"/>
        <c:majorUnit val="12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182025"/>
          </a:solidFill>
          <a:latin typeface="Noto Sans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开场：ICARUS 做的是数字 IP 模块级 RTL 功能验证。一句话定位——大模型负责规划怎么测，本地 Icarus 仿真负责给出可核对的结论。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三个卡点：多拍状态靠人眼看不出来；没有独立判据时仿真跑完也无法判定；大模型直接写 Verilog 会踩位宽、相位、复位极性的坑。ICARUS 把这三件事分别用契约、独立判据、逐拍采样解掉。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架构分四段：契约 → 规划 → 本地执行 → 逐拍裁决。重点强调第二条：激励路径和判据路径物理隔离，模型改不了判据，这是整套系统可信的根基。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契约包含端口方向、位宽、时钟、复位、采样相位。编译预检用 Icarus 的 -tnull 只展开不仿真，能查出缺子模块、缺头文件、未定义宏。注意预检通过不等于功能通过。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三条上下文一起注入：功能规范定状态转移，接口契约定合法取值范围，验证目标定优先级。输出是 JSON，不是 Verilog 文本，所以能在进仿真前被两层校验拦下来。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这张表就是真值表。E0 捕获、E1 输出，两级流水不是等两个空拍。E4 沿 flush 拉高，当拍同时到达的有效数据 7E 直接丢弃。逐拍采样让这类优先级错误无处可藏。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早期 RTL 和运行时参考模型在同拍读写分支犯了同一个计数覆盖错误，两边比对是 0 差异。引入 Python deque 独立队列后，同一组 76 周期激励立刻暴露 66 项差异，修复后归零，两类人为注入的满/空边界缺陷仍被检出 56 和 46 项——说明判据没有被放松。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 的动作空间只有两个：追加向量、停止。端口反馈是脱敏的确定性摘要，最多 12 个采样点。两条执行模式保证每轮都有明确初始状态。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只用环回还原字节是不够的：接收机容差会放过 1 拍位宽偏差，宽松超时也查不出 busy 不释放。补上位窗口与完成期限断言后，同一组 24 份冻结输入重放，检出从 13/15 到 15/15，正确基线与等价改写 773 项检查零误报。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实验设计是横向对照：固定测试、均匀随机、协议随机、单次 API、反馈 Agent、无反馈 Agent。六种策略在完全相同的登记集合和预算下跑，两组各 3 次重复。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这张图是本项目的核心结果。反馈 Agent 11/12 等于 91.7%，比单次开环规划高 25 个百分点。更关键的是拆解：6 项首轮就中，5 项是第二轮读了端口摘要后补测才中，说明反馈真的在起作用。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工程上要说清代价：多轮意味着 38 次请求、166k tokens，约为单次规划的 2.7 倍；相对单次规划多检出 3 项，其中 5 项是二轮补测才拿到的。格式一次通过率 97.7%，被拒绝的提案不产生仿真，账目干净。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更大规模上结论一致但更收敛：反馈 Agent 37/48 比单次规划高 16.7 个百分点，但没超过针对协议深度定制的随机基线。这说明 AI 规划的定位是快速组织初始激励与探索补测，强领域先验仍有价值——这正好是下一步引入从机响应模型的方向。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这是真实异机记录。头两份导出包在编译阶段就被正确阻断——缺底层子模块。补全后第 5 包跑通：15 组向量、22 周期、42 项比对零不一致，报告和 VCD 都导出。这一轮实测直接推动了多文件联合预检的加固。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四个结合点回答「AI 到底接在哪」。不是让模型写 Verilog，而是让它做规划和补测决策，然后用契约、预算、证据链三把锁把它的输出约束成工程上可信的执行。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工作台是完整闭环：上传源码 → 契约确认 → 生成计划 → 跑仿真 → 看逐拍差异 → 导出证据包。右侧三点是答辩最容易被问到的：契约何时锁定、差异怎么定位、证据在哪里。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规划三条：一是补从机响应模型，解决现在只能生成主机侧单向输入；二是引入外部开源 IP 与真实演化缺陷，做等量投入的消融；三是洁净异机盲测加人工编写对照计时，把提效量化出来。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附录放规格时序图，配合第 6 页真值表看：E0/E1 两拍对齐、flush 同拍优先；右侧计数器在 enable 与 event 同拍时逐拍累加，clear 优先级最高。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界面演示两件事：在线模型入口和契约校验的强制顺序——没校验接口，生成与运行按钮是禁用的。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收尾四个数字：91.7% 检出、66 到 0 的判据修复、15/15 的 UART 时序、540 项任务的对照规模。一句话总结：把模型的规划能力锚定在契约和证据上。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EE7854F-056F-49F9-A3CF-D1F79357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A7E33CA-83DA-4BDF-9B8E-19531395B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2D4ABD-B352-4C02-8956-6049204D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9D69E2D-FC70-44C0-A4E9-6102EEF1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03598BB-815D-4504-B474-8AD5BE817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CD92AA9-6B10-479D-92A2-ED7210DD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82705F2-1614-4CE2-9AF2-35CC06720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1044656-DF6F-4C76-B4A2-5A86482AEF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D71509-791C-4991-B0DF-A1C7C611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0BACF08-8A95-41D6-B5E2-02501245D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847725"/>
            <a:ext cx="10668000" cy="1428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600" b="1" i="0" spc="2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ICARUS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2600325"/>
            <a:ext cx="10287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数字 IP 的 RTL 功能验证智能体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3580000"/>
            <a:ext cx="1057275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9FB0B8"/>
                </a:solidFill>
                <a:latin typeface="Noto Sans SC"/>
                <a:ea typeface="Noto Sans SC"/>
                <a:cs typeface="Noto Sans SC"/>
              </a:rPr>
              <a:t>在线大模型规划 × 本地确定性仿真闭环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7700" y="4550000"/>
            <a:ext cx="9144000" cy="0"/>
          </a:xfrm>
          <a:prstGeom prst="line">
            <a:avLst/>
          </a:prstGeom>
          <a:ln w="20320">
            <a:solidFill>
              <a:srgbClr val="00A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7700" y="4953000"/>
            <a:ext cx="95250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AI＋集成电路　｜　第八届全球校园人工智能算法精英大赛 · 算法主题赛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5560000"/>
            <a:ext cx="97155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FB0B8"/>
                </a:solidFill>
                <a:latin typeface="Bahnschrift"/>
                <a:ea typeface="Bahnschrift"/>
                <a:cs typeface="Bahnschrift"/>
              </a:rPr>
              <a:t>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三个卡点，让 RTL 验证停在最后一公里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1450000"/>
            <a:ext cx="10972800" cy="39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60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人工写激励慢，单次让大模型写又对不上硬件语义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207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01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多拍状态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只采样向量末拍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段内瞬态被覆盖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5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055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10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10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判据不独立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0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没有独立期望值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跑通不等于通过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0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10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15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5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语义失配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15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位宽与采样相位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生成代码难执行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14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1450" y="2450000"/>
            <a:ext cx="2460450" cy="1700000"/>
          </a:xfrm>
          <a:prstGeom prst="rect">
            <a:avLst/>
          </a:prstGeom>
          <a:solidFill>
            <a:srgbClr val="E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19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19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ICARUS 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19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契约＋结构化计划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逐拍比对闭环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56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从「读规范、手写 Testbench、肉眼看波形」升级为「契约确认 → AI 规划 → 逐拍比对 → 反例定位」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适用对象：模块级数字 IP，覆盖状态转换、控制优先级与握手时序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五模块串成闭环，结论由本地仿真裁决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1450000"/>
            <a:ext cx="10972800" cy="39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60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云地协同：在线规划与确定性执行分离部署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207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01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输入与契约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RTL 与设计规范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契约人工确认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5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055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10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10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在线规划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0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DeepSeek 生成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结构化测试计划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0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10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15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5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本地执行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15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自动生成测试台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Icarus 编译与仿真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14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1450" y="2450000"/>
            <a:ext cx="2460450" cy="1700000"/>
          </a:xfrm>
          <a:prstGeom prst="rect">
            <a:avLst/>
          </a:prstGeom>
          <a:solidFill>
            <a:srgbClr val="E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19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19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逐拍裁决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19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参考模型比对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证据链全量归档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56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双路径物理隔离：大模型只决定「施加什么激励」，不参与「输出是否符合规范」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终端只需 Python、IcarusVerilog 与 API Key，无需本地 GPU 推理算力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先对齐硬件语义，再让模型发言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接口契约与多文件编译展开预检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980000"/>
          <a:ext cx="10972800" cy="257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环节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实现方式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接口契约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端口方向、参数化位宽、时钟周期、复位极性、采样相位统一建模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契约确认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静态提取后由用户确认；任一改动即刻失效并重新校验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编译预检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-tnull -g2012 指定顶层展开，校验语法错误与子模块实例化依赖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多文件与头文件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按实际上传文件集合联合编译，头文件自动挂载至编译器搜索路径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未定义宏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即使编译器退出码为 0，预检主动拦截并保留原始诊断日志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" y="473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参数化位宽求值通过后才进入 AI 规划；JSON 省略的输入字段沿用上一拍取值，不会被解释为归零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预检只校验语法与结构完整性，功能结论一律来自实际仿真。</a:t>
            </a:r>
          </a:p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异机实测暴露的子模块缺失问题，正由这套预检在多文件集合上拦截。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三元上下文注入，产出可校验的 JSON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1450000"/>
            <a:ext cx="10972800" cy="39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60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三元提示工程与结构化测试计划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207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01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功能规范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状态转移规则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控制优先级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5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055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10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10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接口契约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0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合法驱动信号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位宽边界约束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0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10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15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5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验证目标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15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锚定功能点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覆盖边界场景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14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1450" y="2450000"/>
            <a:ext cx="2460450" cy="1700000"/>
          </a:xfrm>
          <a:prstGeom prst="rect">
            <a:avLst/>
          </a:prstGeom>
          <a:solidFill>
            <a:srgbClr val="E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19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19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JSON 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19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向量、周期数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采样相位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56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双层校验：JSONSchema 语法校验 → 契约权限核查（写输出端口、虚构信号、位宽越界一律拦截）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提示词的字段要求与本地校验规则同源，模型输出一次成型即可执行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采样相位对齐非阻塞赋值：N 拍输入必有 N 拍比对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逐拍采样：有效时钟沿后（after）相位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960000"/>
          <a:ext cx="10972798" cy="296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9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3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时钟沿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i_flush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i_valid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i_data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o_valid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o_data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34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A5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34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3C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A5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34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E2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3C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34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E3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34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E4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7E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34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E5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00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" y="5076404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o_valid / o_data 为有效沿后（after）相位的采样值。E0 沿捕获 A5，E1 沿呈现为 o_data；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E4 沿 flush 与新增有效输入同拍，输出同拍清零且当拍数据被丢弃。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只在向量末尾采样一次，段内出现又被覆盖的瞬态错误会被整体漏检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独立抽象队列做判据，同拍读写不再自证自洽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同步 FIFO：76 周期激励、228 项逐拍比较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9600" y="1900000"/>
          <a:ext cx="7620000" cy="29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29650" y="2180000"/>
            <a:ext cx="2900000" cy="5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66 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9650" y="2873000"/>
            <a:ext cx="29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差异项归零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76 周期 / 228 项比较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9650" y="4050000"/>
            <a:ext cx="29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缺陷变体继续检出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56 项 / 46 项差异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00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count_next = count + write_accept − read_accept，读写接受条件只由边沿前的队列状态决定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判据从设计规范独立推导，不复刻 RTL 的指针与寄存器赋值路径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从「一次生成」到「规划—仿真—观察—补测」闭环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1450000"/>
            <a:ext cx="10972800" cy="39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60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反馈补测 Agent 的每轮决策输入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207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01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已执行计划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历史向量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剩余额度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5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055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10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10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真实端口摘要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0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确定性采样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保留 X / Z 标记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0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1000" y="2450000"/>
            <a:ext cx="2460450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150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50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缺口与预算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150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未覆盖场景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拒绝原因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1450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1450" y="2450000"/>
            <a:ext cx="2460450" cy="1700000"/>
          </a:xfrm>
          <a:prstGeom prst="rect">
            <a:avLst/>
          </a:prstGeom>
          <a:solidFill>
            <a:srgbClr val="E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1950" y="2600000"/>
            <a:ext cx="207945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1950" y="2940000"/>
            <a:ext cx="207945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追加或停止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1950" y="3330000"/>
            <a:ext cx="2079450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append_vectors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stop 两类动作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56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Agent 只能追加激励：禁止写入 expected 字段、禁止修改参考模型与场景统计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独立运行与累计重放两种模式，每轮都从复位重新起仿真，不继承上一轮残留状态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从「字节还原」到「逐拍位窗口」：13/15 → 15/15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UART 发送器：端口级逐周期位时长与完成期限检查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uart_sp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20000"/>
            <a:ext cx="7140000" cy="249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0000" y="2150000"/>
            <a:ext cx="3200000" cy="6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15/15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0000" y="2942000"/>
            <a:ext cx="32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人工注入缺陷全部检出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13/15 → 15/15（+13.3 个百分点）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0000" y="3760000"/>
            <a:ext cx="32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773 项检查 0 误报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正确基线与等价改写均通过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83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起始位与 8 个数据位各保持 8×prescale 拍，busy 在 8×prescale＋1 释放；下降沿驱动、上升沿后采样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环回接收端有采样容差，会放过位宽缩短与忙信号粘滞两类缺陷，逐拍判据把它们全部锁死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六策略同台对照，108 项任务统一登记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两类全新模块上的受控基准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020000"/>
          <a:ext cx="10972800" cy="13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规格要点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目标与重复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valid_data_pipeline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两级对齐、flush 同拍清零优先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event_accumulator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 16 回绕、clear 优先于计数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3590000"/>
            <a:ext cx="109728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2 模块 × 3 实现 × 3 重复 × 6 策略 = </a:t>
            </a:r>
            <a:r>
              <a:rPr sz="26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108 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29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7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每策略 12 个重复缺陷任务（4 种缺陷机理各 3 次）＋ 6 个正确控制任务（测误报）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全部任务共享 24 拍业务激励上限、单次提案≤12 段；候选侧与正确侧施加完全相同的激励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Agent 检出率 91.7%，提升 25.0 个百分点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六策略在 12 个重复缺陷任务上的检出数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9600" y="1900000"/>
          <a:ext cx="7953375" cy="29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000000" y="2080000"/>
            <a:ext cx="2580000" cy="6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6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91.7%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0" y="2839000"/>
            <a:ext cx="258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Agent 11/12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单次规划 8/12（66.7%）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3720000"/>
            <a:ext cx="258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36/36　0 误报</a:t>
            </a:r>
          </a:p>
          <a:p>
            <a:pPr algn="l">
              <a:spcBef>
                <a:spcPts val="400"/>
              </a:spcBef>
            </a:pPr>
            <a:r>
              <a:rPr sz="14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全部正确控制任务完成仿真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00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11 项检出中，6 项首轮直接命中，5 项由第二轮补测定向追加后检出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多轮反馈真正覆盖了开环规划触不到的深层状态与控制优先级组合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多一轮的代价是 38 次请求，二轮补测又检出 5 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1450000"/>
            <a:ext cx="10972800" cy="39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60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同一批 108 任务的实际资源与格式健壮性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207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0100" y="2420000"/>
            <a:ext cx="3363933" cy="176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570000"/>
            <a:ext cx="2982933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检出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10000"/>
            <a:ext cx="2982933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+3 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00000"/>
            <a:ext cx="2982933" cy="9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单次规划 8/12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反馈 Agent 11/12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4033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4033" y="2420000"/>
            <a:ext cx="3363933" cy="176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4533" y="2570000"/>
            <a:ext cx="2982933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4533" y="2910000"/>
            <a:ext cx="2982933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38 次请求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4533" y="3300000"/>
            <a:ext cx="2982933" cy="9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300 拍激励周期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166,073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7966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7966" y="2420000"/>
            <a:ext cx="3363933" cy="1760000"/>
          </a:xfrm>
          <a:prstGeom prst="rect">
            <a:avLst/>
          </a:prstGeom>
          <a:solidFill>
            <a:srgbClr val="E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466" y="2570000"/>
            <a:ext cx="2982933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健壮性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8466" y="2910000"/>
            <a:ext cx="2982933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97.7%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8466" y="3300000"/>
            <a:ext cx="2982933" cy="9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85/87 一次通过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拒绝不进入仿真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50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全部 87 次请求、339,624 tokens 全量入账；格式拒绝与预算拒绝分类归档，均不触发仿真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错误重试与补测共用同一请求上限，额度只减不增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432 任务扩展：模块越复杂，协议先验越关键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八模块扩展批次，六策略检出数（分母 48）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9600" y="1900000"/>
          <a:ext cx="7953375" cy="29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000000" y="2080000"/>
            <a:ext cx="2580000" cy="6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37/48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0" y="2806000"/>
            <a:ext cx="258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Agent 77.1%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单次规划 29/48（60.4%）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0" y="3720000"/>
            <a:ext cx="258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+16.7</a:t>
            </a:r>
          </a:p>
          <a:p>
            <a:pPr algn="l">
              <a:spcBef>
                <a:spcPts val="200"/>
              </a:spcBef>
            </a:pPr>
            <a:r>
              <a:rPr sz="14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相对单次 API 规划（百分点）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00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414 项任务进入 DUT 仿真、18 项未执行；全部缺陷任务仍按 48 作分母统计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深度定制的协议随机基线（48/48）说明领域先验在多协议模块上依然是最强基线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异机导入自定义 OneWire 源码：42 项比对全部一致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真实用户在多文件 RTL 上的端到端运行记录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000000"/>
          <a:ext cx="10972800" cy="17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运行包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执行阶段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实际比较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首次两份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编译阶段阻断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 项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缺底层子模块文件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 4 包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编译与仿真完成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30 项，7 项不一致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检出功能差异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 5 包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编译与仿真完成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42 项，0 项不一致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全部一致通过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" y="395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70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第 5 包完成 15 组测试向量、22 个激励周期，验证报告与 VCD 波形一并导出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30000"/>
            <a:ext cx="10972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据此完成三项产品加固：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① 按实际文件集合联合编译　② 头文件自动挂载搜索路径　③ 未定义宏主动拦截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失败记录与成功记录分阶段独立归档，历史证据不被覆盖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四个结合点，把模型建议变成可核对证据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AI＋集成电路的工程落点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980000"/>
          <a:ext cx="10972800" cy="214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结合点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已实现的机制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 i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解决的问题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公开规格与独立判据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接口契约、逐拍参考模型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无效输入与同源实现错误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有界模型动作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严格 Schema、共享请求预算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失败重试造成无界消耗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可核对执行记录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原文、账本、manifest 绑定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结果可复核、可确定性重放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000"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真实操作反馈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依赖预查、入口与状态提示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异机环境与下一步不明确</a:t>
                      </a:r>
                    </a:p>
                  </a:txBody>
                  <a:tcPr marL="160020" marR="160020" marT="64000" marB="64000">
                    <a:lnL w="9525" cap="flat" cmpd="sng" algn="ctr">
                      <a:solidFill>
                        <a:srgbClr val="C9D3D8"/>
                      </a:solidFill>
                      <a:prstDash val="soli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410000"/>
            <a:ext cx="109728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贡献集中在「从模型建议到执行证据」这一段链路的工程化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每一层都留有可复查的原件：契约、计划、Testbench、编译日志、仿真输出、SHA256 清单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工作台落地：导入即预检，一键出报告与波形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Web 图形化工作台与 CLI 共用同一套验证引擎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ui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00000"/>
            <a:ext cx="5600000" cy="3150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559600" y="2140000"/>
            <a:ext cx="190500" cy="0"/>
          </a:xfrm>
          <a:prstGeom prst="line">
            <a:avLst/>
          </a:prstGeom>
          <a:ln w="27940">
            <a:solidFill>
              <a:srgbClr val="00A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79600" y="2060000"/>
            <a:ext cx="460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接口契约确认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9600" y="2460000"/>
            <a:ext cx="46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方向、位宽、时钟复位逐项核对后才解锁计划生成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9600" y="3200000"/>
            <a:ext cx="190500" cy="0"/>
          </a:xfrm>
          <a:prstGeom prst="line">
            <a:avLst/>
          </a:prstGeom>
          <a:ln w="27940">
            <a:solidFill>
              <a:srgbClr val="00A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79600" y="3120000"/>
            <a:ext cx="460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逐拍比对视图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9600" y="3520000"/>
            <a:ext cx="46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每轮迭代的测试向量、比较总数与首次差异定位到周期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59600" y="4260000"/>
            <a:ext cx="190500" cy="0"/>
          </a:xfrm>
          <a:prstGeom prst="line">
            <a:avLst/>
          </a:prstGeom>
          <a:ln w="27940">
            <a:solidFill>
              <a:srgbClr val="00A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79600" y="4180000"/>
            <a:ext cx="460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证据与波形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600" y="4580000"/>
            <a:ext cx="46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报告、日志、VCD、SHA256 清单随运行包一键导出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536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教学侧：逐拍真值表与 Agent 推理轨迹，把非阻塞赋值采样、复位优先级讲成看得见的因果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同一份数据对象在 Web 与 CLI 双入口 100% 复用，切换入口无需重定义测试格式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下一步：从机环境、外部基准与工时量化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1450000"/>
            <a:ext cx="10972800" cy="39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60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三阶段演进规划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0100" y="207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0100" y="2450000"/>
            <a:ext cx="3363933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600000"/>
            <a:ext cx="2982933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40000"/>
            <a:ext cx="2982933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协议环境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30000"/>
            <a:ext cx="2982933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OneWire / I2C / SPI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从机响应与多相位采样窗口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4033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4033" y="2450000"/>
            <a:ext cx="3363933" cy="170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4533" y="2600000"/>
            <a:ext cx="2982933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4533" y="2940000"/>
            <a:ext cx="2982933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基准扩展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4533" y="3330000"/>
            <a:ext cx="2982933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外部开源 IP 模块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与真实演化缺陷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7966" y="3120000"/>
            <a:ext cx="25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7966" y="2450000"/>
            <a:ext cx="3363933" cy="1700000"/>
          </a:xfrm>
          <a:prstGeom prst="rect">
            <a:avLst/>
          </a:prstGeom>
          <a:solidFill>
            <a:srgbClr val="E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466" y="2600000"/>
            <a:ext cx="2982933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8466" y="2940000"/>
            <a:ext cx="2982933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效果评估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8466" y="3330000"/>
            <a:ext cx="2982933" cy="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洁净异机盲测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人工编写 vs 工具对照计时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400000"/>
            <a:ext cx="105918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50" b="0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当前定位：模块级 RTL 功能验证，覆盖状态转换、控制优先级与握手时序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已在 108 项受控任务与 432 项扩展任务上完成对照，下一步走向工业级基准集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附录 A　规格时序示例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两个被测模块正确规格的正常操作片段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2080000"/>
            <a:ext cx="52864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valid_data_pipeline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6000" y="2080000"/>
            <a:ext cx="52864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event_accumulator</a:t>
            </a:r>
          </a:p>
        </p:txBody>
      </p:sp>
      <p:pic>
        <p:nvPicPr>
          <p:cNvPr id="9" name="Picture 8" descr="pipeline_spe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37" y="2580000"/>
            <a:ext cx="4388125" cy="2380000"/>
          </a:xfrm>
          <a:prstGeom prst="rect">
            <a:avLst/>
          </a:prstGeom>
        </p:spPr>
      </p:pic>
      <p:pic>
        <p:nvPicPr>
          <p:cNvPr id="10" name="Picture 9" descr="accum_spe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81" y="2580000"/>
            <a:ext cx="5181239" cy="23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080000"/>
            <a:ext cx="52864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E0 捕获、E1 输出，flush 同拍清零且优先级最高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6000" y="5080000"/>
            <a:ext cx="52864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clear 优先，4 bit 计数模 16 回绕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图为依据设计规范用 WaveDrom 渲染的标准时序，与逐拍采样真值表一一对应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附录 B　工作台操作入口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100" y="1450000"/>
            <a:ext cx="105918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在线模型选择与契约校验前后的入口状态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1920000"/>
            <a:ext cx="10591800" cy="0"/>
          </a:xfrm>
          <a:prstGeom prst="line">
            <a:avLst/>
          </a:prstGeom>
          <a:ln w="9525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ui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40000"/>
            <a:ext cx="5013333" cy="2820000"/>
          </a:xfrm>
          <a:prstGeom prst="rect">
            <a:avLst/>
          </a:prstGeom>
        </p:spPr>
      </p:pic>
      <p:pic>
        <p:nvPicPr>
          <p:cNvPr id="8" name="Picture 7" descr="ui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600" y="2040000"/>
            <a:ext cx="5013333" cy="28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960000"/>
            <a:ext cx="525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步骤一：选择在线模型，进入 API 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9600" y="4960000"/>
            <a:ext cx="525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契约未校验时，计划生成与运行入口置灰锁定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7695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截图取自工作台实际运行界面：上传 valid_data_pipeline.v 后先校验接口再生成计划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9100"/>
            <a:ext cx="10192800" cy="638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7575" y="447675"/>
            <a:ext cx="5715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209675"/>
            <a:ext cx="10972800" cy="0"/>
          </a:xfrm>
          <a:prstGeom prst="line">
            <a:avLst/>
          </a:prstGeom>
          <a:ln w="11430">
            <a:solidFill>
              <a:srgbClr val="C9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600" y="1295000"/>
            <a:ext cx="10972800" cy="0"/>
          </a:xfrm>
          <a:prstGeom prst="line">
            <a:avLst/>
          </a:prstGeom>
          <a:ln w="11430">
            <a:solidFill>
              <a:srgbClr val="374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600" y="1550000"/>
            <a:ext cx="49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91.7%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5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108 项受控基准上反馈 Agent 检出率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7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FB0B8"/>
                </a:solidFill>
                <a:latin typeface="Noto Sans SC"/>
                <a:ea typeface="Noto Sans SC"/>
                <a:cs typeface="Noto Sans SC"/>
              </a:rPr>
              <a:t>较单次规划 +25.0 个百分点，36 项正确任务 0 误报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9600" y="1550000"/>
            <a:ext cx="49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66 →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9600" y="225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同步 FIFO 差异项归零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9600" y="267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FB0B8"/>
                </a:solidFill>
                <a:latin typeface="Noto Sans SC"/>
                <a:ea typeface="Noto Sans SC"/>
                <a:cs typeface="Noto Sans SC"/>
              </a:rPr>
              <a:t>76 周期 / 228 项逐拍比较，判据独立于 RTL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50000"/>
            <a:ext cx="49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15/15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5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UART 缺陷检出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FB0B8"/>
                </a:solidFill>
                <a:latin typeface="Noto Sans SC"/>
                <a:ea typeface="Noto Sans SC"/>
                <a:cs typeface="Noto Sans SC"/>
              </a:rPr>
              <a:t>773 项逐拍检查 0 误报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9600" y="3450000"/>
            <a:ext cx="49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 i="0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540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9600" y="415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项登记任务完成对照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9600" y="4570000"/>
            <a:ext cx="4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FB0B8"/>
                </a:solidFill>
                <a:latin typeface="Noto Sans SC"/>
                <a:ea typeface="Noto Sans SC"/>
                <a:cs typeface="Noto Sans SC"/>
              </a:rPr>
              <a:t>108 项完整对照 + 432 项扩展批次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500000"/>
            <a:ext cx="109728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ICARUS：把大模型的规划能力，锚定在可执行的接口契约与可复查的仿真证据上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050000"/>
            <a:ext cx="109728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9FB0B8"/>
                </a:solidFill>
                <a:latin typeface="Noto Sans SC"/>
                <a:ea typeface="Noto Sans SC"/>
                <a:cs typeface="Noto Sans SC"/>
              </a:rPr>
              <a:t>谢谢各位评委，欢迎提问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1434</Words>
  <Application>Microsoft Office PowerPoint</Application>
  <DocSecurity>0</DocSecurity>
  <PresentationFormat>宽屏</PresentationFormat>
  <Paragraphs>364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Noto Sans SC</vt:lpstr>
      <vt:lpstr>Aptos</vt:lpstr>
      <vt:lpstr>Bahnschrift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ICARUS数字IP验证智能体 答辩材料</dc:title>
  <dc:creator/>
  <cp:lastModifiedBy/>
  <cp:revision>1</cp:revision>
  <dcterms:created xsi:type="dcterms:W3CDTF">2026-10-20T16:06:18Z</dcterms:created>
  <dcterms:modified xsi:type="dcterms:W3CDTF">2026-10-27T15:37:22Z</dcterms:modified>
  <dc:subject/>
  <cp:keywords/>
  <dc:description/>
</cp:coreProperties>
</file>