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d2c8ee90fb470a" /><Relationship Type="http://schemas.openxmlformats.org/officeDocument/2006/relationships/extended-properties" Target="/docProps/app.xml" Id="R79a1f42c9d3c4035" /><Relationship Type="http://schemas.openxmlformats.org/officeDocument/2006/relationships/officeDocument" Target="/ppt/presentation.xml" Id="Re7c4a2b8700b4a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5aa7e2fe3a4ee5"/>
  </p:sldMasterIdLst>
  <p:notesMasterIdLst>
    <p:notesMasterId xmlns:r="http://schemas.openxmlformats.org/officeDocument/2006/relationships" r:id="R72a76f13da4a4c85"/>
  </p:notesMasterIdLst>
  <p:sldIdLst>
    <p:sldId xmlns:r="http://schemas.openxmlformats.org/officeDocument/2006/relationships" id="256" r:id="R623ad6a87a5944f8"/>
    <p:sldId xmlns:r="http://schemas.openxmlformats.org/officeDocument/2006/relationships" id="257" r:id="R7fe08a8149e848c7"/>
    <p:sldId xmlns:r="http://schemas.openxmlformats.org/officeDocument/2006/relationships" id="258" r:id="Rfa362f431c894291"/>
    <p:sldId xmlns:r="http://schemas.openxmlformats.org/officeDocument/2006/relationships" id="259" r:id="R945d43c9869e40e4"/>
    <p:sldId xmlns:r="http://schemas.openxmlformats.org/officeDocument/2006/relationships" id="260" r:id="R5a3ead19bff244aa"/>
    <p:sldId xmlns:r="http://schemas.openxmlformats.org/officeDocument/2006/relationships" id="261" r:id="R01309c2ca71d4c3f"/>
    <p:sldId xmlns:r="http://schemas.openxmlformats.org/officeDocument/2006/relationships" id="262" r:id="Rb29d5f661e9e4d18"/>
    <p:sldId xmlns:r="http://schemas.openxmlformats.org/officeDocument/2006/relationships" id="263" r:id="R26aaf231f385419e"/>
    <p:sldId xmlns:r="http://schemas.openxmlformats.org/officeDocument/2006/relationships" id="264" r:id="R7f5ec424ba1441f1"/>
    <p:sldId xmlns:r="http://schemas.openxmlformats.org/officeDocument/2006/relationships" id="265" r:id="Rf4a7b2d5d0234ded"/>
    <p:sldId xmlns:r="http://schemas.openxmlformats.org/officeDocument/2006/relationships" id="266" r:id="Rbbc477f5107c4b43"/>
    <p:sldId xmlns:r="http://schemas.openxmlformats.org/officeDocument/2006/relationships" id="267" r:id="R692043b3e1ab49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c6747099d341f5" /><Relationship Type="http://schemas.openxmlformats.org/officeDocument/2006/relationships/slideMaster" Target="/ppt/slideMasters/slideMaster1.xml" Id="Rd35aa7e2fe3a4ee5" /><Relationship Type="http://schemas.openxmlformats.org/officeDocument/2006/relationships/notesMaster" Target="/ppt/notesMasters/notesMaster1.xml" Id="R72a76f13da4a4c85" /><Relationship Type="http://schemas.openxmlformats.org/officeDocument/2006/relationships/presProps" Target="/ppt/presProps.xml" Id="R100b1e0be814439e" /><Relationship Type="http://schemas.openxmlformats.org/officeDocument/2006/relationships/tableStyles" Target="/ppt/tableStyles.xml" Id="Rd329681de6aa40b4" /><Relationship Type="http://schemas.openxmlformats.org/officeDocument/2006/relationships/slide" Target="/ppt/slides/slide1.xml" Id="R623ad6a87a5944f8" /><Relationship Type="http://schemas.openxmlformats.org/officeDocument/2006/relationships/slide" Target="/ppt/slides/slide2.xml" Id="R7fe08a8149e848c7" /><Relationship Type="http://schemas.openxmlformats.org/officeDocument/2006/relationships/slide" Target="/ppt/slides/slide3.xml" Id="Rfa362f431c894291" /><Relationship Type="http://schemas.openxmlformats.org/officeDocument/2006/relationships/slide" Target="/ppt/slides/slide4.xml" Id="R945d43c9869e40e4" /><Relationship Type="http://schemas.openxmlformats.org/officeDocument/2006/relationships/slide" Target="/ppt/slides/slide5.xml" Id="R5a3ead19bff244aa" /><Relationship Type="http://schemas.openxmlformats.org/officeDocument/2006/relationships/slide" Target="/ppt/slides/slide6.xml" Id="R01309c2ca71d4c3f" /><Relationship Type="http://schemas.openxmlformats.org/officeDocument/2006/relationships/slide" Target="/ppt/slides/slide7.xml" Id="Rb29d5f661e9e4d18" /><Relationship Type="http://schemas.openxmlformats.org/officeDocument/2006/relationships/slide" Target="/ppt/slides/slide8.xml" Id="R26aaf231f385419e" /><Relationship Type="http://schemas.openxmlformats.org/officeDocument/2006/relationships/slide" Target="/ppt/slides/slide9.xml" Id="R7f5ec424ba1441f1" /><Relationship Type="http://schemas.openxmlformats.org/officeDocument/2006/relationships/slide" Target="/ppt/slides/slide10.xml" Id="Rf4a7b2d5d0234ded" /><Relationship Type="http://schemas.openxmlformats.org/officeDocument/2006/relationships/slide" Target="/ppt/slides/slide11.xml" Id="Rbbc477f5107c4b43" /><Relationship Type="http://schemas.openxmlformats.org/officeDocument/2006/relationships/slide" Target="/ppt/slides/slide12.xml" Id="R692043b3e1ab49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c566d8850147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CARUS charcoal">
      <a:dk1>
        <a:srgbClr val="111416"/>
      </a:dk1>
      <a:lt1>
        <a:srgbClr val="F1F2F2"/>
      </a:lt1>
      <a:dk2>
        <a:srgbClr val="1C2023"/>
      </a:dk2>
      <a:lt2>
        <a:srgbClr val="CCD2D5"/>
      </a:lt2>
      <a:accent1>
        <a:srgbClr val="00C8E8"/>
      </a:accent1>
      <a:accent2>
        <a:srgbClr val="727C82"/>
      </a:accent2>
      <a:accent3>
        <a:srgbClr val="B1B8BB"/>
      </a:accent3>
      <a:accent4>
        <a:srgbClr val="CED2D4"/>
      </a:accent4>
      <a:accent5>
        <a:srgbClr val="32383C"/>
      </a:accent5>
      <a:accent6>
        <a:srgbClr val="7A8286"/>
      </a:accent6>
      <a:hlink>
        <a:srgbClr val="00C8E8"/>
      </a:hlink>
      <a:folHlink>
        <a:srgbClr val="00C8E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CARUS charco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64475174a44a04" /><Relationship Type="http://schemas.openxmlformats.org/officeDocument/2006/relationships/notesMaster" Target="/ppt/notesMasters/notesMaster1.xml" Id="R0757fa4fbd7b4c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7c3c8ea3414db3" /><Relationship Type="http://schemas.openxmlformats.org/officeDocument/2006/relationships/notesMaster" Target="/ppt/notesMasters/notesMaster1.xml" Id="Reb72afeb66a247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ded53abe924018" /><Relationship Type="http://schemas.openxmlformats.org/officeDocument/2006/relationships/notesMaster" Target="/ppt/notesMasters/notesMaster1.xml" Id="R9f41562648bf46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35801db3b8418b" /><Relationship Type="http://schemas.openxmlformats.org/officeDocument/2006/relationships/notesMaster" Target="/ppt/notesMasters/notesMaster1.xml" Id="R1b239485f2424c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3ffe23ad6f47f9" /><Relationship Type="http://schemas.openxmlformats.org/officeDocument/2006/relationships/notesMaster" Target="/ppt/notesMasters/notesMaster1.xml" Id="R065221acbee845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5d5686e9a6426b" /><Relationship Type="http://schemas.openxmlformats.org/officeDocument/2006/relationships/notesMaster" Target="/ppt/notesMasters/notesMaster1.xml" Id="Rc6c4e5e240c541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96689b205a44ec" /><Relationship Type="http://schemas.openxmlformats.org/officeDocument/2006/relationships/notesMaster" Target="/ppt/notesMasters/notesMaster1.xml" Id="R6aec8ccbad714d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e2695688df4747" /><Relationship Type="http://schemas.openxmlformats.org/officeDocument/2006/relationships/notesMaster" Target="/ppt/notesMasters/notesMaster1.xml" Id="R281c3883076f41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d43087f2584b94" /><Relationship Type="http://schemas.openxmlformats.org/officeDocument/2006/relationships/notesMaster" Target="/ppt/notesMasters/notesMaster1.xml" Id="Rd8cc6895db134e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8b4ce991cf4680" /><Relationship Type="http://schemas.openxmlformats.org/officeDocument/2006/relationships/notesMaster" Target="/ppt/notesMasters/notesMaster1.xml" Id="R7a10d13368294b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f9bf9b326945a4" /><Relationship Type="http://schemas.openxmlformats.org/officeDocument/2006/relationships/notesMaster" Target="/ppt/notesMasters/notesMaster1.xml" Id="R2bc7ce8fd0084b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ecd467ca674d3b" /><Relationship Type="http://schemas.openxmlformats.org/officeDocument/2006/relationships/notesMaster" Target="/ppt/notesMasters/notesMaster1.xml" Id="R6527de3b921343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ICARUS 针对小型数字 IP 的测试规划与仿真复核。模型通过第三方 API 提出测试输入，受控执行器用 Icarus 运行真实 RTL，再由明确的参考模型或人工规格判据检查结果。项目没有训练自己的基础模型，也不把模型的自然语言结论当作电路正确性的证明。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来源与口径：项目原创示意素材：ui/assets/verification-map.svg。此图是视觉示意，不代表实物硬件或测试现场。作品没有自行训练基础模型权重，使用第三方模型API推理。真人试用与独立人工审核原件尚未补入。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能生成可运行的输入，只解决了验证的第一步。复位、FIFO 空满边界、UART 的完整串行帧，以及握手缓存的反压，都有具体的时序条件。我们的需求分析来自这些案例的执行和失败记录，没有虚构行业访谈或节省时间的百分比。面向数字电路学习者、小型 IP 开发者，以及需要复核记录的人。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来源与口径：来源：docs/experiment/agent_comparison_live_2026-10-04.md，docs/experiment/protocol_oracle_improvements_2026-10-04.md。需求来自案例执行与失败记录分析，没有行业访谈数量或未测量效率百分比。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四个环节各自负责一件事。人工规格说明什么行为是正确的，API 决定下一组输入，执行器检查权限和预算后调用 Icarus，判据对实际输出作比较。模型只能追加输入或者停止，不能替换 DUT、修改旧向量、改变正确答案或随意执行命令。每轮把真实仿真结果和覆盖缺口反馈给模型，再决定是否补测。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来源与口径：来源：src/iverilog_ai/ai/agent.py、core/pipeline.py、core/reference_model.py。动作仅append_vectors和stop。API不能修改RTL或期望值。外部有限差分必须保留证据类型与支持范围。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预注册实验给四个模块不同的累计激励周期上限。UART 和 SPI 必须等待较长的事务完成，不能拿同样的短向量数假定它们得到同等测试。每轮追加、总向量、轮数、请求数、超时和累计周期都受限制。网页允许用户自行设置预算，截图中的默认值不是预注册实验的执行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来源：spec/agent_protocols.json；docs/experiment/agent_comparison_v2_plan_2026-10-04.md。每轮最多追加12向量，TestPlan最多200向量。周期为多轮累计搜索激励，自动初始复位不计入，参考审计单列。UI自定义预算与实验预注册预算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当前实现记录 24 个有限命名场景，分布为 FIFO 7 个、UART 6 个、SPI 6 个和握手缓存 5 个。记录依据测试台实际采样的输入与输出，同时校验 RTL、计划、合约和测试台的工件身份。我们分别描述输入尝试、输出状态与完整协议序列；没采到、出现未知逻辑值或工件不匹配时保留未知。场景命中只说明测试到过该行为，不能替代功能正确性或 RTL 代码覆盖率。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来源：docs/experiment/functional_coverage_2026-10-04.md；src/iverilog_ai/core/functional_coverage.py。7+6+6+5=24个有限命名场景。采样在真实TB采样点逐周期读取端口，验证RTL/plan/contract/TB的SHA，缺失或时序不匹配为unknow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 RTL 与旧参考模型曾共享一个错误，因此它们彼此一致仍然可能都不符合队列规格。独立队列验证在第 5 拍同时读出 25、写入 99，队列从 `[25,66]` 变为 `[66,99]`，占用量仍是 2。旧计数更新少记一次，到了第 7 拍，实际 `full=0`，独立队列应为 1。修复后这一点为 1，同样 76 周期、228 次输出比较从 66 次差异变为 0。两个重新从正确基线制作的单点错误控制仍然触发差异，所以没有把判据改松来获得一致。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来源：.iverilog-ai/protocol-oracle-fifo-20261004-before/evidence.json；.iverilog-ai/protocol-oracle-fifo-20261004-after-final/evidence.json；docs/experiment/protocol_oracle_improvements_2026-10-04.md。同一76周期、228次比较。第5拍（原件zero-based cycle=4）同时读写：队列[25,66]读25并写99后为[66,99]，占用量2不变；第7拍（cycle=6）first mismatch为full旧0、应1、修复后1。旧RTL和旧oracle曾共享count错误。独立deque检查后同时修RTL与模型；新两个单点控制未继承旧共同计数错误。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外部重放固定 24 个候选模块，分别来自 UART RX、UART TX 和优先编码器。每个家族都有正确基线、历史人工错误变体、等价改写和编译失败控制。UART TX 原判据只检查有限事件，漏了位持续时间和 busy 不释放的问题。补全这些人工判据后，同一 15 个人工错误变体的检出从 13 个增加到 15 个。这里的收益来自判据改进，不是 API。三个家族来自同作者的两个仓库，也不是独立留出测试。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来源与口径：来源：.iverilog-ai/external/replay-20261004-protocol-v2/evidence.json；docs/experiment/protocol_oracle_improvements_2026-10-04.md。同24个冻结候选模块，uart_rx、uart_tx、priority_encoder各8项；只加强UART TX人工SPEC，外部全15个历史人工变体的检出使13/15变为15/15，不是API收益。3基线3等价3编译坏控制，来自同作者两仓库，非独立holdout。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网页提供案例选择、上传、验证目标、测试规划、仿真和结果查看。右侧是冻结版本 `28be1ed` 的 r3 网页预算与覆盖开关，只做像素裁切。左侧数字来自一次离线 UART 执行：29 个向量，58 次比较全部一致，切换页面后结果保留。三种浏览器视口没有横向溢出，手机是桌面浏览器模拟，并未声称测试了真实手机或真人使用。此前脚本定位与旧服务缓存的问题记录仍保留，最终 r3 在重启服务后完成；切页保留不等于重启进程保留内存会话。全仓回归为 1073 项通过、2 项跳过、0 失败，mypy 检查 76 源文件无误。这些是工程检查，在线 API 的能力由实验原件单独说明。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来源与口径：截图：.iverilog-ai/agent-v4-browser-20261004-r3/agent-controls-1440.png，当前机器浏览器操作，0API、0真人。截图展示真实预算和覆盖开关，未展示真实在线API Agent结果。离线UART运行29向量、58/58比较、切页保留；手机为桌面视口模拟，非真实设备。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每次运行都保存 RTL、计划、测试台、日志、波形和采样记录，也保存 API 轨迹及停止原因。哈希能检查复核是否用了相同工件，逐周期记录能定位首个差异。旧证据包曾在同一主机从冻结 ZIP 解包重放，0 次 API 请求、547 次输出比较、0 次差异。这是一次机器复核，新 v2 证据另存；它不能被称为独立人工审核。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来源：docs/competition/ic/evidence_pack_2026-10-04.md，docs/review/ic_pack_review_2026-10-04.md。旧包41007文件含manifest，41006对象SHA核对；同主机从外部ZIP解包source执行0API重放547输出比较零差异。此为机器复核，非独立人工审核。新v2材料不在旧包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这页保留源码 `e9b7b8a` 的历史结果。在 4 个模块、8 个开发集缺陷、一次重复下，固定模板和随机各检出 5 个，单次 API 检出 2 个，反馈 Agent 检出 4 个，无反馈 Agent 检出 2 个。60 行记录包含 52 次真实 API 请求。这个结果证明流程可以真实执行，但没有证明 Agent 普遍提高了检出率。后来 RTL、判据、协议规格、周期预算与采样都变过，不能把新旧差异解释成单独一种改进的收益。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来源：docs/experiment/agent_comparison_live_2026-10-04.md；docs/experiment/agent-comparison-chat-2026-10-04/summary.json。冻结源码e9b7b8a，4模块8缺陷5策略1重复60行，52真实API请求234536tokens，完整失败保留。FIFO/规格/预算/采样随后都变化，不能与新版本作单因素提升归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 `c7bb280` 的本轮记录保留 252 个任务、七策略和三次重复的完整分母，每策略每次 8 个缺陷。本地固定模板每次检出 7 个，均匀和协议随机每次检出 8 个。API 组明显较低，主要受到动作输出被严格格式校验拒绝的影响；137 行为 `policy_error`，125 行完全没有仿真轮。本轮确实发生 157 次 API 请求，但不能表述成全部任务都执行了仿真，也没满足各任务都有仿真原件的内部比较条件。失败均保留，不能宣布 AI 或覆盖反馈已带来增益。此前 `598e6dc` 的高强度思考/截断预跑，以及之后的新版本联调都另存，不替换这一批结果。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来源与口径：来源：docs/experiment/agent_comparison_v2_live_2026-10-04.md 及 .iverilog-ai/agent-comparison-v2-nonthinking-20261004/summary.json。全252任务有终态，但125行完全无round，eligible_for_frozen_comparison=false，不是252个仿真都已执行。157真实API请求，289219total tokens；actual frozen request cap335，预算理论最大360不是实际请求数。policy_error为本地格式/权限schema拒绝，不是服务商安全拒绝。三次每策略每次8个人工开发集缺陷，失败/不可判定不剔除；此前598预跑及以后v4联调均不合并。sourceguard=[]，不表示所有输出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最后一页是不同源码 `28be1ed` 与 v4 提示格式的一次开发烟测，单列 84 个任务，不替换上一页 c7 的三次结果。实际发生 94 次请求，上限 120，共 201710 tokens；94 个动作全部通过严格 schema，0 拒绝。固定模板检出 7/8，均匀随机和协议随机各 8/8，单次 API 2/8，反馈 Agent 6/8，无反馈 Agent 7/8，无覆盖反馈 Agent 5/8。仍有一个正确 UART 基线在单次 API 策略下发生测试台生成错误，没有仿真轮，因此不能说所有正确基线已通过，内部完整证据条件仍未满足。动作结构接通不等于测试执行或功能判定全部成功。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反馈 6/8 和无覆盖反馈 5/8 来自独立随机提案，一次重复且实际请求与周期不同，不能证明覆盖反馈的因果收益；无反馈 7/8 也不支持“反馈一定提高检出”的结论。Agent 仍未超过本地随机基线。当前结论只适用于有限开发集、已执行输入和已审计参数，下一步是独立留出模块、多次重复、H01 真人任务计时与原始反馈，以及 H02 独立人员复核和跨主机重放。机器证据帮助复现这些工作，不能补成真人或人工结论。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来源与口径：来源：docs/experiment/agent_comparison_v4_smoke_2026-10-04.md；.iverilog-ai/agent-comparison-v4-smoke-20261004/summary.json、results.json、run_settings.json 与 preregistration.json。源码28be1edc8b84067912e2034567a8e8a5803b8184，提示verification-agent-v4-typed-decisions。84任务为4模块×3目标×7策略×1重复，缺陷分母每策略8，不将4正确基线加入分母。94实际请求、120请求上限、201710 total tokens；94/94响应schema通过、0拒绝不代表执行正确。43 detected、40 not_detected、1 execution_error；UART正确基线single任务sample-023为TestbenchGenerationError，无执行round，保留失败，eligible_for_frozen_comparison=false。sourceguard为空不证明全部成功。反馈6/8、无覆盖反馈5/8、无反馈7/8，一次重复且提案随机性、周期与请求不同，不支持因果或显著性；Agent未胜均匀/协议随机。未训练权重，未完成真人试用或独立人审。c7与598预跑和历史pilot分别保留、不合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fe527586d44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7aa00637f84479" /><Relationship Type="http://schemas.openxmlformats.org/officeDocument/2006/relationships/slideLayout" Target="/ppt/slideLayouts/slideLayout1.xml" Id="R6d0f6fc874a049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0f6fc874a049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CARUS charcoal">
      <a:dk1>
        <a:srgbClr val="111416"/>
      </a:dk1>
      <a:lt1>
        <a:srgbClr val="F1F2F2"/>
      </a:lt1>
      <a:dk2>
        <a:srgbClr val="1C2023"/>
      </a:dk2>
      <a:lt2>
        <a:srgbClr val="CCD2D5"/>
      </a:lt2>
      <a:accent1>
        <a:srgbClr val="00C8E8"/>
      </a:accent1>
      <a:accent2>
        <a:srgbClr val="727C82"/>
      </a:accent2>
      <a:accent3>
        <a:srgbClr val="B1B8BB"/>
      </a:accent3>
      <a:accent4>
        <a:srgbClr val="CED2D4"/>
      </a:accent4>
      <a:accent5>
        <a:srgbClr val="32383C"/>
      </a:accent5>
      <a:accent6>
        <a:srgbClr val="7A8286"/>
      </a:accent6>
      <a:hlink>
        <a:srgbClr val="00C8E8"/>
      </a:hlink>
      <a:folHlink>
        <a:srgbClr val="00C8E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CARUS charco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b58c66fa04af3" /><Relationship Type="http://schemas.openxmlformats.org/officeDocument/2006/relationships/image" Target="/ppt/media/image.png" Id="R82924b627f1f4efb" /><Relationship Type="http://schemas.openxmlformats.org/officeDocument/2006/relationships/image" Target="/ppt/media/image.svg" Id="Rb4d5f01ae34d426d" /><Relationship Type="http://schemas.openxmlformats.org/officeDocument/2006/relationships/notesSlide" Target="/ppt/notesSlides/notesSlide1.xml" Id="R50052cb15ce94d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7970f98064157" /><Relationship Type="http://schemas.openxmlformats.org/officeDocument/2006/relationships/notesSlide" Target="/ppt/notesSlides/notesSlide2.xml" Id="R141f4076e9f84b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759dae1ab4492" /><Relationship Type="http://schemas.openxmlformats.org/officeDocument/2006/relationships/notesSlide" Target="/ppt/notesSlides/notesSlide3.xml" Id="R57649601cd9749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66282486c4f59" /><Relationship Type="http://schemas.openxmlformats.org/officeDocument/2006/relationships/notesSlide" Target="/ppt/notesSlides/notesSlide4.xml" Id="R9c59adc3788f41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899f4e5af43c6" /><Relationship Type="http://schemas.openxmlformats.org/officeDocument/2006/relationships/notesSlide" Target="/ppt/notesSlides/notesSlide5.xml" Id="R55c7d042ea3942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743bd463c4178" /><Relationship Type="http://schemas.openxmlformats.org/officeDocument/2006/relationships/chart" Target="/ppt/slides/charts/chart1.xml" Id="R2d81ae0a3d8941f3" /><Relationship Type="http://schemas.openxmlformats.org/officeDocument/2006/relationships/notesSlide" Target="/ppt/notesSlides/notesSlide6.xml" Id="R78224f33554d48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5bf4d9f394340" /><Relationship Type="http://schemas.openxmlformats.org/officeDocument/2006/relationships/chart" Target="/ppt/slides/charts/chart2.xml" Id="R9597d66de51b4df3" /><Relationship Type="http://schemas.openxmlformats.org/officeDocument/2006/relationships/notesSlide" Target="/ppt/notesSlides/notesSlide7.xml" Id="Rf52e150e25a84e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3b06a6cfa466c" /><Relationship Type="http://schemas.openxmlformats.org/officeDocument/2006/relationships/image" Target="/ppt/media/image2.png" Id="Ra1618426e0184c7f" /><Relationship Type="http://schemas.openxmlformats.org/officeDocument/2006/relationships/notesSlide" Target="/ppt/notesSlides/notesSlide8.xml" Id="Recff5951b83e45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9f753a3984877" /><Relationship Type="http://schemas.openxmlformats.org/officeDocument/2006/relationships/notesSlide" Target="/ppt/notesSlides/notesSlide9.xml" Id="Raa510a8e78f44c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0809eef494ab9" /><Relationship Type="http://schemas.openxmlformats.org/officeDocument/2006/relationships/chart" Target="/ppt/slides/charts/chart3.xml" Id="Rb500d8bf78234ec4" /><Relationship Type="http://schemas.openxmlformats.org/officeDocument/2006/relationships/notesSlide" Target="/ppt/notesSlides/notesSlide10.xml" Id="R7eb4bddb4d0a41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d8e0be0ba49d2" /><Relationship Type="http://schemas.openxmlformats.org/officeDocument/2006/relationships/notesSlide" Target="/ppt/notesSlides/notesSlide11.xml" Id="R763a2fa8c9874e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bbbe53c044c43" /><Relationship Type="http://schemas.openxmlformats.org/officeDocument/2006/relationships/notesSlide" Target="/ppt/notesSlides/notesSlide12.xml" Id="Rc4f7bbb8cffd473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实际观测</c:v>
          </c:tx>
          <c:spPr>
            <a:solidFill xmlns:a="http://schemas.openxmlformats.org/drawingml/2006/main">
              <a:srgbClr val="727C8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0C8E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修复后</c:v>
                </c:pt>
                <c:pt idx="1">
                  <c:v>修复前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F1F2F2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565D6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565D6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1C2023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1C2023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实际观测</c:v>
          </c:tx>
          <c:spPr>
            <a:solidFill xmlns:a="http://schemas.openxmlformats.org/drawingml/2006/main">
              <a:srgbClr val="727C8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0C8E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补全计时后</c:v>
                </c:pt>
                <c:pt idx="1">
                  <c:v>旧规格检查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15</c:v>
                </c:pt>
                <c:pt idx="1">
                  <c:v>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F1F2F2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565D6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565D6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1C2023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1C2023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实际观测</c:v>
          </c:tx>
          <c:spPr>
            <a:solidFill xmlns:a="http://schemas.openxmlformats.org/drawingml/2006/main">
              <a:srgbClr val="727C82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00C8E8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无反馈 Agent</c:v>
                </c:pt>
                <c:pt idx="1">
                  <c:v>反馈 Agent</c:v>
                </c:pt>
                <c:pt idx="2">
                  <c:v>单次 API</c:v>
                </c:pt>
                <c:pt idx="3">
                  <c:v>随机输入</c:v>
                </c:pt>
                <c:pt idx="4">
                  <c:v>固定模板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F1F2F2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565D6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565D6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1C2023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1C2023"/>
    </a:solidFill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ICARUS">
            <a:extLst xmlns:a="http://schemas.openxmlformats.org/drawingml/2006/main">
              <a:ext uri="{FF2B5EF4-FFF2-40B4-BE49-F238E27FC236}">
                <a16:creationId xmlns:a16="http://schemas.microsoft.com/office/drawing/2014/main" id="{C271523A-E7B6-4BC2-A655-80F35EE5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0" b="1">
                <a:solidFill>
                  <a:srgbClr val="F1F2F2"/>
                </a:solidFill>
                <a:latin typeface="Bahnschrift"/>
                <a:ea typeface="Bahnschrift"/>
                <a:cs typeface="Bahnschrift"/>
              </a:defRPr>
            </a:pPr>
            <a:r>
              <a:rPr sz="9000" b="1">
                <a:solidFill>
                  <a:srgbClr val="F1F2F2"/>
                </a:solidFill>
                <a:latin typeface="Bahnschrift"/>
                <a:ea typeface="Bahnschrift"/>
                <a:cs typeface="Bahnschrift"/>
              </a:rPr>
              <a:t>ICARUS</a:t>
            </a:r>
          </a:p>
        </p:txBody>
      </p:sp>
      <p:sp>
        <p:nvSpPr>
          <p:cNvPr id="2" name="数字 IP 验证智能体">
            <a:extLst xmlns:a="http://schemas.openxmlformats.org/drawingml/2006/main">
              <a:ext uri="{FF2B5EF4-FFF2-40B4-BE49-F238E27FC236}">
                <a16:creationId xmlns:a16="http://schemas.microsoft.com/office/drawing/2014/main" id="{60C55D13-E6A1-452F-813C-C8099497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337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数字 IP 验证智能体</a:t>
            </a:r>
          </a:p>
        </p:txBody>
      </p:sp>
      <p:sp>
        <p:nvSpPr>
          <p:cNvPr id="3" name="AI+集成电路&#10;第三方 API 规划测试，独立判据解释仿真">
            <a:extLst xmlns:a="http://schemas.openxmlformats.org/drawingml/2006/main">
              <a:ext uri="{FF2B5EF4-FFF2-40B4-BE49-F238E27FC236}">
                <a16:creationId xmlns:a16="http://schemas.microsoft.com/office/drawing/2014/main" id="{B28AAE0C-FF9F-4EE3-BDDE-AA305A3C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53816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AI+集成电路</a:t>
            </a:r>
          </a:p>
          <a:p xmlns:a="http://schemas.openxmlformats.org/drawingml/2006/main">
            <a:pPr>
              <a:defRPr sz="210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第三方 API 规划测试，独立判据解释仿真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229F4-7378-43BB-8322-7EB55C02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C8E8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24b627f1f4efb">
            <a:extLst>
              <a:ext uri="{96DAC541-7B7A-43D3-8B79-37D633B846F1}">
                <asvg:svgBlip xmlns:asvg="http://schemas.microsoft.com/office/drawing/2016/SVG/main" r:embed="Rb4d5f01ae34d42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67350" y="2190750"/>
            <a:ext cx="6610350" cy="3600450"/>
          </a:xfrm>
          <a:prstGeom xmlns:a="http://schemas.openxmlformats.org/drawingml/2006/main" prst="rect">
            <a:avLst/>
          </a:prstGeom>
        </p:spPr>
      </p:pic>
      <p:sp>
        <p:nvSpPr>
          <p:cNvPr id="6" name="2026-10-04">
            <a:extLst xmlns:a="http://schemas.openxmlformats.org/drawingml/2006/main">
              <a:ext uri="{FF2B5EF4-FFF2-40B4-BE49-F238E27FC236}">
                <a16:creationId xmlns:a16="http://schemas.microsoft.com/office/drawing/2014/main" id="{DB89FB62-81FF-433F-B39C-454A11EF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1B8BB"/>
                </a:solidFill>
                <a:latin typeface="Bahnschrift"/>
                <a:ea typeface="Bahnschrift"/>
                <a:cs typeface="Bahnschrift"/>
              </a:defRPr>
            </a:pPr>
            <a:r>
              <a:rPr sz="1725" b="0">
                <a:solidFill>
                  <a:srgbClr val="B1B8BB"/>
                </a:solidFill>
                <a:latin typeface="Bahnschrift"/>
                <a:ea typeface="Bahnschrift"/>
                <a:cs typeface="Bahnschrift"/>
              </a:rPr>
              <a:t>2026-10-04</a:t>
            </a:r>
          </a:p>
        </p:txBody>
      </p:sp>
    </p:spTree>
    <p:extLst>
      <p:ext uri="{BB962C8B-B14F-4D97-AF65-F5344CB8AC3E}">
        <p14:creationId xmlns:p14="http://schemas.microsoft.com/office/powerpoint/2010/main" val="614093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数字 IP 的验证需求">
            <a:extLst xmlns:a="http://schemas.openxmlformats.org/drawingml/2006/main">
              <a:ext uri="{FF2B5EF4-FFF2-40B4-BE49-F238E27FC236}">
                <a16:creationId xmlns:a16="http://schemas.microsoft.com/office/drawing/2014/main" id="{0D8BAF35-1D13-40F4-BBB7-15E00FDD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数字 IP 的验证需求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483EC-5BC7-4911-BA01-654F9249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5D61"/>
            </a:solidFill>
          </a:ln>
        </p:spPr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8E0F59DC-623D-4317-9C3D-3CD793C4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4" name="测试输入能运行&#10;还需要覆盖关键行为">
            <a:extLst xmlns:a="http://schemas.openxmlformats.org/drawingml/2006/main">
              <a:ext uri="{FF2B5EF4-FFF2-40B4-BE49-F238E27FC236}">
                <a16:creationId xmlns:a16="http://schemas.microsoft.com/office/drawing/2014/main" id="{B5416228-090E-474C-B98C-8344A4ED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6286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337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测试输入能运行</a:t>
            </a:r>
          </a:p>
          <a:p xmlns:a="http://schemas.openxmlformats.org/drawingml/2006/main">
            <a:pPr>
              <a:defRPr sz="337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337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还需要覆盖关键行为</a:t>
            </a:r>
          </a:p>
        </p:txBody>
      </p:sp>
      <p:sp>
        <p:nvSpPr>
          <p:cNvPr id="5" name="复位、空满边界、串行帧和反压&#10;都需要具体的激励与正确的采样时">
            <a:extLst xmlns:a="http://schemas.openxmlformats.org/drawingml/2006/main">
              <a:ext uri="{FF2B5EF4-FFF2-40B4-BE49-F238E27FC236}">
                <a16:creationId xmlns:a16="http://schemas.microsoft.com/office/drawing/2014/main" id="{DD308637-C0E9-400D-9E85-A090785D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复位、空满边界、串行帧和反压</a:t>
            </a:r>
          </a:p>
          <a:p xmlns:a="http://schemas.openxmlformats.org/drawingml/2006/main">
            <a:pPr>
              <a:defRPr sz="22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都需要具体的激励与正确的采样时刻</a:t>
            </a:r>
          </a:p>
        </p:txBody>
      </p:sp>
      <p:sp>
        <p:nvSpPr>
          <p:cNvPr id="6" name="使用对象">
            <a:extLst xmlns:a="http://schemas.openxmlformats.org/drawingml/2006/main">
              <a:ext uri="{FF2B5EF4-FFF2-40B4-BE49-F238E27FC236}">
                <a16:creationId xmlns:a16="http://schemas.microsoft.com/office/drawing/2014/main" id="{C1D739FE-36ED-4FA6-B0F0-8777F107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145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使用对象</a:t>
            </a:r>
          </a:p>
        </p:txBody>
      </p:sp>
      <p:sp>
        <p:nvSpPr>
          <p:cNvPr id="7" name="数字电路学习者&#10;小型 IP 开发者&#10;技术复核人员">
            <a:extLst xmlns:a="http://schemas.openxmlformats.org/drawingml/2006/main">
              <a:ext uri="{FF2B5EF4-FFF2-40B4-BE49-F238E27FC236}">
                <a16:creationId xmlns:a16="http://schemas.microsoft.com/office/drawing/2014/main" id="{39B173B4-1714-4EFC-918E-98C9249F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76500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数字电路学习者</a:t>
            </a:r>
          </a:p>
          <a:p xmlns:a="http://schemas.openxmlformats.org/drawingml/2006/main">
            <a:pPr>
              <a:defRPr sz="217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小型 IP 开发者</a:t>
            </a:r>
          </a:p>
          <a:p xmlns:a="http://schemas.openxmlformats.org/drawingml/2006/main">
            <a:pPr>
              <a:defRPr sz="217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技术复核人员</a:t>
            </a:r>
          </a:p>
        </p:txBody>
      </p:sp>
      <p:sp>
        <p:nvSpPr>
          <p:cNvPr id="8" name="需求依据是本项目的真实执行记录。真人任务计时和独立人审原件仍">
            <a:extLst xmlns:a="http://schemas.openxmlformats.org/drawingml/2006/main">
              <a:ext uri="{FF2B5EF4-FFF2-40B4-BE49-F238E27FC236}">
                <a16:creationId xmlns:a16="http://schemas.microsoft.com/office/drawing/2014/main" id="{5A945751-AEEF-4858-B13E-34749903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需求依据是本项目的真实执行记录。真人任务计时和独立人审原件仍需补入。</a:t>
            </a:r>
          </a:p>
        </p:txBody>
      </p:sp>
    </p:spTree>
    <p:extLst>
      <p:ext uri="{BB962C8B-B14F-4D97-AF65-F5344CB8AC3E}">
        <p14:creationId xmlns:p14="http://schemas.microsoft.com/office/powerpoint/2010/main" val="364772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I 规划与仿真裁决的分工">
            <a:extLst xmlns:a="http://schemas.openxmlformats.org/drawingml/2006/main">
              <a:ext uri="{FF2B5EF4-FFF2-40B4-BE49-F238E27FC236}">
                <a16:creationId xmlns:a16="http://schemas.microsoft.com/office/drawing/2014/main" id="{8AB98776-B6CD-4773-9153-EB05BE63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API 规划与仿真裁决的分工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545D2-F693-4E51-B61F-6D16D93C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5D61"/>
            </a:solidFill>
          </a:ln>
        </p:spPr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152BEF7D-6355-4677-813C-0D0FF8E8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4" name="人工规格&#10;接口合约">
            <a:extLst xmlns:a="http://schemas.openxmlformats.org/drawingml/2006/main">
              <a:ext uri="{FF2B5EF4-FFF2-40B4-BE49-F238E27FC236}">
                <a16:creationId xmlns:a16="http://schemas.microsoft.com/office/drawing/2014/main" id="{8E982882-EAD1-4017-B818-487D9EC6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228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人工规格</a:t>
            </a:r>
          </a:p>
          <a:p xmlns:a="http://schemas.openxmlformats.org/drawingml/2006/main">
            <a:pPr>
              <a:def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接口合约</a:t>
            </a:r>
          </a:p>
        </p:txBody>
      </p:sp>
      <p:sp>
        <p:nvSpPr>
          <p:cNvPr id="5" name="模型 API&#10;追加输入建议">
            <a:extLst xmlns:a="http://schemas.openxmlformats.org/drawingml/2006/main">
              <a:ext uri="{FF2B5EF4-FFF2-40B4-BE49-F238E27FC236}">
                <a16:creationId xmlns:a16="http://schemas.microsoft.com/office/drawing/2014/main" id="{E8F0B42B-F5B8-437F-81F8-801D99CD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2324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模型 API</a:t>
            </a:r>
          </a:p>
          <a:p xmlns:a="http://schemas.openxmlformats.org/drawingml/2006/main">
            <a:pPr>
              <a:def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追加输入建议</a:t>
            </a:r>
          </a:p>
        </p:txBody>
      </p:sp>
      <p:sp>
        <p:nvSpPr>
          <p:cNvPr id="6" name="受控执行器&#10;真实 Icarus">
            <a:extLst xmlns:a="http://schemas.openxmlformats.org/drawingml/2006/main">
              <a:ext uri="{FF2B5EF4-FFF2-40B4-BE49-F238E27FC236}">
                <a16:creationId xmlns:a16="http://schemas.microsoft.com/office/drawing/2014/main" id="{EE0F2000-A1C0-43BD-A30C-4114289C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76450"/>
            <a:ext cx="2324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受控执行器</a:t>
            </a:r>
          </a:p>
          <a:p xmlns:a="http://schemas.openxmlformats.org/drawingml/2006/main">
            <a:pPr>
              <a:def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真实 Icarus</a:t>
            </a:r>
          </a:p>
        </p:txBody>
      </p:sp>
      <p:sp>
        <p:nvSpPr>
          <p:cNvPr id="7" name="独立判据&#10;结果与原件">
            <a:extLst xmlns:a="http://schemas.openxmlformats.org/drawingml/2006/main">
              <a:ext uri="{FF2B5EF4-FFF2-40B4-BE49-F238E27FC236}">
                <a16:creationId xmlns:a16="http://schemas.microsoft.com/office/drawing/2014/main" id="{66F7912E-B926-42A1-80C4-68AE1D62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7645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独立判据</a:t>
            </a:r>
          </a:p>
          <a:p xmlns:a="http://schemas.openxmlformats.org/drawingml/2006/main">
            <a:pPr>
              <a:def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结果与原件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76550" y="2576513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C8E8"/>
            </a:solidFill>
            <a:tailEnd type="arrow" w="sm" len="sm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38800" y="2576513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C8E8"/>
            </a:solidFill>
            <a:tailEnd type="arrow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372475" y="25765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C8E8"/>
            </a:solidFill>
            <a:tail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11727-A879-4648-9D32-8933F3BC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5D61"/>
            </a:solidFill>
          </a:ln>
        </p:spPr>
      </p:sp>
      <p:sp>
        <p:nvSpPr>
          <p:cNvPr id="12" name="执行反馈">
            <a:extLst xmlns:a="http://schemas.openxmlformats.org/drawingml/2006/main">
              <a:ext uri="{FF2B5EF4-FFF2-40B4-BE49-F238E27FC236}">
                <a16:creationId xmlns:a16="http://schemas.microsoft.com/office/drawing/2014/main" id="{8F77B266-BF5C-4E7E-B5D9-1EBF6889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0527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执行反馈</a:t>
            </a:r>
          </a:p>
        </p:txBody>
      </p:sp>
      <p:sp>
        <p:nvSpPr>
          <p:cNvPr id="13" name="实际端口采样、检查摘要、覆盖缺口与剩余预算&#10;进入下一轮测试规">
            <a:extLst xmlns:a="http://schemas.openxmlformats.org/drawingml/2006/main">
              <a:ext uri="{FF2B5EF4-FFF2-40B4-BE49-F238E27FC236}">
                <a16:creationId xmlns:a16="http://schemas.microsoft.com/office/drawing/2014/main" id="{EA73BB3C-4E01-406D-9E3E-7BEB3CF4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29075"/>
            <a:ext cx="8096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实际端口采样、检查摘要、覆盖缺口与剩余预算</a:t>
            </a:r>
          </a:p>
          <a:p xmlns:a="http://schemas.openxmlformats.org/drawingml/2006/main">
            <a:pPr>
              <a:defRPr sz="217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进入下一轮测试规划，模型期望值不参与受支持设计的判定</a:t>
            </a:r>
          </a:p>
        </p:txBody>
      </p:sp>
      <p:sp>
        <p:nvSpPr>
          <p:cNvPr id="14" name="内置判据来自已对齐参考模型。外部流程使用有限资格检查和限定输">
            <a:extLst xmlns:a="http://schemas.openxmlformats.org/drawingml/2006/main">
              <a:ext uri="{FF2B5EF4-FFF2-40B4-BE49-F238E27FC236}">
                <a16:creationId xmlns:a16="http://schemas.microsoft.com/office/drawing/2014/main" id="{6A677FA8-7501-47D3-AABB-491D7722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内置判据来自已对齐参考模型。外部流程使用有限资格检查和限定输出差分。</a:t>
            </a:r>
          </a:p>
        </p:txBody>
      </p:sp>
    </p:spTree>
    <p:extLst>
      <p:ext uri="{BB962C8B-B14F-4D97-AF65-F5344CB8AC3E}">
        <p14:creationId xmlns:p14="http://schemas.microsoft.com/office/powerpoint/2010/main" val="1030404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动作权限与统一执行预算">
            <a:extLst xmlns:a="http://schemas.openxmlformats.org/drawingml/2006/main">
              <a:ext uri="{FF2B5EF4-FFF2-40B4-BE49-F238E27FC236}">
                <a16:creationId xmlns:a16="http://schemas.microsoft.com/office/drawing/2014/main" id="{86019183-423C-42B3-8466-458FB3B0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动作权限与统一执行预算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58646-AB3D-44C6-A37A-E2AD6A26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5D61"/>
            </a:solidFill>
          </a:ln>
        </p:spPr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10E86ABE-5BE5-4F8C-A3DD-01964CE9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4" name="仅追加输入或停止">
            <a:extLst xmlns:a="http://schemas.openxmlformats.org/drawingml/2006/main">
              <a:ext uri="{FF2B5EF4-FFF2-40B4-BE49-F238E27FC236}">
                <a16:creationId xmlns:a16="http://schemas.microsoft.com/office/drawing/2014/main" id="{7A188CEE-9DCF-41BB-A3B5-C7067D25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仅追加输入或停止</a:t>
            </a:r>
          </a:p>
        </p:txBody>
      </p:sp>
      <p:sp>
        <p:nvSpPr>
          <p:cNvPr id="5" name="不能改 RTL、旧向量、判据或执行命令">
            <a:extLst xmlns:a="http://schemas.openxmlformats.org/drawingml/2006/main">
              <a:ext uri="{FF2B5EF4-FFF2-40B4-BE49-F238E27FC236}">
                <a16:creationId xmlns:a16="http://schemas.microsoft.com/office/drawing/2014/main" id="{5653B2BD-6B1B-4D56-BBD3-8CE9AF7F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不能改 RTL、旧向量、判据或执行命令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47700" y="2990850"/>
          <a:ext xmlns:a="http://schemas.openxmlformats.org/drawingml/2006/main" cx="107632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762500"/>
                <a:gridCol w="3667125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已审计参数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累计激励周期上限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FIFO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DATA_WIDTH=8 / DEPTH=4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160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UART TX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CLKS_PER_BIT=4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512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SPI 示例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WIDTH=8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384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握手缓存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WIDTH=8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160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</a:tbl>
          </a:graphicData>
        </a:graphic>
      </p:graphicFrame>
      <p:sp>
        <p:nvSpPr>
          <p:cNvPr id="7" name="每轮最多追加 12 向量。轮数、请求数、向量数、超时与累计周">
            <a:extLst xmlns:a="http://schemas.openxmlformats.org/drawingml/2006/main">
              <a:ext uri="{FF2B5EF4-FFF2-40B4-BE49-F238E27FC236}">
                <a16:creationId xmlns:a16="http://schemas.microsoft.com/office/drawing/2014/main" id="{D467E0FB-F3F5-45FA-B7F7-AFCBFFB0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每轮最多追加 12 向量。轮数、请求数、向量数、超时与累计周期共同约束执行。</a:t>
            </a:r>
          </a:p>
        </p:txBody>
      </p:sp>
    </p:spTree>
    <p:extLst>
      <p:ext uri="{BB962C8B-B14F-4D97-AF65-F5344CB8AC3E}">
        <p14:creationId xmlns:p14="http://schemas.microsoft.com/office/powerpoint/2010/main" val="1514731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逐周期采样与 24 个功能场景">
            <a:extLst xmlns:a="http://schemas.openxmlformats.org/drawingml/2006/main">
              <a:ext uri="{FF2B5EF4-FFF2-40B4-BE49-F238E27FC236}">
                <a16:creationId xmlns:a16="http://schemas.microsoft.com/office/drawing/2014/main" id="{0F8B66E8-49FC-4783-9ABB-A44904F3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逐周期采样与 24 个功能场景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735C7-BA4E-4F7B-BE2D-EB5A7446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5D61"/>
            </a:solidFill>
          </a:ln>
        </p:spPr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5E2C6449-3815-43BE-921D-834691E4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4" name="24">
            <a:extLst xmlns:a="http://schemas.openxmlformats.org/drawingml/2006/main">
              <a:ext uri="{FF2B5EF4-FFF2-40B4-BE49-F238E27FC236}">
                <a16:creationId xmlns:a16="http://schemas.microsoft.com/office/drawing/2014/main" id="{E87737F9-E25B-4923-B167-929F38ED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3857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690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24</a:t>
            </a:r>
          </a:p>
        </p:txBody>
      </p:sp>
      <p:sp>
        <p:nvSpPr>
          <p:cNvPr id="5" name="有限命名场景&#10;依据真实输入与输出">
            <a:extLst xmlns:a="http://schemas.openxmlformats.org/drawingml/2006/main">
              <a:ext uri="{FF2B5EF4-FFF2-40B4-BE49-F238E27FC236}">
                <a16:creationId xmlns:a16="http://schemas.microsoft.com/office/drawing/2014/main" id="{18648D27-640D-4054-9DCA-5E0EB3EA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3857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有限命名场景</a:t>
            </a:r>
          </a:p>
          <a:p xmlns:a="http://schemas.openxmlformats.org/drawingml/2006/main">
            <a:pPr>
              <a:def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依据真实输入与输出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838700" y="1714500"/>
          <a:ext xmlns:a="http://schemas.openxmlformats.org/drawingml/2006/main" cx="66865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952500"/>
                <a:gridCol w="4114800"/>
              </a:tblGrid>
              <a:tr h="704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场景数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代表场景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FIFO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空满与边界请求尝试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UART TX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请求、busy、完整 41 拍帧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SPI 示例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时钟切换与完成序列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握手缓存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反压保持、消费和补入条件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</a:tbl>
          </a:graphicData>
        </a:graphic>
      </p:graphicFrame>
      <p:sp>
        <p:nvSpPr>
          <p:cNvPr id="7" name="分别报告输入尝试、输出状态和协议序列。缺样本、X/Z 或工件">
            <a:extLst xmlns:a="http://schemas.openxmlformats.org/drawingml/2006/main">
              <a:ext uri="{FF2B5EF4-FFF2-40B4-BE49-F238E27FC236}">
                <a16:creationId xmlns:a16="http://schemas.microsoft.com/office/drawing/2014/main" id="{B1908F17-492E-4200-A8D6-A7842F6D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分别报告输入尝试、输出状态和协议序列。缺样本、X/Z 或工件不匹配时保留未知。</a:t>
            </a:r>
          </a:p>
        </p:txBody>
      </p:sp>
      <p:sp>
        <p:nvSpPr>
          <p:cNvPr id="8" name="场景命中不等于功能正确，也不代表 RTL 代码覆盖率">
            <a:extLst xmlns:a="http://schemas.openxmlformats.org/drawingml/2006/main">
              <a:ext uri="{FF2B5EF4-FFF2-40B4-BE49-F238E27FC236}">
                <a16:creationId xmlns:a16="http://schemas.microsoft.com/office/drawing/2014/main" id="{90D082A8-10AD-4348-AA30-A9EB278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场景命中不等于功能正确，也不代表 RTL 代码覆盖率</a:t>
            </a:r>
          </a:p>
        </p:txBody>
      </p:sp>
    </p:spTree>
    <p:extLst>
      <p:ext uri="{BB962C8B-B14F-4D97-AF65-F5344CB8AC3E}">
        <p14:creationId xmlns:p14="http://schemas.microsoft.com/office/powerpoint/2010/main" val="288536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IFO 的独立队列反例与净零修复">
            <a:extLst xmlns:a="http://schemas.openxmlformats.org/drawingml/2006/main">
              <a:ext uri="{FF2B5EF4-FFF2-40B4-BE49-F238E27FC236}">
                <a16:creationId xmlns:a16="http://schemas.microsoft.com/office/drawing/2014/main" id="{F535BF9C-33DC-4323-8F9E-327F21EA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FIFO 的独立队列反例与净零修复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6FC64-17D2-4ECA-BDB5-A2F0B8B3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5D61"/>
            </a:solidFill>
          </a:ln>
        </p:spPr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50FDAB96-AFDB-4952-A413-57760347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4" name="中间占用时同时接受读写&#10;占用量应保持">
            <a:extLst xmlns:a="http://schemas.openxmlformats.org/drawingml/2006/main">
              <a:ext uri="{FF2B5EF4-FFF2-40B4-BE49-F238E27FC236}">
                <a16:creationId xmlns:a16="http://schemas.microsoft.com/office/drawing/2014/main" id="{BF3A6DCE-CB49-4320-AC2B-C4264485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595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中间占用时同时接受读写</a:t>
            </a:r>
          </a:p>
          <a:p xmlns:a="http://schemas.openxmlformats.org/drawingml/2006/main">
            <a:pPr>
              <a:defRPr sz="25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占用量应保持</a:t>
            </a:r>
          </a:p>
        </p:txBody>
      </p:sp>
      <p:sp>
        <p:nvSpPr>
          <p:cNvPr id="5" name="第 5 拍：读 25 + 写 99 → 队列 [66, 99">
            <a:extLst xmlns:a="http://schemas.openxmlformats.org/drawingml/2006/main">
              <a:ext uri="{FF2B5EF4-FFF2-40B4-BE49-F238E27FC236}">
                <a16:creationId xmlns:a16="http://schemas.microsoft.com/office/drawing/2014/main" id="{E8392A7B-D2AD-47E4-8928-3F441B82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7115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第 5 拍：读 25 + 写 99 → 队列 [66, 99]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7700" y="3543300"/>
          <a:ext xmlns:a="http://schemas.openxmlformats.org/drawingml/2006/main" cx="6572250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81ae0a3d8941f3"/>
          </a:graphicData>
        </a:graphic>
      </p:graphicFrame>
      <p:sp>
        <p:nvSpPr>
          <p:cNvPr id="7" name="228">
            <a:extLst xmlns:a="http://schemas.openxmlformats.org/drawingml/2006/main">
              <a:ext uri="{FF2B5EF4-FFF2-40B4-BE49-F238E27FC236}">
                <a16:creationId xmlns:a16="http://schemas.microsoft.com/office/drawing/2014/main" id="{A7C87B8B-0EF9-4419-B82C-13AE6BBB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573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690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228</a:t>
            </a:r>
          </a:p>
        </p:txBody>
      </p:sp>
      <p:sp>
        <p:nvSpPr>
          <p:cNvPr id="8" name="同一 76 周期&#10;输出比较数">
            <a:extLst xmlns:a="http://schemas.openxmlformats.org/drawingml/2006/main">
              <a:ext uri="{FF2B5EF4-FFF2-40B4-BE49-F238E27FC236}">
                <a16:creationId xmlns:a16="http://schemas.microsoft.com/office/drawing/2014/main" id="{7C24A6B4-176F-4342-B32D-F75C4C2B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0375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同一 76 周期</a:t>
            </a:r>
          </a:p>
          <a:p xmlns:a="http://schemas.openxmlformats.org/drawingml/2006/main">
            <a:pPr>
              <a:def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输出比较数</a:t>
            </a:r>
          </a:p>
        </p:txBody>
      </p:sp>
      <p:sp>
        <p:nvSpPr>
          <p:cNvPr id="9" name="首次端口差异：第 7 拍">
            <a:extLst xmlns:a="http://schemas.openxmlformats.org/drawingml/2006/main">
              <a:ext uri="{FF2B5EF4-FFF2-40B4-BE49-F238E27FC236}">
                <a16:creationId xmlns:a16="http://schemas.microsoft.com/office/drawing/2014/main" id="{B2D2784A-1789-4DA0-870D-0D6456F1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52900"/>
            <a:ext cx="3209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首次端口差异：第 7 拍</a:t>
            </a:r>
          </a:p>
        </p:txBody>
      </p:sp>
      <p:sp>
        <p:nvSpPr>
          <p:cNvPr id="10" name="full 旧实现 0 / 队列应为 1&#10;修复后：1">
            <a:extLst xmlns:a="http://schemas.openxmlformats.org/drawingml/2006/main">
              <a:ext uri="{FF2B5EF4-FFF2-40B4-BE49-F238E27FC236}">
                <a16:creationId xmlns:a16="http://schemas.microsoft.com/office/drawing/2014/main" id="{3B7EA349-CF21-4968-A810-330F6D57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95825"/>
            <a:ext cx="32099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full 旧实现 0 / 队列应为 1</a:t>
            </a:r>
          </a:p>
          <a:p xmlns:a="http://schemas.openxmlformats.org/drawingml/2006/main">
            <a:pPr>
              <a:defRPr sz="195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修复后：1</a:t>
            </a:r>
          </a:p>
        </p:txBody>
      </p:sp>
      <p:sp>
        <p:nvSpPr>
          <p:cNvPr id="11" name="图中为差异次数；新单点控制仍触发 56 / 46 次差异。此">
            <a:extLst xmlns:a="http://schemas.openxmlformats.org/drawingml/2006/main">
              <a:ext uri="{FF2B5EF4-FFF2-40B4-BE49-F238E27FC236}">
                <a16:creationId xmlns:a16="http://schemas.microsoft.com/office/drawing/2014/main" id="{BB62FF91-2C6C-4E71-96AF-7B0A534F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图中为差异次数；新单点控制仍触发 56 / 46 次差异。此页为规格与实现修复，非 AI 成绩。</a:t>
            </a:r>
          </a:p>
        </p:txBody>
      </p:sp>
    </p:spTree>
    <p:extLst>
      <p:ext uri="{BB962C8B-B14F-4D97-AF65-F5344CB8AC3E}">
        <p14:creationId xmlns:p14="http://schemas.microsoft.com/office/powerpoint/2010/main" val="12581890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UART 计时补全与外部变体重放">
            <a:extLst xmlns:a="http://schemas.openxmlformats.org/drawingml/2006/main">
              <a:ext uri="{FF2B5EF4-FFF2-40B4-BE49-F238E27FC236}">
                <a16:creationId xmlns:a16="http://schemas.microsoft.com/office/drawing/2014/main" id="{6D501296-B433-4038-99D9-90FBE9D9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UART 计时补全与外部变体重放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750A2-0AD2-4FA0-B85A-203CB8C3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5D61"/>
            </a:solidFill>
          </a:ln>
        </p:spPr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A87B829C-8D8D-4495-8E70-9AF8BB8C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47700" y="1962150"/>
          <a:ext xmlns:a="http://schemas.openxmlformats.org/drawingml/2006/main" cx="6286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97d66de51b4df3"/>
          </a:graphicData>
        </a:graphic>
      </p:graphicFrame>
      <p:sp>
        <p:nvSpPr>
          <p:cNvPr id="5" name="同一 24 个候选模块">
            <a:extLst xmlns:a="http://schemas.openxmlformats.org/drawingml/2006/main">
              <a:ext uri="{FF2B5EF4-FFF2-40B4-BE49-F238E27FC236}">
                <a16:creationId xmlns:a16="http://schemas.microsoft.com/office/drawing/2014/main" id="{0BA05EB5-9DC0-4DF0-AB8F-8E72BA2E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19275"/>
            <a:ext cx="352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同一 24 个候选模块</a:t>
            </a:r>
          </a:p>
        </p:txBody>
      </p:sp>
      <p:sp>
        <p:nvSpPr>
          <p:cNvPr id="6" name="15 个历史人工变体&#10;3 个正确基线&#10;3 个等价改写&#10;3 个">
            <a:extLst xmlns:a="http://schemas.openxmlformats.org/drawingml/2006/main">
              <a:ext uri="{FF2B5EF4-FFF2-40B4-BE49-F238E27FC236}">
                <a16:creationId xmlns:a16="http://schemas.microsoft.com/office/drawing/2014/main" id="{4D848A0C-7D90-449C-86A0-1BB26296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90800"/>
            <a:ext cx="3524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15 个历史人工变体</a:t>
            </a:r>
          </a:p>
          <a:p xmlns:a="http://schemas.openxmlformats.org/drawingml/2006/main">
            <a:pPr>
              <a:defRPr sz="210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3 个正确基线</a:t>
            </a:r>
          </a:p>
          <a:p xmlns:a="http://schemas.openxmlformats.org/drawingml/2006/main">
            <a:pPr>
              <a:defRPr sz="210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3 个等价改写</a:t>
            </a:r>
          </a:p>
          <a:p xmlns:a="http://schemas.openxmlformats.org/drawingml/2006/main">
            <a:pPr>
              <a:defRPr sz="210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3 个编译失败控制</a:t>
            </a:r>
          </a:p>
        </p:txBody>
      </p:sp>
      <p:sp>
        <p:nvSpPr>
          <p:cNvPr id="7" name="正确和等价控制无误报">
            <a:extLst xmlns:a="http://schemas.openxmlformats.org/drawingml/2006/main">
              <a:ext uri="{FF2B5EF4-FFF2-40B4-BE49-F238E27FC236}">
                <a16:creationId xmlns:a16="http://schemas.microsoft.com/office/drawing/2014/main" id="{CC73FCE5-357A-439A-AE28-25A22822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正确和等价控制无误报</a:t>
            </a:r>
          </a:p>
        </p:txBody>
      </p:sp>
      <p:sp>
        <p:nvSpPr>
          <p:cNvPr id="8" name="UART TX 新增逐位计时与 busy 释放期限。全 15">
            <a:extLst xmlns:a="http://schemas.openxmlformats.org/drawingml/2006/main">
              <a:ext uri="{FF2B5EF4-FFF2-40B4-BE49-F238E27FC236}">
                <a16:creationId xmlns:a16="http://schemas.microsoft.com/office/drawing/2014/main" id="{3B1C8B4D-5D66-405A-AEE1-8C436203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UART TX 新增逐位计时与 busy 释放期限。全 15 个外部人工变体的改进来自判据补全。</a:t>
            </a:r>
          </a:p>
        </p:txBody>
      </p:sp>
    </p:spTree>
    <p:extLst>
      <p:ext uri="{BB962C8B-B14F-4D97-AF65-F5344CB8AC3E}">
        <p14:creationId xmlns:p14="http://schemas.microsoft.com/office/powerpoint/2010/main" val="6842280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网页与命令行操作入口">
            <a:extLst xmlns:a="http://schemas.openxmlformats.org/drawingml/2006/main">
              <a:ext uri="{FF2B5EF4-FFF2-40B4-BE49-F238E27FC236}">
                <a16:creationId xmlns:a16="http://schemas.microsoft.com/office/drawing/2014/main" id="{D49A5E54-0B6C-4A82-8D6F-BBF818CC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网页与命令行操作入口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C2CA9-B2EA-4369-8A42-34C2F46C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5D61"/>
            </a:solidFill>
          </a:ln>
        </p:spPr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6A886248-5767-437A-B408-1CDD69B1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4" name="58 / 58">
            <a:extLst xmlns:a="http://schemas.openxmlformats.org/drawingml/2006/main">
              <a:ext uri="{FF2B5EF4-FFF2-40B4-BE49-F238E27FC236}">
                <a16:creationId xmlns:a16="http://schemas.microsoft.com/office/drawing/2014/main" id="{30530836-07E9-4FB6-A2CC-ECF18087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771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690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58 / 58</a:t>
            </a:r>
          </a:p>
        </p:txBody>
      </p:sp>
      <p:sp>
        <p:nvSpPr>
          <p:cNvPr id="5" name="UART 离线实跑比较一致&#10;29 个测试向量">
            <a:extLst xmlns:a="http://schemas.openxmlformats.org/drawingml/2006/main">
              <a:ext uri="{FF2B5EF4-FFF2-40B4-BE49-F238E27FC236}">
                <a16:creationId xmlns:a16="http://schemas.microsoft.com/office/drawing/2014/main" id="{A22031DE-ACDB-4C37-92F3-C662CFF7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377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UART 离线实跑比较一致</a:t>
            </a:r>
          </a:p>
          <a:p xmlns:a="http://schemas.openxmlformats.org/drawingml/2006/main">
            <a:pPr>
              <a:def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29 个测试向量</a:t>
            </a:r>
          </a:p>
        </p:txBody>
      </p:sp>
      <p:sp>
        <p:nvSpPr>
          <p:cNvPr id="6" name="输入与结果切页保留&#10;三种视口没有横向溢出&#10;CLI 保存原始运">
            <a:extLst xmlns:a="http://schemas.openxmlformats.org/drawingml/2006/main">
              <a:ext uri="{FF2B5EF4-FFF2-40B4-BE49-F238E27FC236}">
                <a16:creationId xmlns:a16="http://schemas.microsoft.com/office/drawing/2014/main" id="{BB379A4A-18AA-4F2B-B503-5512F91A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38100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输入与结果切页保留</a:t>
            </a:r>
          </a:p>
          <a:p xmlns:a="http://schemas.openxmlformats.org/drawingml/2006/main">
            <a:pPr>
              <a:def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三种视口没有横向溢出</a:t>
            </a:r>
          </a:p>
          <a:p xmlns:a="http://schemas.openxmlformats.org/drawingml/2006/main">
            <a:pPr>
              <a:def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CLI 保存原始运行工件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18426e0184c7f"/>
          <a:stretch xmlns:a="http://schemas.openxmlformats.org/drawingml/2006/main"/>
        </p:blipFill>
        <p:spPr>
          <a:xfrm xmlns:a="http://schemas.openxmlformats.org/drawingml/2006/main">
            <a:off x="4829175" y="1981065"/>
            <a:ext cx="6686550" cy="3295920"/>
          </a:xfrm>
          <a:prstGeom xmlns:a="http://schemas.openxmlformats.org/drawingml/2006/main" prst="rect">
            <a:avLst/>
          </a:prstGeom>
        </p:spPr>
      </p:pic>
      <p:sp>
        <p:nvSpPr>
          <p:cNvPr id="8" name="截图展示当前真实控件。本页运行数字来自离线 Icarus，在">
            <a:extLst xmlns:a="http://schemas.openxmlformats.org/drawingml/2006/main">
              <a:ext uri="{FF2B5EF4-FFF2-40B4-BE49-F238E27FC236}">
                <a16:creationId xmlns:a16="http://schemas.microsoft.com/office/drawing/2014/main" id="{BB750B75-1236-470E-9DB8-0BA86DF8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截图展示当前真实控件。本页运行数字来自离线 Icarus，在线 API 成绩另页说明。</a:t>
            </a:r>
          </a:p>
        </p:txBody>
      </p:sp>
    </p:spTree>
    <p:extLst>
      <p:ext uri="{BB962C8B-B14F-4D97-AF65-F5344CB8AC3E}">
        <p14:creationId xmlns:p14="http://schemas.microsoft.com/office/powerpoint/2010/main" val="16901358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运行证据与离线重放">
            <a:extLst xmlns:a="http://schemas.openxmlformats.org/drawingml/2006/main">
              <a:ext uri="{FF2B5EF4-FFF2-40B4-BE49-F238E27FC236}">
                <a16:creationId xmlns:a16="http://schemas.microsoft.com/office/drawing/2014/main" id="{14FB802B-10CA-4C43-9786-B06CD082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运行证据与离线重放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4DD86-2D5F-45BF-AABC-19437E3F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5D61"/>
            </a:solidFill>
          </a:ln>
        </p:spPr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DAC76682-DD08-41B6-BCAB-A2954467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4" name="每轮保留输入、计划、测试台与仿真记录">
            <a:extLst xmlns:a="http://schemas.openxmlformats.org/drawingml/2006/main">
              <a:ext uri="{FF2B5EF4-FFF2-40B4-BE49-F238E27FC236}">
                <a16:creationId xmlns:a16="http://schemas.microsoft.com/office/drawing/2014/main" id="{99FCC96B-AD53-4D37-BECB-AA731464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0287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每轮保留输入、计划、测试台与仿真记录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47700" y="2895600"/>
          <a:ext xmlns:a="http://schemas.openxmlformats.org/drawingml/2006/main" cx="107442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29590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工件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复核用途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RTL / 合约 / 计划 / TB 的 SHA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核对是否使用相同输入与判据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逐周期采样和检查结果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定位首次差异与未知证据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API 轨迹和停止原因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核对请求、预算和未完成任务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日志、波形和冻结快照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网络中断时仍可离线重放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</a:tbl>
          </a:graphicData>
        </a:graphic>
      </p:graphicFrame>
      <p:sp>
        <p:nvSpPr>
          <p:cNvPr id="6" name="同主机从冻结 ZIP 解包重放：0 API 请求，547 次">
            <a:extLst xmlns:a="http://schemas.openxmlformats.org/drawingml/2006/main">
              <a:ext uri="{FF2B5EF4-FFF2-40B4-BE49-F238E27FC236}">
                <a16:creationId xmlns:a16="http://schemas.microsoft.com/office/drawing/2014/main" id="{CD0E157F-0DE0-47D6-BCF6-C7823708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同主机从冻结 ZIP 解包重放：0 API 请求，547 次输出比较，0 差异。新 v2 证据另存。</a:t>
            </a:r>
          </a:p>
        </p:txBody>
      </p:sp>
    </p:spTree>
    <p:extLst>
      <p:ext uri="{BB962C8B-B14F-4D97-AF65-F5344CB8AC3E}">
        <p14:creationId xmlns:p14="http://schemas.microsoft.com/office/powerpoint/2010/main" val="18779377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历史 pilot 的五策略结果">
            <a:extLst xmlns:a="http://schemas.openxmlformats.org/drawingml/2006/main">
              <a:ext uri="{FF2B5EF4-FFF2-40B4-BE49-F238E27FC236}">
                <a16:creationId xmlns:a16="http://schemas.microsoft.com/office/drawing/2014/main" id="{49EFBE84-9EB9-4BB2-927D-0FDC68FC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历史 pilot 的五策略结果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8ED91-CF7D-4853-B653-9A575709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5D61"/>
            </a:solidFill>
          </a:ln>
        </p:spPr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F9B70936-0799-4B8A-BF60-67826DED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47700" y="1762125"/>
          <a:ext xmlns:a="http://schemas.openxmlformats.org/drawingml/2006/main" cx="6981825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00d8bf78234ec4"/>
          </a:graphicData>
        </a:graphic>
      </p:graphicFrame>
      <p:sp>
        <p:nvSpPr>
          <p:cNvPr id="5" name="4 / 8">
            <a:extLst xmlns:a="http://schemas.openxmlformats.org/drawingml/2006/main">
              <a:ext uri="{FF2B5EF4-FFF2-40B4-BE49-F238E27FC236}">
                <a16:creationId xmlns:a16="http://schemas.microsoft.com/office/drawing/2014/main" id="{06C096FC-A5A1-45BF-AAB5-C4CA11E1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19275"/>
            <a:ext cx="3105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690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4 / 8</a:t>
            </a:r>
          </a:p>
        </p:txBody>
      </p:sp>
      <p:sp>
        <p:nvSpPr>
          <p:cNvPr id="6" name="历史反馈 Agent 检出&#10;固定和随机各 5/8">
            <a:extLst xmlns:a="http://schemas.openxmlformats.org/drawingml/2006/main">
              <a:ext uri="{FF2B5EF4-FFF2-40B4-BE49-F238E27FC236}">
                <a16:creationId xmlns:a16="http://schemas.microsoft.com/office/drawing/2014/main" id="{6A9A1D7B-B424-4E2F-B2C4-CCF301AA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62275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历史反馈 Agent 检出</a:t>
            </a:r>
          </a:p>
          <a:p xmlns:a="http://schemas.openxmlformats.org/drawingml/2006/main">
            <a:pPr>
              <a:def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固定和随机各 5/8</a:t>
            </a:r>
          </a:p>
        </p:txBody>
      </p:sp>
      <p:sp>
        <p:nvSpPr>
          <p:cNvPr id="7" name="60 行 / 52 次 API 请求&#10;开发集，仅 1 次重复">
            <a:extLst xmlns:a="http://schemas.openxmlformats.org/drawingml/2006/main">
              <a:ext uri="{FF2B5EF4-FFF2-40B4-BE49-F238E27FC236}">
                <a16:creationId xmlns:a16="http://schemas.microsoft.com/office/drawing/2014/main" id="{0BB6660B-FA93-493D-A194-891C4934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862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60 行 / 52 次 API 请求</a:t>
            </a:r>
          </a:p>
          <a:p xmlns:a="http://schemas.openxmlformats.org/drawingml/2006/main">
            <a:pPr>
              <a:defRPr sz="195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开发集，仅 1 次重复</a:t>
            </a:r>
          </a:p>
          <a:p xmlns:a="http://schemas.openxmlformats.org/drawingml/2006/main">
            <a:pPr>
              <a:defRPr sz="195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冻结版本 e9b7b8a</a:t>
            </a:r>
          </a:p>
        </p:txBody>
      </p:sp>
      <p:sp>
        <p:nvSpPr>
          <p:cNvPr id="8" name="历史结果支持流程可运行，尚未证明 Agent 普遍提高检出率">
            <a:extLst xmlns:a="http://schemas.openxmlformats.org/drawingml/2006/main">
              <a:ext uri="{FF2B5EF4-FFF2-40B4-BE49-F238E27FC236}">
                <a16:creationId xmlns:a16="http://schemas.microsoft.com/office/drawing/2014/main" id="{E674B7AD-4B8E-4E6E-B9B1-7197665F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历史结果支持流程可运行，尚未证明 Agent 普遍提高检出率。失败与不可判定保留在分母。</a:t>
            </a:r>
          </a:p>
        </p:txBody>
      </p:sp>
    </p:spTree>
    <p:extLst>
      <p:ext uri="{BB962C8B-B14F-4D97-AF65-F5344CB8AC3E}">
        <p14:creationId xmlns:p14="http://schemas.microsoft.com/office/powerpoint/2010/main" val="8941530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gent v2：三次重复的真实结果">
            <a:extLst xmlns:a="http://schemas.openxmlformats.org/drawingml/2006/main">
              <a:ext uri="{FF2B5EF4-FFF2-40B4-BE49-F238E27FC236}">
                <a16:creationId xmlns:a16="http://schemas.microsoft.com/office/drawing/2014/main" id="{D2BA96FA-828E-4797-B81D-10BA5CDA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Agent v2：三次重复的真实结果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1C8B8-FC7E-44DE-A218-04FD14D9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5D61"/>
            </a:solidFill>
          </a:ln>
        </p:spPr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D9C398FB-B09F-4691-9218-CFD12D89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47700" y="1685925"/>
          <a:ext xmlns:a="http://schemas.openxmlformats.org/drawingml/2006/main" cx="10753725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29050"/>
                <a:gridCol w="1952625"/>
                <a:gridCol w="2286000"/>
                <a:gridCol w="2686050"/>
              </a:tblGrid>
              <a:tr h="42267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三次检出各/8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无仿真轮/36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API 请求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固定模板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 / 7 / 7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均匀随机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 / 8 / 8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协议随机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 / 8 / 8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单次 API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 / 0 / 2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33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36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反馈 Agent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 / 0 / 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41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无反馈 Agent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 / 0 / 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42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反馈 Agent（无覆盖）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 / 0 / 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</a:tbl>
          </a:graphicData>
        </a:graphic>
      </p:graphicFrame>
      <p:sp>
        <p:nvSpPr>
          <p:cNvPr id="5" name="137 次动作校验拒绝；125 行完全无仿真轮">
            <a:extLst xmlns:a="http://schemas.openxmlformats.org/drawingml/2006/main">
              <a:ext uri="{FF2B5EF4-FFF2-40B4-BE49-F238E27FC236}">
                <a16:creationId xmlns:a16="http://schemas.microsoft.com/office/drawing/2014/main" id="{3A39DCB4-F311-4EBB-B15A-29908536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075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137 次动作校验拒绝；125 行完全无仿真轮</a:t>
            </a:r>
          </a:p>
        </p:txBody>
      </p:sp>
      <p:sp>
        <p:nvSpPr>
          <p:cNvPr id="6" name="c7bb280：252 任务 / 157 API 请求，所有">
            <a:extLst xmlns:a="http://schemas.openxmlformats.org/drawingml/2006/main">
              <a:ext uri="{FF2B5EF4-FFF2-40B4-BE49-F238E27FC236}">
                <a16:creationId xmlns:a16="http://schemas.microsoft.com/office/drawing/2014/main" id="{3185CB02-5CFB-4C7B-8C49-F980809E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c7bb280：252 任务 / 157 API 请求，所有失败保留。缺少完整仿真证据，不能宣称 AI 或覆盖增益。</a:t>
            </a:r>
          </a:p>
        </p:txBody>
      </p:sp>
    </p:spTree>
    <p:extLst>
      <p:ext uri="{BB962C8B-B14F-4D97-AF65-F5344CB8AC3E}">
        <p14:creationId xmlns:p14="http://schemas.microsoft.com/office/powerpoint/2010/main" val="20349384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4：动作接通，检出仍待提升">
            <a:extLst xmlns:a="http://schemas.openxmlformats.org/drawingml/2006/main">
              <a:ext uri="{FF2B5EF4-FFF2-40B4-BE49-F238E27FC236}">
                <a16:creationId xmlns:a16="http://schemas.microsoft.com/office/drawing/2014/main" id="{E28F531E-0C2E-4925-893A-1D42ADDC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v4：动作接通，检出仍待提升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7953A-3C22-416B-B0BC-A4C7F430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5D61"/>
            </a:solidFill>
          </a:ln>
        </p:spPr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BD7E59D4-974D-47A6-BE02-EF3134F7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4" name="一次重复 / 同一开发集">
            <a:extLst xmlns:a="http://schemas.openxmlformats.org/drawingml/2006/main">
              <a:ext uri="{FF2B5EF4-FFF2-40B4-BE49-F238E27FC236}">
                <a16:creationId xmlns:a16="http://schemas.microsoft.com/office/drawing/2014/main" id="{E59FFDC7-9A59-475D-9D3D-684AF032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681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一次重复 / 同一开发集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47700" y="2228850"/>
          <a:ext xmlns:a="http://schemas.openxmlformats.org/drawingml/2006/main" cx="67056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71900"/>
                <a:gridCol w="1314450"/>
                <a:gridCol w="1619250"/>
              </a:tblGrid>
              <a:tr h="3714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检出/8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API 请求</a:t>
                      </a:r>
                    </a:p>
                  </a:txBody>
                  <a:tcPr marL="91440" marR="91440" marT="45720" marB="45720">
                    <a:solidFill>
                      <a:srgbClr val="11141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固定模板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均匀随机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协议随机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单次 API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反馈 Agent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29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无反馈 Agent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反馈 Agent（无覆盖）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2F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26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</a:tbl>
          </a:graphicData>
        </a:graphic>
      </p:graphicFrame>
      <p:sp>
        <p:nvSpPr>
          <p:cNvPr id="6" name="94 / 94">
            <a:extLst xmlns:a="http://schemas.openxmlformats.org/drawingml/2006/main">
              <a:ext uri="{FF2B5EF4-FFF2-40B4-BE49-F238E27FC236}">
                <a16:creationId xmlns:a16="http://schemas.microsoft.com/office/drawing/2014/main" id="{7730D65E-8C31-4D5D-AB07-5752DCE5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24025"/>
            <a:ext cx="3524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52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94 / 94</a:t>
            </a:r>
          </a:p>
        </p:txBody>
      </p:sp>
      <p:sp>
        <p:nvSpPr>
          <p:cNvPr id="7" name="API 决策 schema 通过 · 0 拒绝">
            <a:extLst xmlns:a="http://schemas.openxmlformats.org/drawingml/2006/main">
              <a:ext uri="{FF2B5EF4-FFF2-40B4-BE49-F238E27FC236}">
                <a16:creationId xmlns:a16="http://schemas.microsoft.com/office/drawing/2014/main" id="{9A133CC9-74C5-433C-8C1F-6410AA6C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6700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API 决策 schema 通过 · 0 拒绝</a:t>
            </a:r>
          </a:p>
        </p:txBody>
      </p:sp>
      <p:sp>
        <p:nvSpPr>
          <p:cNvPr id="8" name="28be1ed · 单次重复 · 84 任务&#10;94 请求 /">
            <a:extLst xmlns:a="http://schemas.openxmlformats.org/drawingml/2006/main">
              <a:ext uri="{FF2B5EF4-FFF2-40B4-BE49-F238E27FC236}">
                <a16:creationId xmlns:a16="http://schemas.microsoft.com/office/drawing/2014/main" id="{3FB2020F-D281-4E67-A17F-28026E89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3657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28be1ed · 单次重复 · 84 任务</a:t>
            </a:r>
          </a:p>
          <a:p xmlns:a="http://schemas.openxmlformats.org/drawingml/2006/main">
            <a:pPr>
              <a:defRPr sz="180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94 请求 / 上限 120</a:t>
            </a:r>
          </a:p>
          <a:p xmlns:a="http://schemas.openxmlformats.org/drawingml/2006/main">
            <a:pPr>
              <a:defRPr sz="180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201710 tokens</a:t>
            </a:r>
          </a:p>
        </p:txBody>
      </p:sp>
      <p:sp>
        <p:nvSpPr>
          <p:cNvPr id="9" name="1 个正确 UART 基线无仿真轮&#10;内部完整证据条件：未满足">
            <a:extLst xmlns:a="http://schemas.openxmlformats.org/drawingml/2006/main">
              <a:ext uri="{FF2B5EF4-FFF2-40B4-BE49-F238E27FC236}">
                <a16:creationId xmlns:a16="http://schemas.microsoft.com/office/drawing/2014/main" id="{6E37DF3D-8673-4179-8764-FD84280F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3657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1 个正确 UART 基线无仿真轮</a:t>
            </a:r>
          </a:p>
          <a:p xmlns:a="http://schemas.openxmlformats.org/drawingml/2006/main">
            <a:pPr>
              <a:defRPr sz="180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内部完整证据条件：未满足</a:t>
            </a:r>
          </a:p>
        </p:txBody>
      </p:sp>
      <p:sp>
        <p:nvSpPr>
          <p:cNvPr id="10" name="反馈 6/8、无反馈 7/8，均未超过随机 8/8；不能证明">
            <a:extLst xmlns:a="http://schemas.openxmlformats.org/drawingml/2006/main">
              <a:ext uri="{FF2B5EF4-FFF2-40B4-BE49-F238E27FC236}">
                <a16:creationId xmlns:a16="http://schemas.microsoft.com/office/drawing/2014/main" id="{0FA8B12B-CAD0-4669-A313-850D7B11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1F2F2"/>
                </a:solidFill>
                <a:latin typeface="Noto Sans SC"/>
                <a:ea typeface="Noto Sans SC"/>
                <a:cs typeface="Noto Sans SC"/>
              </a:rPr>
              <a:t>反馈 6/8、无反馈 7/8，均未超过随机 8/8；不能证明覆盖因果。</a:t>
            </a:r>
          </a:p>
        </p:txBody>
      </p:sp>
      <p:sp>
        <p:nvSpPr>
          <p:cNvPr id="11" name="新版本单次烟测不替换 c7。1 个 UART 正确基线执行失">
            <a:extLst xmlns:a="http://schemas.openxmlformats.org/drawingml/2006/main">
              <a:ext uri="{FF2B5EF4-FFF2-40B4-BE49-F238E27FC236}">
                <a16:creationId xmlns:a16="http://schemas.microsoft.com/office/drawing/2014/main" id="{FA43FBDD-3D08-41C2-8645-522C04DE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新版本单次烟测不替换 c7。1 个 UART 正确基线执行失败，内部完整证据条件未满足。</a:t>
            </a:r>
          </a:p>
          <a:p xmlns:a="http://schemas.openxmlformats.org/drawingml/2006/main">
            <a:pPr>
              <a:def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B1B8BB"/>
                </a:solidFill>
                <a:latin typeface="Noto Sans SC"/>
                <a:ea typeface="Noto Sans SC"/>
                <a:cs typeface="Noto Sans SC"/>
              </a:rPr>
              <a:t>后续：独立留出与多次重复、H01 真人试用、H02 独立人审。</a:t>
            </a:r>
          </a:p>
        </p:txBody>
      </p:sp>
    </p:spTree>
    <p:extLst>
      <p:ext uri="{BB962C8B-B14F-4D97-AF65-F5344CB8AC3E}">
        <p14:creationId xmlns:p14="http://schemas.microsoft.com/office/powerpoint/2010/main" val="211676545"/>
      </p:ext>
    </p:extLst>
  </p:cSld>
</p:sld>
</file>

<file path=ppt/theme/theme1.xml><?xml version="1.0" encoding="utf-8"?>
<a:theme xmlns:a="http://schemas.openxmlformats.org/drawingml/2006/main" name="ChatGPT">
  <a:themeElements>
    <a:clrScheme name="ICARUS charcoal">
      <a:dk1>
        <a:srgbClr val="111416"/>
      </a:dk1>
      <a:lt1>
        <a:srgbClr val="F1F2F2"/>
      </a:lt1>
      <a:dk2>
        <a:srgbClr val="1C2023"/>
      </a:dk2>
      <a:lt2>
        <a:srgbClr val="CCD2D5"/>
      </a:lt2>
      <a:accent1>
        <a:srgbClr val="00C8E8"/>
      </a:accent1>
      <a:accent2>
        <a:srgbClr val="727C82"/>
      </a:accent2>
      <a:accent3>
        <a:srgbClr val="B1B8BB"/>
      </a:accent3>
      <a:accent4>
        <a:srgbClr val="CED2D4"/>
      </a:accent4>
      <a:accent5>
        <a:srgbClr val="32383C"/>
      </a:accent5>
      <a:accent6>
        <a:srgbClr val="7A8286"/>
      </a:accent6>
      <a:hlink>
        <a:srgbClr val="00C8E8"/>
      </a:hlink>
      <a:folHlink>
        <a:srgbClr val="00C8E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CARUS charco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2026-10-04T14:35:40.2630000Z</dcterms:created>
  <dcterms:modified xsi:type="dcterms:W3CDTF">2026-10-04T14:35:40.2630000Z</dcterms:modified>
</coreProperties>
</file>