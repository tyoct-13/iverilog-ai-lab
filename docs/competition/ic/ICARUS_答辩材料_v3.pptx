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d1ed65609b4c80" /><Relationship Type="http://schemas.openxmlformats.org/officeDocument/2006/relationships/extended-properties" Target="/docProps/app.xml" Id="Rde5b8973957c4814" /><Relationship Type="http://schemas.openxmlformats.org/officeDocument/2006/relationships/officeDocument" Target="/ppt/presentation.xml" Id="R9bff32eb63cc42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6c013043854016"/>
  </p:sldMasterIdLst>
  <p:notesMasterIdLst>
    <p:notesMasterId xmlns:r="http://schemas.openxmlformats.org/officeDocument/2006/relationships" r:id="R24cd941b70e6407a"/>
  </p:notesMasterIdLst>
  <p:sldIdLst>
    <p:sldId xmlns:r="http://schemas.openxmlformats.org/officeDocument/2006/relationships" id="256" r:id="R0c8f8aeec616415f"/>
    <p:sldId xmlns:r="http://schemas.openxmlformats.org/officeDocument/2006/relationships" id="257" r:id="R73b7bca08cb44ddb"/>
    <p:sldId xmlns:r="http://schemas.openxmlformats.org/officeDocument/2006/relationships" id="258" r:id="Rb380406bee174d59"/>
    <p:sldId xmlns:r="http://schemas.openxmlformats.org/officeDocument/2006/relationships" id="259" r:id="R9a4ce301dab24b46"/>
    <p:sldId xmlns:r="http://schemas.openxmlformats.org/officeDocument/2006/relationships" id="260" r:id="R508d4c52a5484c36"/>
    <p:sldId xmlns:r="http://schemas.openxmlformats.org/officeDocument/2006/relationships" id="261" r:id="R5304aae93df84835"/>
    <p:sldId xmlns:r="http://schemas.openxmlformats.org/officeDocument/2006/relationships" id="262" r:id="R3197ce249d5446ab"/>
    <p:sldId xmlns:r="http://schemas.openxmlformats.org/officeDocument/2006/relationships" id="263" r:id="R217709faa1a44be2"/>
    <p:sldId xmlns:r="http://schemas.openxmlformats.org/officeDocument/2006/relationships" id="264" r:id="Rcfda8f6cfe904760"/>
    <p:sldId xmlns:r="http://schemas.openxmlformats.org/officeDocument/2006/relationships" id="265" r:id="R6998db66034c4d91"/>
    <p:sldId xmlns:r="http://schemas.openxmlformats.org/officeDocument/2006/relationships" id="266" r:id="R4ddf16420cc343cd"/>
    <p:sldId xmlns:r="http://schemas.openxmlformats.org/officeDocument/2006/relationships" id="267" r:id="Raac6f032c4354e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c5545e24f14f8b" /><Relationship Type="http://schemas.openxmlformats.org/officeDocument/2006/relationships/slideMaster" Target="/ppt/slideMasters/slideMaster1.xml" Id="Rf86c013043854016" /><Relationship Type="http://schemas.openxmlformats.org/officeDocument/2006/relationships/notesMaster" Target="/ppt/notesMasters/notesMaster1.xml" Id="R24cd941b70e6407a" /><Relationship Type="http://schemas.openxmlformats.org/officeDocument/2006/relationships/presProps" Target="/ppt/presProps.xml" Id="R3fa05aaff2da49d9" /><Relationship Type="http://schemas.openxmlformats.org/officeDocument/2006/relationships/tableStyles" Target="/ppt/tableStyles.xml" Id="R21a375468d664bc1" /><Relationship Type="http://schemas.openxmlformats.org/officeDocument/2006/relationships/slide" Target="/ppt/slides/slide1.xml" Id="R0c8f8aeec616415f" /><Relationship Type="http://schemas.openxmlformats.org/officeDocument/2006/relationships/slide" Target="/ppt/slides/slide2.xml" Id="R73b7bca08cb44ddb" /><Relationship Type="http://schemas.openxmlformats.org/officeDocument/2006/relationships/slide" Target="/ppt/slides/slide3.xml" Id="Rb380406bee174d59" /><Relationship Type="http://schemas.openxmlformats.org/officeDocument/2006/relationships/slide" Target="/ppt/slides/slide4.xml" Id="R9a4ce301dab24b46" /><Relationship Type="http://schemas.openxmlformats.org/officeDocument/2006/relationships/slide" Target="/ppt/slides/slide5.xml" Id="R508d4c52a5484c36" /><Relationship Type="http://schemas.openxmlformats.org/officeDocument/2006/relationships/slide" Target="/ppt/slides/slide6.xml" Id="R5304aae93df84835" /><Relationship Type="http://schemas.openxmlformats.org/officeDocument/2006/relationships/slide" Target="/ppt/slides/slide7.xml" Id="R3197ce249d5446ab" /><Relationship Type="http://schemas.openxmlformats.org/officeDocument/2006/relationships/slide" Target="/ppt/slides/slide8.xml" Id="R217709faa1a44be2" /><Relationship Type="http://schemas.openxmlformats.org/officeDocument/2006/relationships/slide" Target="/ppt/slides/slide9.xml" Id="Rcfda8f6cfe904760" /><Relationship Type="http://schemas.openxmlformats.org/officeDocument/2006/relationships/slide" Target="/ppt/slides/slide10.xml" Id="R6998db66034c4d91" /><Relationship Type="http://schemas.openxmlformats.org/officeDocument/2006/relationships/slide" Target="/ppt/slides/slide11.xml" Id="R4ddf16420cc343cd" /><Relationship Type="http://schemas.openxmlformats.org/officeDocument/2006/relationships/slide" Target="/ppt/slides/slide12.xml" Id="Raac6f032c4354e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2b0de402374c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CARUS charcoal cyan">
      <a:dk1>
        <a:srgbClr val="111517"/>
      </a:dk1>
      <a:lt1>
        <a:srgbClr val="F1F3F4"/>
      </a:lt1>
      <a:dk2>
        <a:srgbClr val="1C2023"/>
      </a:dk2>
      <a:lt2>
        <a:srgbClr val="D0D9DD"/>
      </a:lt2>
      <a:accent1>
        <a:srgbClr val="00C8E8"/>
      </a:accent1>
      <a:accent2>
        <a:srgbClr val="738188"/>
      </a:accent2>
      <a:accent3>
        <a:srgbClr val="B3BDC2"/>
      </a:accent3>
      <a:accent4>
        <a:srgbClr val="CFD8DC"/>
      </a:accent4>
      <a:accent5>
        <a:srgbClr val="343C40"/>
      </a:accent5>
      <a:accent6>
        <a:srgbClr val="7A858A"/>
      </a:accent6>
      <a:hlink>
        <a:srgbClr val="00C8E8"/>
      </a:hlink>
      <a:folHlink>
        <a:srgbClr val="00C8E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CARUS charcoal cy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2c9f90bfe4cae" /><Relationship Type="http://schemas.openxmlformats.org/officeDocument/2006/relationships/notesMaster" Target="/ppt/notesMasters/notesMaster1.xml" Id="Rbb3b0975b68647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bcdf03392f4aec" /><Relationship Type="http://schemas.openxmlformats.org/officeDocument/2006/relationships/notesMaster" Target="/ppt/notesMasters/notesMaster1.xml" Id="Rac6876a32d7143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bf49130dca41eb" /><Relationship Type="http://schemas.openxmlformats.org/officeDocument/2006/relationships/notesMaster" Target="/ppt/notesMasters/notesMaster1.xml" Id="R549fc5fc0a9c42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45635f3f144717" /><Relationship Type="http://schemas.openxmlformats.org/officeDocument/2006/relationships/notesMaster" Target="/ppt/notesMasters/notesMaster1.xml" Id="Rb8fd7e1acb2943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faadafb7aa496e" /><Relationship Type="http://schemas.openxmlformats.org/officeDocument/2006/relationships/notesMaster" Target="/ppt/notesMasters/notesMaster1.xml" Id="R81728789224645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0113a39ce147d1" /><Relationship Type="http://schemas.openxmlformats.org/officeDocument/2006/relationships/notesMaster" Target="/ppt/notesMasters/notesMaster1.xml" Id="R110276d2c1f246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b30172f0f34554" /><Relationship Type="http://schemas.openxmlformats.org/officeDocument/2006/relationships/notesMaster" Target="/ppt/notesMasters/notesMaster1.xml" Id="R15c3747f36a845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785d40ec4743cd" /><Relationship Type="http://schemas.openxmlformats.org/officeDocument/2006/relationships/notesMaster" Target="/ppt/notesMasters/notesMaster1.xml" Id="Rec8b3519e8ad4d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4d20467ffa4667" /><Relationship Type="http://schemas.openxmlformats.org/officeDocument/2006/relationships/notesMaster" Target="/ppt/notesMasters/notesMaster1.xml" Id="Ree71e37868b343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0b02bb56b743e1" /><Relationship Type="http://schemas.openxmlformats.org/officeDocument/2006/relationships/notesMaster" Target="/ppt/notesMasters/notesMaster1.xml" Id="R1113e7ec49d04f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7d58d26c164092" /><Relationship Type="http://schemas.openxmlformats.org/officeDocument/2006/relationships/notesMaster" Target="/ppt/notesMasters/notesMaster1.xml" Id="R91e244ac685944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ad145b5b8c47f7" /><Relationship Type="http://schemas.openxmlformats.org/officeDocument/2006/relationships/notesMaster" Target="/ppt/notesMasters/notesMaster1.xml" Id="Rb07eac73d2324b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ICARUS 是面向数字 IP 的验证智能体。它让第三方模型 API 根据正确规格和完整接口合约建议测试输入，由本地受控执行器生成测试台，使用真实 Icarus 仿真，再由独立于模型建议的判据解释结果。作品的可评估贡献是把测试规划、执行权限、预算和原件留存接成一个受控闭环。我们没有训练或微调基础模型，也没有提供本地模型权重。用户请求的模型名称是 4.1f，服务返回的模型标识为 deepseek-flash。接下来分别说明架构、新模块实验、真实失败和证据边界。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证据定位：docs/competition/ic/v3/material_data.json 的 api、uses_third_party_api_only、trained_or_finetuned_weights。新实验源码为 20400fa7dca0c9804a96b1eb9842956782a9e81f，核心 Agent/helper/System 先冻结于 a96933786c17986a739fc2da515db3294d6e8044。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材料事实源：docs/competition/ic/v3/material_data.json</a:t>
            </a:r>
          </a:p>
          <a:p xmlns:a="http://schemas.openxmlformats.org/drawingml/2006/main">
            <a:r>
              <a:t>事实源 SHA-256：33a11bcce08331a5ccf18ee1c7da05059a8978a4a233a87661ff409d2d1dc8b4</a:t>
            </a:r>
          </a:p>
          <a:p xmlns:a="http://schemas.openxmlformats.org/drawingml/2006/main">
            <a:r>
              <a:t>主要原件：docs/experiment/agent-new-holdout-study-live-2026-10-05/receipt.json</a:t>
            </a:r>
          </a:p>
          <a:p xmlns:a="http://schemas.openxmlformats.org/drawingml/2006/main">
            <a:r>
              <a:t>不使用虚构机构、队号、签字或真人参与记录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需求来自本项目的实际合约、执行日志和失败记录分析，没有虚构用户访谈、效率百分比或真人计时。以两项新合约为例，valid/data 流水线需要检验两级延迟、flush 优先级及 invalid 时输出归零；事件累计器需要检验使能条件、四位模 16 回绕和 clear 不受 enable 限制。一个能编译运行的输入序列仍可能遗漏这些边界。工具面向数字电路学习者、小型 IP 开发者和技术复核人员，提供可以回指输入、采样点和输出差异的记录。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证据定位：spec/agent_new_holdout_20261005/valid_data_pipeline_spec.md、event_accumulator_spec.md。旧 FIFO 及 UART 规格改进见 docs/experiment/protocol_oracle_improvements_2026-10-04.md。适用范围只覆盖已审计的合约与参数，不能扩展到任意 SoC 或物理签核。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材料事实源：docs/competition/ic/v3/material_data.json</a:t>
            </a:r>
          </a:p>
          <a:p xmlns:a="http://schemas.openxmlformats.org/drawingml/2006/main">
            <a:r>
              <a:t>事实源 SHA-256：33a11bcce08331a5ccf18ee1c7da05059a8978a4a233a87661ff409d2d1dc8b4</a:t>
            </a:r>
          </a:p>
          <a:p xmlns:a="http://schemas.openxmlformats.org/drawingml/2006/main">
            <a:r>
              <a:t>主要原件：docs/experiment/agent-new-holdout-study-live-2026-10-05/receipt.json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图中各阶段均为可编辑原生对象。模型只收到正确规格、完整接口合约、允许驱动的输入、自己的计划、剩余预算及允许的执行反馈。它不能修改目标 RTL、判据、执行命令或受支持设计的期望值，私有变体 RTL、目标标签、路径和 witness 不进入请求。执行器先做动作格式、输入权限和预算检查，再实际仿真。每个实际 episode 具有独立 DUT 实例和自动复位，随后在正确 RTL 上独立重放同一计划并比较每个 after-edge 采样的全部输出。新接口包含 i_clk 和异步低有效 i_rstn，周期 10ns，自动复位 2 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证据定位：src/iverilog_ai/ai/agent.py、src/iverilog_ai/core/pipeline.py、scripts/run_agent_new_holdout_study.py。逐请求 canonical body SHA、消息 SHA 与原件绑定见 docs/review/agent-new-holdout-study-review-2026-10-05/trace-audit.json。账本保留的是 canonical JSON SHA，原始 HTTP wire-order body 字节未单独存档。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材料事实源：docs/competition/ic/v3/material_data.json</a:t>
            </a:r>
          </a:p>
          <a:p xmlns:a="http://schemas.openxmlformats.org/drawingml/2006/main">
            <a:r>
              <a:t>事实源 SHA-256：33a11bcce08331a5ccf18ee1c7da05059a8978a4a233a87661ff409d2d1dc8b4</a:t>
            </a:r>
          </a:p>
          <a:p xmlns:a="http://schemas.openxmlformats.org/drawingml/2006/main">
            <a:r>
              <a:t>主要原件：docs/experiment/agent-new-holdout-study-live-2026-10-05/receipt.json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这一批登记 2 个新模块，每个模块包含正确、B、C 三个目标，采用 3 次重复和 6 种策略，合计 108 任务。每种策略有 4 个不同缺陷乘 3 次重复，即 12 个缺陷任务，另有 6 个正确任务。新模块成员与此前五个受控 API 批次不重叠，Agent、helper 和 System 在新模块生成前已经冻结。设计、变体和实验仍来自同一团队，因此这里称内部模块集合留出。没有独立时间戳证明选型早于旧 v8 成绩，也没有外部盲测或预训练未见证明。不能把内部成员不重叠扩大解释为外部独立评估。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证据定位：docs/experiment/agent_new_holdout_study_plan_2026-10-05.md、spec/agent_new_holdout_study_1m_v8.json、benchmarks/agent_new_holdout_20261005/manifest.json。三项核心冻结 SHA 和原字节快照由新实验审计核对。所有 108 项均已真实执行。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材料事实源：docs/competition/ic/v3/material_data.json</a:t>
            </a:r>
          </a:p>
          <a:p xmlns:a="http://schemas.openxmlformats.org/drawingml/2006/main">
            <a:r>
              <a:t>事实源 SHA-256：33a11bcce08331a5ccf18ee1c7da05059a8978a4a233a87661ff409d2d1dc8b4</a:t>
            </a:r>
          </a:p>
          <a:p xmlns:a="http://schemas.openxmlformats.org/drawingml/2006/main">
            <a:r>
              <a:t>主要原件：docs/experiment/agent-new-holdout-study-live-2026-10-05/receipt.json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新批使用独立的 1,000,000 input+output token 上限，不扣历史用量，也不用于补齐旧失败行。实际 87 次收费请求，输入 301,910、输出 37,714，合计 339,624 reported tokens，unknown 和 pending 均为零。这个数字是服务方报告的 token 用量，不是货币账单。单次 API 至多 1 请求和 1 实际 episode；反馈与无反馈各至多 3 个共享请求和 3 个实际 episode。格式错误和周期预算拒绝后的补提均是收费新请求，仍共用原任务上限。每个任务累计刺激拍至多 24，每次提案至多 12 向量，累计接受至多 64。独立自动复位和正确 RTL 重放成本单列。传输配置为 thinking disabled、非流式、4096 输出上限、60 秒超时和零自动重试。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证据定位：docs/experiment/agent_new_holdout_study_budget_2026-10-05.json、新公开 token_budget.json、preregistration.json、run_settings.json。理论请求上限 126 不是实际请求数。剩余预算不授权追加独立补批，store=False 是客户端配置而非第三方数据保留行为的证明。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材料事实源：docs/competition/ic/v3/material_data.json</a:t>
            </a:r>
          </a:p>
          <a:p xmlns:a="http://schemas.openxmlformats.org/drawingml/2006/main">
            <a:r>
              <a:t>事实源 SHA-256：33a11bcce08331a5ccf18ee1c7da05059a8978a4a233a87661ff409d2d1dc8b4</a:t>
            </a:r>
          </a:p>
          <a:p xmlns:a="http://schemas.openxmlformats.org/drawingml/2006/main">
            <a:r>
              <a:t>主要原件：docs/experiment/agent-new-holdout-study-live-2026-10-05/receipt.json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条形图直接使用原生图表和嵌入式 literal workbook，分母统一为每策略 12 个登记缺陷任务。固定测试 12、均匀随机 10、协议随机 8、单次 API 8、反馈 Agent 11、无反馈 10。固定测试最好。反馈比均匀随机和无反馈各多 1 项，但只有 4 个不同缺陷和 3 次重复，预算、提案及早停行为也不同，因此不能声称因果、显著性或普适工业收益。全部 36 个正确任务实际执行且没有误报。strict=true 只表示内部完整证据资格满足，并不表示全部动作成功，第 108 行仍以终态格式失败留在完整分母。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证据定位：docs/experiment/agent-new-holdout-study-live-2026-10-05/strict_summary.json、receipt.json。每策略 repeated detections 分别为固定 4/4/4、均匀随机 4/3/3、协议随机 4/2/2、单次 API 2/2/4、反馈 4/4/3、无反馈 3/3/4。不同重复不视为不同独立缺陷。首次实际检出 episode：单次 API 首轮 8；反馈首轮 6、第二轮 5；无反馈首轮 8、第二轮 1、第三轮 1。后续 episode 实际找到反例说明闭环有可观察行为，不能据此证明反馈因果。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材料事实源：docs/competition/ic/v3/material_data.json</a:t>
            </a:r>
          </a:p>
          <a:p xmlns:a="http://schemas.openxmlformats.org/drawingml/2006/main">
            <a:r>
              <a:t>事实源 SHA-256：33a11bcce08331a5ccf18ee1c7da05059a8978a4a233a87661ff409d2d1dc8b4</a:t>
            </a:r>
          </a:p>
          <a:p xmlns:a="http://schemas.openxmlformats.org/drawingml/2006/main">
            <a:r>
              <a:t>主要原件：docs/experiment/agent-new-holdout-study-live-2026-10-05/receipt.json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80 个 Agent 实际 episode 都保存了完整端口反馈文档。原始有限采样共有 826 点，helper 返回 701 点、省略 125 点。每份最多 12 个端点及等间隔样本，省略和 X/Z 语义保留，实际这批没有 X/Z。这是有限绑定端口流的 complete，不能表示所有设计行为完整覆盖。保存反馈文档和真正发送给模型的反馈 STATE 要分开：只有反馈策略的 20 个后续已发送 STATE 带端口事实，合计返回 180 点、省略 12 点。无反馈的 31 个已发送 STATE 中 observation、plan_error、latest_decision_error 全为 None，但其中 12 个仍保留自己的 current_plan 和减少后的预算，执行器也仍早停。两个新模块的功能覆盖状态是 unsupported/unknown，不补造命名 bins。24 个命名 bins 只属于旧四个配置。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证据定位：trace-audit.json 的 paid_model_state_port_facts 和 helper 重建计数，新 receipt.json 的 port_observation_episodes。helper 绑定 RTL、plan、contract、TB、采样包、stdout 与执行结果，端口投影不含期望值和私有路径。X/Z 的保留机制由既有审计验证，本轮材料没有重新执行测试。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材料事实源：docs/competition/ic/v3/material_data.json</a:t>
            </a:r>
          </a:p>
          <a:p xmlns:a="http://schemas.openxmlformats.org/drawingml/2006/main">
            <a:r>
              <a:t>事实源 SHA-256：33a11bcce08331a5ccf18ee1c7da05059a8978a4a233a87661ff409d2d1dc8b4</a:t>
            </a:r>
          </a:p>
          <a:p xmlns:a="http://schemas.openxmlformats.org/drawingml/2006/main">
            <a:r>
              <a:t>主要原件：docs/experiment/agent-new-holdout-study-live-2026-10-05/receipt.json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 87 个原 API 响应都保存，其中 86 个可解析 JSON、1 个不可解析；不隐藏 paid failure。85 个响应通过 schema、2 个格式拒绝。5 个预算拒绝属于 schema 通过的子集，不能加到 85 和 2 之上形成 92 请求。预算拒绝花费 23,991 tokens，其中 2 个任务后续真正执行，1 个后续检出。格式拒绝花费 9,274 tokens，其中 1 个任务后续执行 2 个 episode，没有后续检出。legacy preflight 有标与无标均为零，不能只数 retry_eligible 就宣称其它拒绝为零。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108 行，即 zero-based index 107，对应 event_accumulator、mutation_c、反馈策略、seed 2。请求 1 实际执行 14 拍且没有检出，请求 2 因剩余刺激预算拒绝，请求 3 格式拒绝后达到原 3 请求上限，终态为 decision_format_error。它有 1 个实际 episode、证据核验有效，仍作为未检出失败保留在分母。拒绝后的执行和检出只作描述，不构成反馈的因果收益。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证据定位：trace-audit.json 的 all_paid_rejection_events、explicit_error_classification、traces[sample=107]；原轨迹 sample-107/agent/agent_trajectory.json 与原响应在公开 traces_and_decisions.zip 和 full_raw_evidence.zip 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材料事实源：docs/competition/ic/v3/material_data.json</a:t>
            </a:r>
          </a:p>
          <a:p xmlns:a="http://schemas.openxmlformats.org/drawingml/2006/main">
            <a:r>
              <a:t>事实源 SHA-256：33a11bcce08331a5ccf18ee1c7da05059a8978a4a233a87661ff409d2d1dc8b4</a:t>
            </a:r>
          </a:p>
          <a:p xmlns:a="http://schemas.openxmlformats.org/drawingml/2006/main">
            <a:r>
              <a:t>主要原件：docs/experiment/agent-new-holdout-study-live-2026-10-05/receipt.json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证据链从冻结输入快照开始，绑定 458 项登记输入，实际保存 4,359 个 raw 文件。公开 full_raw_manifest 与 ZIP 使用原字节，未把格式失败改写成成功。压缩 raw archive 为 7,027,646 字节，未压缩原文件总量 64,589,914 字节，两者口径不同。Git 绑定 446 项 exact、12 项只存在换行差异，因此原始登记快照仍为权威，不能声称干净 checkout 每字节相同。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两类审计身份要分开。核心审计由非实现者代理完成 2,192 个机器检查，包括 1,923 加 269；这仍不是真人独立人审。轨迹审计由实验 entry 代码作者检查 54 条轨迹和 87 次请求，明确非独立于入口作者、非 H02。核心输出重算 6,214 项、VCD 端口值核对 27,434 项；这些数字分别表示有限机器证据，不等于真人评测人数。所有机器审计都没有追加 API 或 DUT。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证据定位：docs/review/agent-new-holdout-study-review-2026-10-05/core-audit.json、trace-audit.json、receipt.json；新 full_raw_manifest.json、registered_inputs_manifest.json、source_byte_binding.json。source_checksums.json 保存本材料实际引用原件及 authoring source 的 SHA。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材料事实源：docs/competition/ic/v3/material_data.json</a:t>
            </a:r>
          </a:p>
          <a:p xmlns:a="http://schemas.openxmlformats.org/drawingml/2006/main">
            <a:r>
              <a:t>事实源 SHA-256：33a11bcce08331a5ccf18ee1c7da05059a8978a4a233a87661ff409d2d1dc8b4</a:t>
            </a:r>
          </a:p>
          <a:p xmlns:a="http://schemas.openxmlformats.org/drawingml/2006/main">
            <a:r>
              <a:t>主要原件：docs/experiment/agent-new-holdout-study-live-2026-10-05/receipt.json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 v8 批次登记 432 任务、414 实际执行，18 个没有 DUT episode。每策略缺陷分母为 48，检出依次为 48、32、48、29、37、37；306 请求、973,149 tokens。144 个正确任务中 143 实际执行，没有实际误报，1 个未执行，所以不能写成 144/144 都通过。strict=false 表示该批完整证据资格不满足，未执行和其它失败仍保留。旧表与新 108 的模块集合、缺陷分母和预算不同，不合并为一个总检出率，也不画同一增益趋势。新 1M 批预算独立，不补跑旧 token_budget 失败行。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证据定位：docs/experiment/agent-feedback-study-live-2026-10-05/receipt.json、strict_summary.json、docs/experiment/agent_feedback_study_live_2026-10-05.md。旧源码冻结为 a96933786c17986a739fc2da515db3294d6e8044。本页保持旧批身份与真实失败，不代表新模块的旧版本成绩。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材料事实源：docs/competition/ic/v3/material_data.json</a:t>
            </a:r>
          </a:p>
          <a:p xmlns:a="http://schemas.openxmlformats.org/drawingml/2006/main">
            <a:r>
              <a:t>事实源 SHA-256：33a11bcce08331a5ccf18ee1c7da05059a8978a4a233a87661ff409d2d1dc8b4</a:t>
            </a:r>
          </a:p>
          <a:p xmlns:a="http://schemas.openxmlformats.org/drawingml/2006/main">
            <a:r>
              <a:t>主要原件：docs/experiment/agent-new-holdout-study-live-2026-10-05/receipt.json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这一页说明为什么判据不能只依赖模型的自述。FIFO 旧 RTL 与旧 reference model 曾共享计数错误。独立 deque 规格检查发现中间占用时同时接受读写，占用量应净零改变。第 5 拍读 25、写 99 后，队列从 [25,66] 变为 [66,99]，占用量仍为 2。第 7 拍首次出现 full 端口差异，旧实现为 0、队列应为 1、修复后为 1。同一 76 拍、228 次输出比较，差异从 66 变为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右侧是同字节冻结的外部历史候选集合，24 个候选包含 15 个人工变体、3 个正确基线、3 个等价改写和 3 个编译失败控制。补全人工 UART TX 计时 SPEC 后，15 个人工变体的检出从 13/15 变为 15/15。正确和等价控制没有误报，编译控制单列。它来自同作者的两个仓库，有限流程，不是独立外部盲测，更不是 AI 成绩或 AI 自动发现缺陷的证明。此页所有历史数字只说明规格独立性和受支持判据修复。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证据定位：docs/experiment/protocol_oracle_improvements_2026-10-04.md，旧 FIFO before/after evidence.json 与 external/replay-20261004-protocol-v2/evidence.json 的原 SHA 随本材料绑定。没有新增 DUT 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材料事实源：docs/competition/ic/v3/material_data.json</a:t>
            </a:r>
          </a:p>
          <a:p xmlns:a="http://schemas.openxmlformats.org/drawingml/2006/main">
            <a:r>
              <a:t>事实源 SHA-256：33a11bcce08331a5ccf18ee1c7da05059a8978a4a233a87661ff409d2d1dc8b4</a:t>
            </a:r>
          </a:p>
          <a:p xmlns:a="http://schemas.openxmlformats.org/drawingml/2006/main">
            <a:r>
              <a:t>主要原件：docs/experiment/agent-new-holdout-study-live-2026-10-05/receipt.json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现有机器工程记录为 2,033 通过、2 跳过、0 失败，mypy 88 源文件零错，535 个冻结指纹无变化。这是工程回归记录，不是 AI 效果或真人验收。范围限于已审计合约与参数、有限刺激拍和有限输出采样。新模块属于同团队合成集合，没有外部盲测、预训练未见、因果或普适收益证明。硬件验证、异机 Actions、真人试用和独立人工 H02 原件尚未提供；12 项严格 RTL 样式残项和 WaveDrom 3.6.1 缺失仍披露，不能填假想通过。真人和 H02 是内部证据完善项，官方规则未将它们列为硬门槛。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投递材料按官方要求组织：技术方案 PDF 不超过 10MB，答辩交 PDF，佐证合并为一份 PDF，视频可选为 3–5 分钟 MP4、不超过 300MB，截止 2026 年 10 月 15 日 20:00。本答辩 PDF 为图像式导出，编辑请使用 PPTX。最终目标是让每个数字、失败与限制都有可定位原件，后续扩展必须用新的预登记实验说明。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官方来源：material_data.json 的 rules，核验日期 2026-10-05。通知 https://www.aicomp.cn/notice/4756.html ，规则和技术报告大纲的完整官方 URL 保存在该事实源并写入此页备注。最终投递文件名按真实队号-赛题名称-作品名称-材料名称组织，目前未提供真实队号，所以保留内部 v3 文件名而不填虚构编号。工程来源：docs/experiment/agent_new_holdout_source_validation_2026-10-05.md。当前未在 Microsoft PowerPoint/LibreOffice/Google Slides 打开验证，不能将 artifact-tool 预览等同于 Native Office 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材料事实源：docs/competition/ic/v3/material_data.json</a:t>
            </a:r>
          </a:p>
          <a:p xmlns:a="http://schemas.openxmlformats.org/drawingml/2006/main">
            <a:r>
              <a:t>事实源 SHA-256：33a11bcce08331a5ccf18ee1c7da05059a8978a4a233a87661ff409d2d1dc8b4</a:t>
            </a:r>
          </a:p>
          <a:p xmlns:a="http://schemas.openxmlformats.org/drawingml/2006/main">
            <a:r>
              <a:t>主要原件：docs/experiment/agent-new-holdout-study-live-2026-10-05/receipt.json</a:t>
            </a:r>
          </a:p>
          <a:p xmlns:a="http://schemas.openxmlformats.org/drawingml/2006/main">
            <a:r>
              <a:t>官方通知：https://www.aicomp.cn/notice/4756.html</a:t>
            </a:r>
          </a:p>
          <a:p xmlns:a="http://schemas.openxmlformats.org/drawingml/2006/main">
            <a:r>
              <a:t>规则 PDF：https://www.aicomp.cn/wp-content/uploads/2026/07/%E9%99%84%E4%BB%B61AIC%C2%B7AI%E9%9B%86%E6%88%90%E7%94%B5%E8%B7%AF%E7%AB%9E%E8%B5%9B%E8%A7%84%E5%88%99%E5%8F%8A%E4%BD%9C%E5%93%81%E6%8F%90%E4%BA%A4%E8%A6%81%E6%B1%82.pdf</a:t>
            </a:r>
          </a:p>
          <a:p xmlns:a="http://schemas.openxmlformats.org/drawingml/2006/main">
            <a:r>
              <a:t>参考大纲 PDF：https://www.aicomp.cn/wp-content/uploads/2026/07/%E9%99%84%E4%BB%B62AIC%C2%B7AI%E9%9B%86%E6%88%90%E7%94%B5%E8%B7%AF%E6%8A%80%E6%9C%AF%E6%8A%A5%E5%91%8A%E5%8F%82%E8%80%83%E5%A4%A7%E7%BA%B2.pdf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9d7e0b6fa49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d6034c0ed04247" /><Relationship Type="http://schemas.openxmlformats.org/officeDocument/2006/relationships/slideLayout" Target="/ppt/slideLayouts/slideLayout1.xml" Id="R762ef4268f134a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2ef4268f134a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CARUS charcoal cyan">
      <a:dk1>
        <a:srgbClr val="111517"/>
      </a:dk1>
      <a:lt1>
        <a:srgbClr val="F1F3F4"/>
      </a:lt1>
      <a:dk2>
        <a:srgbClr val="1C2023"/>
      </a:dk2>
      <a:lt2>
        <a:srgbClr val="D0D9DD"/>
      </a:lt2>
      <a:accent1>
        <a:srgbClr val="00C8E8"/>
      </a:accent1>
      <a:accent2>
        <a:srgbClr val="738188"/>
      </a:accent2>
      <a:accent3>
        <a:srgbClr val="B3BDC2"/>
      </a:accent3>
      <a:accent4>
        <a:srgbClr val="CFD8DC"/>
      </a:accent4>
      <a:accent5>
        <a:srgbClr val="343C40"/>
      </a:accent5>
      <a:accent6>
        <a:srgbClr val="7A858A"/>
      </a:accent6>
      <a:hlink>
        <a:srgbClr val="00C8E8"/>
      </a:hlink>
      <a:folHlink>
        <a:srgbClr val="00C8E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CARUS charcoal cy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b0df0f48a425e" /><Relationship Type="http://schemas.openxmlformats.org/officeDocument/2006/relationships/notesSlide" Target="/ppt/notesSlides/notesSlide1.xml" Id="R659bf499229c42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ca619dbc84162" /><Relationship Type="http://schemas.openxmlformats.org/officeDocument/2006/relationships/notesSlide" Target="/ppt/notesSlides/notesSlide2.xml" Id="Re14297383c9147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664f8d2a849eb" /><Relationship Type="http://schemas.openxmlformats.org/officeDocument/2006/relationships/notesSlide" Target="/ppt/notesSlides/notesSlide3.xml" Id="R79fe8d51c9a64c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165f00dd0472e" /><Relationship Type="http://schemas.openxmlformats.org/officeDocument/2006/relationships/notesSlide" Target="/ppt/notesSlides/notesSlide4.xml" Id="Rdb1babeaf47d45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6e0eb0b264445" /><Relationship Type="http://schemas.openxmlformats.org/officeDocument/2006/relationships/notesSlide" Target="/ppt/notesSlides/notesSlide5.xml" Id="Reb3029adcab24e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e8a4b3c2647b5" /><Relationship Type="http://schemas.openxmlformats.org/officeDocument/2006/relationships/chart" Target="/ppt/slides/charts/chart1.xml" Id="R08201f7e27d04526" /><Relationship Type="http://schemas.openxmlformats.org/officeDocument/2006/relationships/notesSlide" Target="/ppt/notesSlides/notesSlide6.xml" Id="R0b475584678e4b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b4eee42f14b8d" /><Relationship Type="http://schemas.openxmlformats.org/officeDocument/2006/relationships/notesSlide" Target="/ppt/notesSlides/notesSlide7.xml" Id="Rd8ca5f2e8d7d4a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00df6d6274599" /><Relationship Type="http://schemas.openxmlformats.org/officeDocument/2006/relationships/notesSlide" Target="/ppt/notesSlides/notesSlide8.xml" Id="R4eed52f8fbf34d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455ca35664d76" /><Relationship Type="http://schemas.openxmlformats.org/officeDocument/2006/relationships/notesSlide" Target="/ppt/notesSlides/notesSlide9.xml" Id="R5fd6ff027aba42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aa2edca174b65" /><Relationship Type="http://schemas.openxmlformats.org/officeDocument/2006/relationships/notesSlide" Target="/ppt/notesSlides/notesSlide10.xml" Id="R7eabf3dd6d9b4a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83b6d9a044b0f" /><Relationship Type="http://schemas.openxmlformats.org/officeDocument/2006/relationships/chart" Target="/ppt/slides/charts/chart2.xml" Id="R2a6204d7b4f74690" /><Relationship Type="http://schemas.openxmlformats.org/officeDocument/2006/relationships/chart" Target="/ppt/slides/charts/chart3.xml" Id="R084caac39af04f75" /><Relationship Type="http://schemas.openxmlformats.org/officeDocument/2006/relationships/notesSlide" Target="/ppt/notesSlides/notesSlide11.xml" Id="Rec40c310282c49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de436789c432e" /><Relationship Type="http://schemas.openxmlformats.org/officeDocument/2006/relationships/notesSlide" Target="/ppt/notesSlides/notesSlide12.xml" Id="R6d08b285b7c24c4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实际观测</c:v>
          </c:tx>
          <c:spPr>
            <a:solidFill xmlns:a="http://schemas.openxmlformats.org/drawingml/2006/main">
              <a:srgbClr val="738188"/>
            </a:solidFill>
          </c:spPr>
          <c:dPt>
            <c:idx val="5"/>
            <c:invertIfNegative val="0"/>
            <c:spPr>
              <a:solidFill xmlns:a="http://schemas.openxmlformats.org/drawingml/2006/main">
                <a:srgbClr val="BBC8C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C8E8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无反馈 Agent</c:v>
                </c:pt>
                <c:pt idx="1">
                  <c:v>反馈 Agent</c:v>
                </c:pt>
                <c:pt idx="2">
                  <c:v>单次 API</c:v>
                </c:pt>
                <c:pt idx="3">
                  <c:v>协议随机</c:v>
                </c:pt>
                <c:pt idx="4">
                  <c:v>均匀随机</c:v>
                </c:pt>
                <c:pt idx="5">
                  <c:v>固定测试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</c:v>
                </c:pt>
                <c:pt idx="1">
                  <c:v>11</c:v>
                </c:pt>
                <c:pt idx="2">
                  <c:v>8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F1F3F4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56616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56616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1C2023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1C2023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实际观测</c:v>
          </c:tx>
          <c:spPr>
            <a:solidFill xmlns:a="http://schemas.openxmlformats.org/drawingml/2006/main">
              <a:srgbClr val="73818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0C8E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修复后</c:v>
                </c:pt>
                <c:pt idx="1">
                  <c:v>修复前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F1F3F4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56616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56616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1C2023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1C2023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实际观测</c:v>
          </c:tx>
          <c:spPr>
            <a:solidFill xmlns:a="http://schemas.openxmlformats.org/drawingml/2006/main">
              <a:srgbClr val="73818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0C8E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补全计时后</c:v>
                </c:pt>
                <c:pt idx="1">
                  <c:v>旧人工规格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15</c:v>
                </c:pt>
                <c:pt idx="1">
                  <c:v>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F1F3F4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56616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56616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1C2023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1C2023"/>
    </a:solidFill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ICARUS">
            <a:extLst xmlns:a="http://schemas.openxmlformats.org/drawingml/2006/main">
              <a:ext uri="{FF2B5EF4-FFF2-40B4-BE49-F238E27FC236}">
                <a16:creationId xmlns:a16="http://schemas.microsoft.com/office/drawing/2014/main" id="{604A16B6-9BFD-40DF-9934-C930F6C7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pPr>
            <a:r>
              <a: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rPr>
              <a:t>ICARUS</a:t>
            </a:r>
          </a:p>
        </p:txBody>
      </p:sp>
      <p:sp>
        <p:nvSpPr>
          <p:cNvPr id="2" name="数字 IP 验证智能体">
            <a:extLst xmlns:a="http://schemas.openxmlformats.org/drawingml/2006/main">
              <a:ext uri="{FF2B5EF4-FFF2-40B4-BE49-F238E27FC236}">
                <a16:creationId xmlns:a16="http://schemas.microsoft.com/office/drawing/2014/main" id="{6D77EBFA-6297-4F54-A245-C9C26C84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数字 IP 验证智能体</a:t>
            </a:r>
          </a:p>
        </p:txBody>
      </p:sp>
      <p:sp>
        <p:nvSpPr>
          <p:cNvPr id="3" name="第三方 API 建议测试输入&#10;真实 Icarus 仿真与独立判据">
            <a:extLst xmlns:a="http://schemas.openxmlformats.org/drawingml/2006/main">
              <a:ext uri="{FF2B5EF4-FFF2-40B4-BE49-F238E27FC236}">
                <a16:creationId xmlns:a16="http://schemas.microsoft.com/office/drawing/2014/main" id="{0421FCED-2F8D-47B6-821E-84AC207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第三方 API 建议测试输入</a:t>
            </a:r>
          </a:p>
          <a:p xmlns:a="http://schemas.openxmlformats.org/drawingml/2006/main">
            <a:pPr>
              <a:defRPr sz="2400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真实 Icarus 仿真与独立判据核验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C611E-FE7F-4EEB-9366-0B1AF46A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8E8"/>
            </a:solidFill>
          </a:ln>
        </p:spPr>
      </p:sp>
      <p:sp>
        <p:nvSpPr>
          <p:cNvPr id="5" name="AI+集成电路    2026-10-05">
            <a:extLst xmlns:a="http://schemas.openxmlformats.org/drawingml/2006/main">
              <a:ext uri="{FF2B5EF4-FFF2-40B4-BE49-F238E27FC236}">
                <a16:creationId xmlns:a16="http://schemas.microsoft.com/office/drawing/2014/main" id="{13DEADBB-43B4-43DB-96E3-CDF4A5A4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9620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AI+集成电路    2026-10-05</a:t>
            </a:r>
          </a:p>
        </p:txBody>
      </p:sp>
    </p:spTree>
    <p:extLst>
      <p:ext uri="{BB962C8B-B14F-4D97-AF65-F5344CB8AC3E}">
        <p14:creationId xmlns:p14="http://schemas.microsoft.com/office/powerpoint/2010/main" val="1914815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数字 IP 的验证需求">
            <a:extLst xmlns:a="http://schemas.openxmlformats.org/drawingml/2006/main">
              <a:ext uri="{FF2B5EF4-FFF2-40B4-BE49-F238E27FC236}">
                <a16:creationId xmlns:a16="http://schemas.microsoft.com/office/drawing/2014/main" id="{4578F482-A2FD-47CB-849D-2F4218FA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数字 IP 的验证需求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39DF5-3896-449B-AEE3-A539FEA1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D00EFC94-E01E-4EA1-AF23-716BCF56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4" name="可运行的输入仍可能遗漏时序边界">
            <a:extLst xmlns:a="http://schemas.openxmlformats.org/drawingml/2006/main">
              <a:ext uri="{FF2B5EF4-FFF2-40B4-BE49-F238E27FC236}">
                <a16:creationId xmlns:a16="http://schemas.microsoft.com/office/drawing/2014/main" id="{906F7B94-483A-4489-B14F-40016A7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可运行的输入仍可能遗漏时序边界</a:t>
            </a:r>
          </a:p>
        </p:txBody>
      </p:sp>
      <p:sp>
        <p:nvSpPr>
          <p:cNvPr id="5" name="valid/data 流水线">
            <a:extLst xmlns:a="http://schemas.openxmlformats.org/drawingml/2006/main">
              <a:ext uri="{FF2B5EF4-FFF2-40B4-BE49-F238E27FC236}">
                <a16:creationId xmlns:a16="http://schemas.microsoft.com/office/drawing/2014/main" id="{143E9189-DD86-424F-AD84-5D9092E7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71775"/>
            <a:ext cx="499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valid/data 流水线</a:t>
            </a:r>
          </a:p>
        </p:txBody>
      </p:sp>
      <p:sp>
        <p:nvSpPr>
          <p:cNvPr id="6" name="两级延迟与 valid/data 对齐&#10;flush 优先、inv">
            <a:extLst xmlns:a="http://schemas.openxmlformats.org/drawingml/2006/main">
              <a:ext uri="{FF2B5EF4-FFF2-40B4-BE49-F238E27FC236}">
                <a16:creationId xmlns:a16="http://schemas.microsoft.com/office/drawing/2014/main" id="{1B08205F-1128-4541-9B89-5E87696E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50673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两级延迟与 valid/data 对齐</a:t>
            </a:r>
          </a:p>
          <a:p xmlns:a="http://schemas.openxmlformats.org/drawingml/2006/main">
            <a:pPr>
              <a:defRPr sz="225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flush 优先、invalid 数据归零</a:t>
            </a:r>
          </a:p>
        </p:txBody>
      </p:sp>
      <p:sp>
        <p:nvSpPr>
          <p:cNvPr id="7" name="事件累计器">
            <a:extLst xmlns:a="http://schemas.openxmlformats.org/drawingml/2006/main">
              <a:ext uri="{FF2B5EF4-FFF2-40B4-BE49-F238E27FC236}">
                <a16:creationId xmlns:a16="http://schemas.microsoft.com/office/drawing/2014/main" id="{135C266D-4173-42AF-80AF-79677AAB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7177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事件累计器</a:t>
            </a:r>
          </a:p>
        </p:txBody>
      </p:sp>
      <p:sp>
        <p:nvSpPr>
          <p:cNvPr id="8" name="使能条件与模 16 回绕&#10;clear 不受 enable 限制">
            <a:extLst xmlns:a="http://schemas.openxmlformats.org/drawingml/2006/main">
              <a:ext uri="{FF2B5EF4-FFF2-40B4-BE49-F238E27FC236}">
                <a16:creationId xmlns:a16="http://schemas.microsoft.com/office/drawing/2014/main" id="{159ED71A-3C71-489D-971C-69101C82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476625"/>
            <a:ext cx="4667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使能条件与模 16 回绕</a:t>
            </a:r>
          </a:p>
          <a:p xmlns:a="http://schemas.openxmlformats.org/drawingml/2006/main">
            <a:pPr>
              <a:defRPr sz="225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clear 不受 enable 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80704-AEDF-42B1-BD5B-AE522100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10" name="使用对象：数字电路学习者、小型 IP 开发者、技术复核人员">
            <a:extLst xmlns:a="http://schemas.openxmlformats.org/drawingml/2006/main">
              <a:ext uri="{FF2B5EF4-FFF2-40B4-BE49-F238E27FC236}">
                <a16:creationId xmlns:a16="http://schemas.microsoft.com/office/drawing/2014/main" id="{E5BE43CC-8C77-47E5-8E21-61B1102E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使用对象：数字电路学习者、小型 IP 开发者、技术复核人员</a:t>
            </a:r>
          </a:p>
        </p:txBody>
      </p:sp>
      <p:sp>
        <p:nvSpPr>
          <p:cNvPr id="11" name="需求来自本项目合约与执行记录。未提供行业访谈人数或真人计时结果">
            <a:extLst xmlns:a="http://schemas.openxmlformats.org/drawingml/2006/main">
              <a:ext uri="{FF2B5EF4-FFF2-40B4-BE49-F238E27FC236}">
                <a16:creationId xmlns:a16="http://schemas.microsoft.com/office/drawing/2014/main" id="{FEF47CD4-A7C6-4C37-8630-2CDE7954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需求来自本项目合约与执行记录。未提供行业访谈人数或真人计时结果</a:t>
            </a:r>
          </a:p>
        </p:txBody>
      </p:sp>
    </p:spTree>
    <p:extLst>
      <p:ext uri="{BB962C8B-B14F-4D97-AF65-F5344CB8AC3E}">
        <p14:creationId xmlns:p14="http://schemas.microsoft.com/office/powerpoint/2010/main" val="1221173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PI 规划与仿真裁决">
            <a:extLst xmlns:a="http://schemas.openxmlformats.org/drawingml/2006/main">
              <a:ext uri="{FF2B5EF4-FFF2-40B4-BE49-F238E27FC236}">
                <a16:creationId xmlns:a16="http://schemas.microsoft.com/office/drawing/2014/main" id="{16779D2E-D191-4CAC-90A8-BE295EC0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API 规划与仿真裁决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D8C35-A9AF-4D78-978C-F71E505D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CCC2983D-9ED7-47C5-86F8-5D031D55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4" name="正确规格&#10;完整合约">
            <a:extLst xmlns:a="http://schemas.openxmlformats.org/drawingml/2006/main">
              <a:ext uri="{FF2B5EF4-FFF2-40B4-BE49-F238E27FC236}">
                <a16:creationId xmlns:a16="http://schemas.microsoft.com/office/drawing/2014/main" id="{525AE43E-B70D-4E71-9BCE-25785B76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62175"/>
            <a:ext cx="19431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正确规格</a:t>
            </a:r>
          </a:p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完整合约</a:t>
            </a:r>
          </a:p>
        </p:txBody>
      </p:sp>
      <p:sp>
        <p:nvSpPr>
          <p:cNvPr id="5" name="第三方 API&#10;提议输入">
            <a:extLst xmlns:a="http://schemas.openxmlformats.org/drawingml/2006/main">
              <a:ext uri="{FF2B5EF4-FFF2-40B4-BE49-F238E27FC236}">
                <a16:creationId xmlns:a16="http://schemas.microsoft.com/office/drawing/2014/main" id="{FECF0D9B-318B-4C74-BD96-2F49E417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162175"/>
            <a:ext cx="19431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第三方 API</a:t>
            </a:r>
          </a:p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提议输入</a:t>
            </a:r>
          </a:p>
        </p:txBody>
      </p:sp>
      <p:sp>
        <p:nvSpPr>
          <p:cNvPr id="6" name="权限与预算&#10;检查">
            <a:extLst xmlns:a="http://schemas.openxmlformats.org/drawingml/2006/main">
              <a:ext uri="{FF2B5EF4-FFF2-40B4-BE49-F238E27FC236}">
                <a16:creationId xmlns:a16="http://schemas.microsoft.com/office/drawing/2014/main" id="{42E952A6-887C-4CF6-BB7F-AFA761FD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62175"/>
            <a:ext cx="19431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权限与预算</a:t>
            </a:r>
          </a:p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检查</a:t>
            </a:r>
          </a:p>
        </p:txBody>
      </p:sp>
      <p:sp>
        <p:nvSpPr>
          <p:cNvPr id="7" name="真实 Icarus&#10;实际执行">
            <a:extLst xmlns:a="http://schemas.openxmlformats.org/drawingml/2006/main">
              <a:ext uri="{FF2B5EF4-FFF2-40B4-BE49-F238E27FC236}">
                <a16:creationId xmlns:a16="http://schemas.microsoft.com/office/drawing/2014/main" id="{804217C2-3E6E-4665-B1E6-7B43447C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62175"/>
            <a:ext cx="19431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真实 Icarus</a:t>
            </a:r>
          </a:p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实际执行</a:t>
            </a:r>
          </a:p>
        </p:txBody>
      </p:sp>
      <p:sp>
        <p:nvSpPr>
          <p:cNvPr id="8" name="独立判据&#10;逐拍比较">
            <a:extLst xmlns:a="http://schemas.openxmlformats.org/drawingml/2006/main">
              <a:ext uri="{FF2B5EF4-FFF2-40B4-BE49-F238E27FC236}">
                <a16:creationId xmlns:a16="http://schemas.microsoft.com/office/drawing/2014/main" id="{CF733DB8-85FC-4127-98E4-F26B8F25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62175"/>
            <a:ext cx="19431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独立判据</a:t>
            </a:r>
          </a:p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逐拍比较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90800" y="267176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C8E8"/>
            </a:solidFill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29175" y="267176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C8E8"/>
            </a:solidFill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67550" y="267176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C8E8"/>
            </a:solidFill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05925" y="267176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C8E8"/>
            </a:solidFill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B9F90-A387-443A-8542-7DDC960F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14" name="模型接收">
            <a:extLst xmlns:a="http://schemas.openxmlformats.org/drawingml/2006/main">
              <a:ext uri="{FF2B5EF4-FFF2-40B4-BE49-F238E27FC236}">
                <a16:creationId xmlns:a16="http://schemas.microsoft.com/office/drawing/2014/main" id="{B0304B2F-9F03-441D-9076-260F75B7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模型接收</a:t>
            </a:r>
          </a:p>
        </p:txBody>
      </p:sp>
      <p:sp>
        <p:nvSpPr>
          <p:cNvPr id="15" name="公开接口、自己的计划、剩余预算&#10;实际执行摘要与绑定的端口采样">
            <a:extLst xmlns:a="http://schemas.openxmlformats.org/drawingml/2006/main">
              <a:ext uri="{FF2B5EF4-FFF2-40B4-BE49-F238E27FC236}">
                <a16:creationId xmlns:a16="http://schemas.microsoft.com/office/drawing/2014/main" id="{3AEA8130-CC93-4A8C-94E3-E09793D9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962400"/>
            <a:ext cx="8620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公开接口、自己的计划、剩余预算</a:t>
            </a:r>
          </a:p>
          <a:p xmlns:a="http://schemas.openxmlformats.org/drawingml/2006/main">
            <a:pPr>
              <a:defRPr sz="225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实际执行摘要与绑定的端口采样</a:t>
            </a:r>
          </a:p>
        </p:txBody>
      </p:sp>
      <p:sp>
        <p:nvSpPr>
          <p:cNvPr id="16" name="模型动作">
            <a:extLst xmlns:a="http://schemas.openxmlformats.org/drawingml/2006/main">
              <a:ext uri="{FF2B5EF4-FFF2-40B4-BE49-F238E27FC236}">
                <a16:creationId xmlns:a16="http://schemas.microsoft.com/office/drawing/2014/main" id="{15D9CD4D-0397-4935-B679-7910E599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模型动作</a:t>
            </a:r>
          </a:p>
        </p:txBody>
      </p:sp>
      <p:sp>
        <p:nvSpPr>
          <p:cNvPr id="17" name="追加输入或停止">
            <a:extLst xmlns:a="http://schemas.openxmlformats.org/drawingml/2006/main">
              <a:ext uri="{FF2B5EF4-FFF2-40B4-BE49-F238E27FC236}">
                <a16:creationId xmlns:a16="http://schemas.microsoft.com/office/drawing/2014/main" id="{40135505-DD30-47D7-8B86-7FC17308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219700"/>
            <a:ext cx="862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追加输入或停止</a:t>
            </a:r>
          </a:p>
        </p:txBody>
      </p:sp>
      <p:sp>
        <p:nvSpPr>
          <p:cNvPr id="18" name="目标 RTL、私有变体标签、路径和 witness 不进入 AP">
            <a:extLst xmlns:a="http://schemas.openxmlformats.org/drawingml/2006/main">
              <a:ext uri="{FF2B5EF4-FFF2-40B4-BE49-F238E27FC236}">
                <a16:creationId xmlns:a16="http://schemas.microsoft.com/office/drawing/2014/main" id="{CF449F5E-6B46-44B7-A47C-9F5E9C81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目标 RTL、私有变体标签、路径和 witness 不进入 API。正确 RTL 逐 episode 独立重放</a:t>
            </a:r>
          </a:p>
        </p:txBody>
      </p:sp>
    </p:spTree>
    <p:extLst>
      <p:ext uri="{BB962C8B-B14F-4D97-AF65-F5344CB8AC3E}">
        <p14:creationId xmlns:p14="http://schemas.microsoft.com/office/powerpoint/2010/main" val="123269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新内部模块集合留出">
            <a:extLst xmlns:a="http://schemas.openxmlformats.org/drawingml/2006/main">
              <a:ext uri="{FF2B5EF4-FFF2-40B4-BE49-F238E27FC236}">
                <a16:creationId xmlns:a16="http://schemas.microsoft.com/office/drawing/2014/main" id="{5D4226E8-33D1-4BE6-9D60-F97A618D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新内部模块集合留出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1DD95-17D5-4EAF-8CAB-7670D35E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51AC42DF-2702-44A3-AA52-0B5EFF80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4" name="108 项全部实际执行">
            <a:extLst xmlns:a="http://schemas.openxmlformats.org/drawingml/2006/main">
              <a:ext uri="{FF2B5EF4-FFF2-40B4-BE49-F238E27FC236}">
                <a16:creationId xmlns:a16="http://schemas.microsoft.com/office/drawing/2014/main" id="{6BC19DAC-BCB0-49E2-938D-E57925DA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10610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108 项全部实际执行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47700" y="2581275"/>
          <a:ext xmlns:a="http://schemas.openxmlformats.org/drawingml/2006/main" cx="1083945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667250"/>
                <a:gridCol w="3600450"/>
              </a:tblGrid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新模块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公开合约要点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目标与重复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valid/data 流水线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 bit、两级、flush 优先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正确 / B / C，各 3 次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事件累计器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 bit 模 16、clear 优先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正确 / B / C，各 3 次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</a:tbl>
          </a:graphicData>
        </a:graphic>
      </p:graphicFrame>
      <p:sp>
        <p:nvSpPr>
          <p:cNvPr id="6" name="2 模块 × 3 目标 × 3 重复 × 6 策略 = 108 ">
            <a:extLst xmlns:a="http://schemas.openxmlformats.org/drawingml/2006/main">
              <a:ext uri="{FF2B5EF4-FFF2-40B4-BE49-F238E27FC236}">
                <a16:creationId xmlns:a16="http://schemas.microsoft.com/office/drawing/2014/main" id="{D50E460D-957F-4DC9-85E7-5E2F0E8E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2 模块 × 3 目标 × 3 重复 × 6 策略 = 108 任务</a:t>
            </a:r>
          </a:p>
        </p:txBody>
      </p:sp>
      <p:sp>
        <p:nvSpPr>
          <p:cNvPr id="7" name="每策略 4 不同缺陷 × 3 重复 = 12 缺陷任务，另有 6">
            <a:extLst xmlns:a="http://schemas.openxmlformats.org/drawingml/2006/main">
              <a:ext uri="{FF2B5EF4-FFF2-40B4-BE49-F238E27FC236}">
                <a16:creationId xmlns:a16="http://schemas.microsoft.com/office/drawing/2014/main" id="{DB468B66-B85B-448D-B553-7F8D300F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每策略 4 不同缺陷 × 3 重复 = 12 缺陷任务，另有 6 正确任务</a:t>
            </a:r>
          </a:p>
          <a:p xmlns:a="http://schemas.openxmlformats.org/drawingml/2006/main">
            <a:pPr>
              <a:def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同团队合成设计，无独立选型时间戳、外部盲测或预训练未见证明</a:t>
            </a:r>
          </a:p>
        </p:txBody>
      </p:sp>
    </p:spTree>
    <p:extLst>
      <p:ext uri="{BB962C8B-B14F-4D97-AF65-F5344CB8AC3E}">
        <p14:creationId xmlns:p14="http://schemas.microsoft.com/office/powerpoint/2010/main" val="1845726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共享请求与执行预算">
            <a:extLst xmlns:a="http://schemas.openxmlformats.org/drawingml/2006/main">
              <a:ext uri="{FF2B5EF4-FFF2-40B4-BE49-F238E27FC236}">
                <a16:creationId xmlns:a16="http://schemas.microsoft.com/office/drawing/2014/main" id="{15470FD3-CCD7-48BF-B688-4085D619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共享请求与执行预算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FBB94-8EF5-4D14-89CA-9A331643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196780A9-1F84-4D1E-8D72-0252BA22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4" name="339,624">
            <a:extLst xmlns:a="http://schemas.openxmlformats.org/drawingml/2006/main">
              <a:ext uri="{FF2B5EF4-FFF2-40B4-BE49-F238E27FC236}">
                <a16:creationId xmlns:a16="http://schemas.microsoft.com/office/drawing/2014/main" id="{BC7FE5E4-61FA-4BBC-ACCF-16B2C5A7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570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339,624</a:t>
            </a:r>
          </a:p>
        </p:txBody>
      </p:sp>
      <p:sp>
        <p:nvSpPr>
          <p:cNvPr id="5" name="reported tokens&#10;独立单批上限 1,000,000">
            <a:extLst xmlns:a="http://schemas.openxmlformats.org/drawingml/2006/main">
              <a:ext uri="{FF2B5EF4-FFF2-40B4-BE49-F238E27FC236}">
                <a16:creationId xmlns:a16="http://schemas.microsoft.com/office/drawing/2014/main" id="{20E7FCA6-93F9-4155-9986-C63E44AA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reported tokens</a:t>
            </a:r>
          </a:p>
          <a:p xmlns:a="http://schemas.openxmlformats.org/drawingml/2006/main">
            <a:pPr>
              <a:def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独立单批上限 1,000,000</a:t>
            </a:r>
          </a:p>
        </p:txBody>
      </p:sp>
      <p:sp>
        <p:nvSpPr>
          <p:cNvPr id="6" name="87 次收费请求">
            <a:extLst xmlns:a="http://schemas.openxmlformats.org/drawingml/2006/main">
              <a:ext uri="{FF2B5EF4-FFF2-40B4-BE49-F238E27FC236}">
                <a16:creationId xmlns:a16="http://schemas.microsoft.com/office/drawing/2014/main" id="{58AEE219-BF91-4E1C-9E4E-582DFAF6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3648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87 次收费请求</a:t>
            </a:r>
          </a:p>
        </p:txBody>
      </p:sp>
      <p:sp>
        <p:nvSpPr>
          <p:cNvPr id="7" name="输入 301,910&#10;输出 37,714">
            <a:extLst xmlns:a="http://schemas.openxmlformats.org/drawingml/2006/main">
              <a:ext uri="{FF2B5EF4-FFF2-40B4-BE49-F238E27FC236}">
                <a16:creationId xmlns:a16="http://schemas.microsoft.com/office/drawing/2014/main" id="{E6E1B49C-4B0C-43E6-8E99-51B0008D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36480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输入 301,910</a:t>
            </a:r>
          </a:p>
          <a:p xmlns:a="http://schemas.openxmlformats.org/drawingml/2006/main">
            <a:pPr>
              <a:defRPr sz="20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输出 37,714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695825" y="1724025"/>
          <a:ext xmlns:a="http://schemas.openxmlformats.org/drawingml/2006/main" cx="6800850" cy="3152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428750"/>
                <a:gridCol w="2228850"/>
              </a:tblGrid>
              <a:tr h="63055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统一约束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单次 API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反馈 / 无反馈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共享请求上限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实际 episode 上限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累计刺激拍上限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每次提案 / 累计接受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 / 64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 / 64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</a:tbl>
          </a:graphicData>
        </a:graphic>
      </p:graphicFrame>
      <p:sp>
        <p:nvSpPr>
          <p:cNvPr id="9" name="格式与预算补提仍收费，共用原任务上限">
            <a:extLst xmlns:a="http://schemas.openxmlformats.org/drawingml/2006/main">
              <a:ext uri="{FF2B5EF4-FFF2-40B4-BE49-F238E27FC236}">
                <a16:creationId xmlns:a16="http://schemas.microsoft.com/office/drawing/2014/main" id="{9E356209-D661-4689-9354-32004060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19700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格式与预算补提仍收费，共用原任务上限</a:t>
            </a:r>
          </a:p>
        </p:txBody>
      </p:sp>
      <p:sp>
        <p:nvSpPr>
          <p:cNvPr id="10" name="0 unknown / pending，0 自动传输重试。自动复">
            <a:extLst xmlns:a="http://schemas.openxmlformats.org/drawingml/2006/main">
              <a:ext uri="{FF2B5EF4-FFF2-40B4-BE49-F238E27FC236}">
                <a16:creationId xmlns:a16="http://schemas.microsoft.com/office/drawing/2014/main" id="{5B8B9B5D-C583-4C7B-BCCE-5C77871E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0 unknown / pending，0 自动传输重试。自动复位与正确 RTL 重放成本单列</a:t>
            </a:r>
          </a:p>
        </p:txBody>
      </p:sp>
    </p:spTree>
    <p:extLst>
      <p:ext uri="{BB962C8B-B14F-4D97-AF65-F5344CB8AC3E}">
        <p14:creationId xmlns:p14="http://schemas.microsoft.com/office/powerpoint/2010/main" val="1599106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新108任务的六策略检出">
            <a:extLst xmlns:a="http://schemas.openxmlformats.org/drawingml/2006/main">
              <a:ext uri="{FF2B5EF4-FFF2-40B4-BE49-F238E27FC236}">
                <a16:creationId xmlns:a16="http://schemas.microsoft.com/office/drawing/2014/main" id="{B40249EC-D18C-4F86-B019-4BDA4814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新108任务的六策略检出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7C84C-7798-49A8-AF5A-6EA8048C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5A0E365E-2117-4D63-B56D-08FC0C3E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7700" y="1819275"/>
          <a:ext xmlns:a="http://schemas.openxmlformats.org/drawingml/2006/main" cx="7658100" cy="3648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201f7e27d04526"/>
          </a:graphicData>
        </a:graphic>
      </p:graphicFrame>
      <p:sp>
        <p:nvSpPr>
          <p:cNvPr id="5" name="11 / 12">
            <a:extLst xmlns:a="http://schemas.openxmlformats.org/drawingml/2006/main">
              <a:ext uri="{FF2B5EF4-FFF2-40B4-BE49-F238E27FC236}">
                <a16:creationId xmlns:a16="http://schemas.microsoft.com/office/drawing/2014/main" id="{6D4E9B66-11C7-41B2-899E-6B72C32B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790700"/>
            <a:ext cx="26955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75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5475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11 / 12</a:t>
            </a:r>
          </a:p>
        </p:txBody>
      </p:sp>
      <p:sp>
        <p:nvSpPr>
          <p:cNvPr id="6" name="反馈 Agent">
            <a:extLst xmlns:a="http://schemas.openxmlformats.org/drawingml/2006/main">
              <a:ext uri="{FF2B5EF4-FFF2-40B4-BE49-F238E27FC236}">
                <a16:creationId xmlns:a16="http://schemas.microsoft.com/office/drawing/2014/main" id="{66455AB1-87A9-400B-A13C-9B5308FD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33700"/>
            <a:ext cx="2695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反馈 Agent</a:t>
            </a:r>
          </a:p>
        </p:txBody>
      </p:sp>
      <p:sp>
        <p:nvSpPr>
          <p:cNvPr id="7" name="固定测试 12 / 12 最好&#10;随机与无反馈各 10 / 12">
            <a:extLst xmlns:a="http://schemas.openxmlformats.org/drawingml/2006/main">
              <a:ext uri="{FF2B5EF4-FFF2-40B4-BE49-F238E27FC236}">
                <a16:creationId xmlns:a16="http://schemas.microsoft.com/office/drawing/2014/main" id="{7717C52A-5A77-4731-ACE8-90446582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724275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固定测试 12 / 12 最好</a:t>
            </a:r>
          </a:p>
          <a:p xmlns:a="http://schemas.openxmlformats.org/drawingml/2006/main">
            <a:pPr>
              <a:defRPr sz="1875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随机与无反馈各 10 / 12</a:t>
            </a:r>
          </a:p>
        </p:txBody>
      </p:sp>
      <p:sp>
        <p:nvSpPr>
          <p:cNvPr id="8" name="反馈：首轮 6 / 次轮 5&#10;无反馈：首轮 8 / 后续 2">
            <a:extLst xmlns:a="http://schemas.openxmlformats.org/drawingml/2006/main">
              <a:ext uri="{FF2B5EF4-FFF2-40B4-BE49-F238E27FC236}">
                <a16:creationId xmlns:a16="http://schemas.microsoft.com/office/drawing/2014/main" id="{9BEB67B2-0539-450B-9053-3C67CEC6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05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反馈：首轮 6 / 次轮 5</a:t>
            </a:r>
          </a:p>
          <a:p xmlns:a="http://schemas.openxmlformats.org/drawingml/2006/main">
            <a:pPr>
              <a:defRPr sz="18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无反馈：首轮 8 / 后续 2</a:t>
            </a:r>
          </a:p>
        </p:txBody>
      </p:sp>
      <p:sp>
        <p:nvSpPr>
          <p:cNvPr id="9" name="仅多检出 1 项，不支持因果或显著性">
            <a:extLst xmlns:a="http://schemas.openxmlformats.org/drawingml/2006/main">
              <a:ext uri="{FF2B5EF4-FFF2-40B4-BE49-F238E27FC236}">
                <a16:creationId xmlns:a16="http://schemas.microsoft.com/office/drawing/2014/main" id="{ECFD32B1-3042-425D-81C3-284FADC3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仅多检出 1 项，不支持因果或显著性</a:t>
            </a:r>
          </a:p>
        </p:txBody>
      </p:sp>
      <p:sp>
        <p:nvSpPr>
          <p:cNvPr id="10" name="分母：4 不同缺陷 × 3 重复 = 12。另有 36/36 正">
            <a:extLst xmlns:a="http://schemas.openxmlformats.org/drawingml/2006/main">
              <a:ext uri="{FF2B5EF4-FFF2-40B4-BE49-F238E27FC236}">
                <a16:creationId xmlns:a16="http://schemas.microsoft.com/office/drawing/2014/main" id="{2E63E395-EC3B-4D5B-B3A1-2A4A4679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分母：4 不同缺陷 × 3 重复 = 12。另有 36/36 正确实际执行，0 实际误报</a:t>
            </a:r>
          </a:p>
        </p:txBody>
      </p:sp>
    </p:spTree>
    <p:extLst>
      <p:ext uri="{BB962C8B-B14F-4D97-AF65-F5344CB8AC3E}">
        <p14:creationId xmlns:p14="http://schemas.microsoft.com/office/powerpoint/2010/main" val="1555745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实际端口事实与无反馈对照">
            <a:extLst xmlns:a="http://schemas.openxmlformats.org/drawingml/2006/main">
              <a:ext uri="{FF2B5EF4-FFF2-40B4-BE49-F238E27FC236}">
                <a16:creationId xmlns:a16="http://schemas.microsoft.com/office/drawing/2014/main" id="{7B3BF8C1-AEEE-446F-BCA1-640075E9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实际端口事实与无反馈对照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FE29E-1399-4EC3-9BB0-0006E75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39B7373B-992C-42F1-ADD1-6F4694EB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4" name="20">
            <a:extLst xmlns:a="http://schemas.openxmlformats.org/drawingml/2006/main">
              <a:ext uri="{FF2B5EF4-FFF2-40B4-BE49-F238E27FC236}">
                <a16:creationId xmlns:a16="http://schemas.microsoft.com/office/drawing/2014/main" id="{DE2F29D3-72B0-4942-A2E9-3FE41EF0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3667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70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20</a:t>
            </a:r>
          </a:p>
        </p:txBody>
      </p:sp>
      <p:sp>
        <p:nvSpPr>
          <p:cNvPr id="5" name="已发送 feedback STATE&#10;带真实端口事实">
            <a:extLst xmlns:a="http://schemas.openxmlformats.org/drawingml/2006/main">
              <a:ext uri="{FF2B5EF4-FFF2-40B4-BE49-F238E27FC236}">
                <a16:creationId xmlns:a16="http://schemas.microsoft.com/office/drawing/2014/main" id="{4976EF53-E0A2-4DCA-BB31-CF99E8D4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3667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已发送 feedback STATE</a:t>
            </a:r>
          </a:p>
          <a:p xmlns:a="http://schemas.openxmlformats.org/drawingml/2006/main">
            <a:pPr>
              <a:def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带真实端口事实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819650" y="1838325"/>
          <a:ext xmlns:a="http://schemas.openxmlformats.org/drawingml/2006/main" cx="6696075" cy="2638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9625"/>
                <a:gridCol w="2076450"/>
              </a:tblGrid>
              <a:tr h="6596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证据口径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实际值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</a:tr>
              <a:tr h="6596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保存的端口文档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6596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原始 / 返回 / 省略采样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826 / 701 / 125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6596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模型实际收到返回 / 省略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180 / 12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</a:tbl>
          </a:graphicData>
        </a:graphic>
      </p:graphicFrame>
      <p:sp>
        <p:nvSpPr>
          <p:cNvPr id="7" name="每份最多 12 个端点与等间隔样本，保留省略和 X/Z">
            <a:extLst xmlns:a="http://schemas.openxmlformats.org/drawingml/2006/main">
              <a:ext uri="{FF2B5EF4-FFF2-40B4-BE49-F238E27FC236}">
                <a16:creationId xmlns:a16="http://schemas.microsoft.com/office/drawing/2014/main" id="{FF60CBF7-1994-4DAA-9D94-67E4FB4A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每份最多 12 个端点与等间隔样本，保留省略和 X/Z</a:t>
            </a:r>
          </a:p>
        </p:txBody>
      </p:sp>
      <p:sp>
        <p:nvSpPr>
          <p:cNvPr id="8" name="31 个无反馈 STATE 的三项诊断全部 None">
            <a:extLst xmlns:a="http://schemas.openxmlformats.org/drawingml/2006/main">
              <a:ext uri="{FF2B5EF4-FFF2-40B4-BE49-F238E27FC236}">
                <a16:creationId xmlns:a16="http://schemas.microsoft.com/office/drawing/2014/main" id="{269CF506-E3C7-4DCF-9BF4-DFECEA79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31 个无反馈 STATE 的三项诊断全部 None</a:t>
            </a:r>
          </a:p>
        </p:txBody>
      </p:sp>
      <p:sp>
        <p:nvSpPr>
          <p:cNvPr id="9" name="自身计划、预算与执行器早停仍保留。两新模块覆盖 unsuppor">
            <a:extLst xmlns:a="http://schemas.openxmlformats.org/drawingml/2006/main">
              <a:ext uri="{FF2B5EF4-FFF2-40B4-BE49-F238E27FC236}">
                <a16:creationId xmlns:a16="http://schemas.microsoft.com/office/drawing/2014/main" id="{04782939-76B3-4CED-B8FD-B60F21DC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自身计划、预算与执行器早停仍保留。两新模块覆盖 unsupported/unknown，未补造 bins</a:t>
            </a:r>
          </a:p>
        </p:txBody>
      </p:sp>
    </p:spTree>
    <p:extLst>
      <p:ext uri="{BB962C8B-B14F-4D97-AF65-F5344CB8AC3E}">
        <p14:creationId xmlns:p14="http://schemas.microsoft.com/office/powerpoint/2010/main" val="2009235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付费拒绝与真实执行">
            <a:extLst xmlns:a="http://schemas.openxmlformats.org/drawingml/2006/main">
              <a:ext uri="{FF2B5EF4-FFF2-40B4-BE49-F238E27FC236}">
                <a16:creationId xmlns:a16="http://schemas.microsoft.com/office/drawing/2014/main" id="{6FB908FF-AFC9-4D1A-81DD-32445554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付费拒绝与真实执行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D2B30-74B7-4F9F-B88C-028C4778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E43254F4-999F-4B8A-968D-5734767F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47700" y="1685925"/>
          <a:ext xmlns:a="http://schemas.openxmlformats.org/drawingml/2006/main" cx="10839450" cy="1847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33950"/>
                <a:gridCol w="1524000"/>
                <a:gridCol w="2286000"/>
                <a:gridCol w="2095500"/>
              </a:tblGrid>
              <a:tr h="615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拒绝类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收费请求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后续执行任务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后续检出任务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预算拒绝（schema 通过子集）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动作格式拒绝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</a:tbl>
          </a:graphicData>
        </a:graphic>
      </p:graphicFrame>
      <p:sp>
        <p:nvSpPr>
          <p:cNvPr id="5" name="第 108 行：实际执行后，终态格式失败">
            <a:extLst xmlns:a="http://schemas.openxmlformats.org/drawingml/2006/main">
              <a:ext uri="{FF2B5EF4-FFF2-40B4-BE49-F238E27FC236}">
                <a16:creationId xmlns:a16="http://schemas.microsoft.com/office/drawing/2014/main" id="{58D93140-E796-4CE3-9F5A-DF46189E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第 108 行：实际执行后，终态格式失败</a:t>
            </a:r>
          </a:p>
        </p:txBody>
      </p:sp>
      <p:sp>
        <p:nvSpPr>
          <p:cNvPr id="6" name="请求 1 执行 14 拍    请求 2 预算拒绝    请求 ">
            <a:extLst xmlns:a="http://schemas.openxmlformats.org/drawingml/2006/main">
              <a:ext uri="{FF2B5EF4-FFF2-40B4-BE49-F238E27FC236}">
                <a16:creationId xmlns:a16="http://schemas.microsoft.com/office/drawing/2014/main" id="{E7BF667E-847C-42FE-B52A-F56BF01E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48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请求 1 执行 14 拍    请求 2 预算拒绝    请求 3 格式拒绝</a:t>
            </a:r>
          </a:p>
        </p:txBody>
      </p:sp>
      <p:sp>
        <p:nvSpPr>
          <p:cNvPr id="7" name="decision_format_error，未检出，仍计入完整分">
            <a:extLst xmlns:a="http://schemas.openxmlformats.org/drawingml/2006/main">
              <a:ext uri="{FF2B5EF4-FFF2-40B4-BE49-F238E27FC236}">
                <a16:creationId xmlns:a16="http://schemas.microsoft.com/office/drawing/2014/main" id="{93DCC381-FA3E-4A58-8036-60F40104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83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decision_format_error，未检出，仍计入完整分母</a:t>
            </a:r>
          </a:p>
        </p:txBody>
      </p:sp>
      <p:sp>
        <p:nvSpPr>
          <p:cNvPr id="8" name="85 schema 通过 / 2 拒绝，预算 5 是通过子集。8">
            <a:extLst xmlns:a="http://schemas.openxmlformats.org/drawingml/2006/main">
              <a:ext uri="{FF2B5EF4-FFF2-40B4-BE49-F238E27FC236}">
                <a16:creationId xmlns:a16="http://schemas.microsoft.com/office/drawing/2014/main" id="{C346C025-3902-445E-8CD2-2FF1CF10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85 schema 通过 / 2 拒绝，预算 5 是通过子集。87 原回复保存，86 可解析 / 1 不解析</a:t>
            </a:r>
          </a:p>
        </p:txBody>
      </p:sp>
    </p:spTree>
    <p:extLst>
      <p:ext uri="{BB962C8B-B14F-4D97-AF65-F5344CB8AC3E}">
        <p14:creationId xmlns:p14="http://schemas.microsoft.com/office/powerpoint/2010/main" val="857524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原件绑定与机器审计">
            <a:extLst xmlns:a="http://schemas.openxmlformats.org/drawingml/2006/main">
              <a:ext uri="{FF2B5EF4-FFF2-40B4-BE49-F238E27FC236}">
                <a16:creationId xmlns:a16="http://schemas.microsoft.com/office/drawing/2014/main" id="{A501AA0A-9E9A-4D95-A8EB-643C8E1E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原件绑定与机器审计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30560-1E03-4732-B223-C892B180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78DA98AE-DBE4-40F6-AEAF-D9A83243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4" name="458 登记输入&#10;冻结快照">
            <a:extLst xmlns:a="http://schemas.openxmlformats.org/drawingml/2006/main">
              <a:ext uri="{FF2B5EF4-FFF2-40B4-BE49-F238E27FC236}">
                <a16:creationId xmlns:a16="http://schemas.microsoft.com/office/drawing/2014/main" id="{0E2D465A-A993-4992-A4D9-4BA4B06A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2266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458 登记输入</a:t>
            </a:r>
          </a:p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冻结快照</a:t>
            </a:r>
          </a:p>
        </p:txBody>
      </p:sp>
      <p:sp>
        <p:nvSpPr>
          <p:cNvPr id="5" name="4,359 raw 文件&#10;真实执行与请求">
            <a:extLst xmlns:a="http://schemas.openxmlformats.org/drawingml/2006/main">
              <a:ext uri="{FF2B5EF4-FFF2-40B4-BE49-F238E27FC236}">
                <a16:creationId xmlns:a16="http://schemas.microsoft.com/office/drawing/2014/main" id="{C479D8FD-6DAB-43D8-B152-C8148F96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85950"/>
            <a:ext cx="2266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4,359 raw 文件</a:t>
            </a:r>
          </a:p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真实执行与请求</a:t>
            </a:r>
          </a:p>
        </p:txBody>
      </p:sp>
      <p:sp>
        <p:nvSpPr>
          <p:cNvPr id="6" name="manifest 与 ZIP&#10;保留原字节">
            <a:extLst xmlns:a="http://schemas.openxmlformats.org/drawingml/2006/main">
              <a:ext uri="{FF2B5EF4-FFF2-40B4-BE49-F238E27FC236}">
                <a16:creationId xmlns:a16="http://schemas.microsoft.com/office/drawing/2014/main" id="{A58816B7-CCC4-4C35-A4C3-8866E8AC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2266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manifest 与 ZIP</a:t>
            </a:r>
          </a:p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保留原字节</a:t>
            </a:r>
          </a:p>
        </p:txBody>
      </p:sp>
      <p:sp>
        <p:nvSpPr>
          <p:cNvPr id="7" name="逐项绑定核验&#10;失败一并保留">
            <a:extLst xmlns:a="http://schemas.openxmlformats.org/drawingml/2006/main">
              <a:ext uri="{FF2B5EF4-FFF2-40B4-BE49-F238E27FC236}">
                <a16:creationId xmlns:a16="http://schemas.microsoft.com/office/drawing/2014/main" id="{5AC0679B-13D0-4F79-B96E-0170DC8A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85950"/>
            <a:ext cx="2266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逐项绑定核验</a:t>
            </a:r>
          </a:p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失败一并保留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14650" y="2352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C8E8"/>
            </a:solidFill>
            <a:tailEnd type="arrow" w="sm" len="sm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91200" y="2352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C8E8"/>
            </a:solidFill>
            <a:tailEnd type="arrow" w="sm" len="sm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67750" y="2352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C8E8"/>
            </a:solidFill>
            <a:tailEnd type="arrow" w="sm" len="sm"/>
          </a:ln>
        </p:spPr>
      </p:cxnSp>
      <p:graphicFrame>
        <p:nvGraphicFramePr>
          <p:cNvPr id="24" name=""/>
          <p:cNvGraphicFramePr/>
          <p:nvPr/>
        </p:nvGraphicFramePr>
        <p:xfrm>
          <a:off xmlns:a="http://schemas.openxmlformats.org/drawingml/2006/main" x="647700" y="3390900"/>
          <a:ext xmlns:a="http://schemas.openxmlformats.org/drawingml/2006/main" cx="1083945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4953000"/>
                <a:gridCol w="3200400"/>
              </a:tblGrid>
              <a:tr h="596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机器审计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范围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身份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核心审计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2,192 项检查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非实现者代理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轨迹审计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54 轨迹 / 87 请求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entry 代码作者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</a:tbl>
          </a:graphicData>
        </a:graphic>
      </p:graphicFrame>
      <p:sp>
        <p:nvSpPr>
          <p:cNvPr id="12" name="strict=true 仅表示证据资格">
            <a:extLst xmlns:a="http://schemas.openxmlformats.org/drawingml/2006/main">
              <a:ext uri="{FF2B5EF4-FFF2-40B4-BE49-F238E27FC236}">
                <a16:creationId xmlns:a16="http://schemas.microsoft.com/office/drawing/2014/main" id="{DC5797DA-2624-4442-8C19-342B51E6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34025"/>
            <a:ext cx="1080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strict=true 仅表示证据资格</a:t>
            </a:r>
          </a:p>
        </p:txBody>
      </p:sp>
      <p:sp>
        <p:nvSpPr>
          <p:cNvPr id="13" name="机器审计非真人 / H02。Git 446 exact、12 仅">
            <a:extLst xmlns:a="http://schemas.openxmlformats.org/drawingml/2006/main">
              <a:ext uri="{FF2B5EF4-FFF2-40B4-BE49-F238E27FC236}">
                <a16:creationId xmlns:a16="http://schemas.microsoft.com/office/drawing/2014/main" id="{9B4CEC23-64D7-4DCA-86B4-A6E4CBC5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机器审计非真人 / H02。Git 446 exact、12 仅换行差异，原始登记快照仍为权威</a:t>
            </a:r>
          </a:p>
        </p:txBody>
      </p:sp>
    </p:spTree>
    <p:extLst>
      <p:ext uri="{BB962C8B-B14F-4D97-AF65-F5344CB8AC3E}">
        <p14:creationId xmlns:p14="http://schemas.microsoft.com/office/powerpoint/2010/main" val="1284793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旧v8的开发与复用集合">
            <a:extLst xmlns:a="http://schemas.openxmlformats.org/drawingml/2006/main">
              <a:ext uri="{FF2B5EF4-FFF2-40B4-BE49-F238E27FC236}">
                <a16:creationId xmlns:a16="http://schemas.microsoft.com/office/drawing/2014/main" id="{CE36EE73-3A7E-44F0-95D3-C7288393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旧v8的开发与复用集合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D4B9E-36A6-4BA5-848E-3F8CEE87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638F262B-35A0-4126-9AE9-67C5B973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4" name="432 注册 / 414 实际执行 / 18 无 DUT">
            <a:extLst xmlns:a="http://schemas.openxmlformats.org/drawingml/2006/main">
              <a:ext uri="{FF2B5EF4-FFF2-40B4-BE49-F238E27FC236}">
                <a16:creationId xmlns:a16="http://schemas.microsoft.com/office/drawing/2014/main" id="{8DC07893-3277-4F2E-A9BA-87008739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432 注册 / 414 实际执行 / 18 无 DUT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47700" y="2476500"/>
          <a:ext xmlns:a="http://schemas.openxmlformats.org/drawingml/2006/main" cx="6867525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67050"/>
                <a:gridCol w="2247900"/>
                <a:gridCol w="1552575"/>
              </a:tblGrid>
              <a:tr h="442232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旧批检出 / 48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API 请求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</a:tr>
              <a:tr h="44223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固定测试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48 / 48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44223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均匀随机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32 / 48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44223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协议随机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48 / 48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44223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单次 API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29 / 48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70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44223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反馈 Agent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37 / 48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122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44223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无反馈 Agent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37 / 48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C8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114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</a:tbl>
          </a:graphicData>
        </a:graphic>
      </p:graphicFrame>
      <p:sp>
        <p:nvSpPr>
          <p:cNvPr id="6" name="306 请求&#10;973,149 tokens&#10;strict=fal">
            <a:extLst xmlns:a="http://schemas.openxmlformats.org/drawingml/2006/main">
              <a:ext uri="{FF2B5EF4-FFF2-40B4-BE49-F238E27FC236}">
                <a16:creationId xmlns:a16="http://schemas.microsoft.com/office/drawing/2014/main" id="{B60A719D-65D6-439D-89CF-C974BFF9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286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306 请求</a:t>
            </a:r>
          </a:p>
          <a:p xmlns:a="http://schemas.openxmlformats.org/drawingml/2006/main">
            <a:pPr>
              <a:defRPr sz="225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973,149 tokens</a:t>
            </a:r>
          </a:p>
          <a:p xmlns:a="http://schemas.openxmlformats.org/drawingml/2006/main">
            <a:pPr>
              <a:defRPr sz="225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strict=false</a:t>
            </a:r>
          </a:p>
        </p:txBody>
      </p:sp>
      <p:sp>
        <p:nvSpPr>
          <p:cNvPr id="7" name="正确任务 143 / 144 实际执行&#10;0 实际误报，1 未执行">
            <a:extLst xmlns:a="http://schemas.openxmlformats.org/drawingml/2006/main">
              <a:ext uri="{FF2B5EF4-FFF2-40B4-BE49-F238E27FC236}">
                <a16:creationId xmlns:a16="http://schemas.microsoft.com/office/drawing/2014/main" id="{99DAE4E9-1217-46EF-8B96-D09D15F3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3257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正确任务 143 / 144 实际执行</a:t>
            </a:r>
          </a:p>
          <a:p xmlns:a="http://schemas.openxmlformats.org/drawingml/2006/main">
            <a:pPr>
              <a:defRPr sz="2025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0 实际误报，1 未执行</a:t>
            </a:r>
          </a:p>
        </p:txBody>
      </p:sp>
      <p:sp>
        <p:nvSpPr>
          <p:cNvPr id="8" name="两批模块集合、分母与预算不同，不合并，也不作增益趋势图。旧失败没">
            <a:extLst xmlns:a="http://schemas.openxmlformats.org/drawingml/2006/main">
              <a:ext uri="{FF2B5EF4-FFF2-40B4-BE49-F238E27FC236}">
                <a16:creationId xmlns:a16="http://schemas.microsoft.com/office/drawing/2014/main" id="{D21745B1-2F58-42E2-B184-8B5EFC07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两批模块集合、分母与预算不同，不合并，也不作增益趋势图。旧失败没有补跑</a:t>
            </a:r>
          </a:p>
        </p:txBody>
      </p:sp>
    </p:spTree>
    <p:extLst>
      <p:ext uri="{BB962C8B-B14F-4D97-AF65-F5344CB8AC3E}">
        <p14:creationId xmlns:p14="http://schemas.microsoft.com/office/powerpoint/2010/main" val="9165998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判据独立性的规格案例">
            <a:extLst xmlns:a="http://schemas.openxmlformats.org/drawingml/2006/main">
              <a:ext uri="{FF2B5EF4-FFF2-40B4-BE49-F238E27FC236}">
                <a16:creationId xmlns:a16="http://schemas.microsoft.com/office/drawing/2014/main" id="{CB028C7D-6472-4E9C-95CC-1FFE2264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判据独立性的规格案例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96968-B599-4C25-ABDB-FE2DA6F1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FC6E570B-5028-4529-A2DF-5AFC9FDE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4" name="FIFO 独立队列检查">
            <a:extLst xmlns:a="http://schemas.openxmlformats.org/drawingml/2006/main">
              <a:ext uri="{FF2B5EF4-FFF2-40B4-BE49-F238E27FC236}">
                <a16:creationId xmlns:a16="http://schemas.microsoft.com/office/drawing/2014/main" id="{F7CA5F99-710C-4825-B854-470E7294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04975"/>
            <a:ext cx="510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FIFO 独立队列检查</a:t>
            </a:r>
          </a:p>
        </p:txBody>
      </p:sp>
      <p:sp>
        <p:nvSpPr>
          <p:cNvPr id="5" name="76 拍 / 228 次比较">
            <a:extLst xmlns:a="http://schemas.openxmlformats.org/drawingml/2006/main">
              <a:ext uri="{FF2B5EF4-FFF2-40B4-BE49-F238E27FC236}">
                <a16:creationId xmlns:a16="http://schemas.microsoft.com/office/drawing/2014/main" id="{9014C428-3354-4496-9825-86FD8D34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14575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76 拍 / 228 次比较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2981325"/>
          <a:ext xmlns:a="http://schemas.openxmlformats.org/drawingml/2006/main" cx="5114925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6204d7b4f74690"/>
          </a:graphicData>
        </a:graphic>
      </p:graphicFrame>
      <p:sp>
        <p:nvSpPr>
          <p:cNvPr id="7" name="中间占用同时读写，占用量保持">
            <a:extLst xmlns:a="http://schemas.openxmlformats.org/drawingml/2006/main">
              <a:ext uri="{FF2B5EF4-FFF2-40B4-BE49-F238E27FC236}">
                <a16:creationId xmlns:a16="http://schemas.microsoft.com/office/drawing/2014/main" id="{60F332BF-EE0C-40BE-ADD3-328D51F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中间占用同时读写，占用量保持</a:t>
            </a:r>
          </a:p>
        </p:txBody>
      </p:sp>
      <p:sp>
        <p:nvSpPr>
          <p:cNvPr id="8" name="外部人工计时 SPEC">
            <a:extLst xmlns:a="http://schemas.openxmlformats.org/drawingml/2006/main">
              <a:ext uri="{FF2B5EF4-FFF2-40B4-BE49-F238E27FC236}">
                <a16:creationId xmlns:a16="http://schemas.microsoft.com/office/drawing/2014/main" id="{BEC9732A-C84A-4128-8E92-127F080C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04975"/>
            <a:ext cx="47529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外部人工计时 SPEC</a:t>
            </a:r>
          </a:p>
        </p:txBody>
      </p:sp>
      <p:sp>
        <p:nvSpPr>
          <p:cNvPr id="9" name="同字节 15 人工变体 / 24 候选">
            <a:extLst xmlns:a="http://schemas.openxmlformats.org/drawingml/2006/main">
              <a:ext uri="{FF2B5EF4-FFF2-40B4-BE49-F238E27FC236}">
                <a16:creationId xmlns:a16="http://schemas.microsoft.com/office/drawing/2014/main" id="{2A96111A-D202-457B-80C8-193DDC87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14575"/>
            <a:ext cx="4752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同字节 15 人工变体 / 24 候选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762750" y="2981325"/>
          <a:ext xmlns:a="http://schemas.openxmlformats.org/drawingml/2006/main" cx="4752975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4caac39af04f75"/>
          </a:graphicData>
        </a:graphic>
      </p:graphicFrame>
      <p:sp>
        <p:nvSpPr>
          <p:cNvPr id="11" name="13/15 至 15/15 来自人工 SPEC 补全">
            <a:extLst xmlns:a="http://schemas.openxmlformats.org/drawingml/2006/main">
              <a:ext uri="{FF2B5EF4-FFF2-40B4-BE49-F238E27FC236}">
                <a16:creationId xmlns:a16="http://schemas.microsoft.com/office/drawing/2014/main" id="{BB1BC311-459D-463E-AD0E-E48C8789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4752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13/15 至 15/15 来自人工 SPEC 补全</a:t>
            </a:r>
          </a:p>
        </p:txBody>
      </p:sp>
      <p:sp>
        <p:nvSpPr>
          <p:cNvPr id="12" name="此页是人工规格与实现修复案例。外部有限集合来自同作者仓库，不作 ">
            <a:extLst xmlns:a="http://schemas.openxmlformats.org/drawingml/2006/main">
              <a:ext uri="{FF2B5EF4-FFF2-40B4-BE49-F238E27FC236}">
                <a16:creationId xmlns:a16="http://schemas.microsoft.com/office/drawing/2014/main" id="{5DAD2D73-390C-49BF-A7EF-C4F20BF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此页是人工规格与实现修复案例。外部有限集合来自同作者仓库，不作 AI 表现统计</a:t>
            </a:r>
          </a:p>
        </p:txBody>
      </p:sp>
    </p:spTree>
    <p:extLst>
      <p:ext uri="{BB962C8B-B14F-4D97-AF65-F5344CB8AC3E}">
        <p14:creationId xmlns:p14="http://schemas.microsoft.com/office/powerpoint/2010/main" val="14514449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证据边界与交付">
            <a:extLst xmlns:a="http://schemas.openxmlformats.org/drawingml/2006/main">
              <a:ext uri="{FF2B5EF4-FFF2-40B4-BE49-F238E27FC236}">
                <a16:creationId xmlns:a16="http://schemas.microsoft.com/office/drawing/2014/main" id="{437F96CB-55F0-410C-8DD8-C3375937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证据边界与交付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39F56-A749-423F-982C-0BEB32D4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168"/>
            </a:solidFill>
          </a:ln>
        </p:spPr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36F18525-4EFA-4DA4-9872-6A828A4D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00C8E8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4" name="2,033 pass / 2 skip    mypy 88 源">
            <a:extLst xmlns:a="http://schemas.openxmlformats.org/drawingml/2006/main">
              <a:ext uri="{FF2B5EF4-FFF2-40B4-BE49-F238E27FC236}">
                <a16:creationId xmlns:a16="http://schemas.microsoft.com/office/drawing/2014/main" id="{F27DEDBD-3FFF-46B8-829F-BB604311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00C8E8"/>
                </a:solidFill>
                <a:latin typeface="Noto Sans SC"/>
                <a:ea typeface="Noto Sans SC"/>
                <a:cs typeface="Noto Sans SC"/>
              </a:rPr>
              <a:t>2,033 pass / 2 skip    mypy 88 源文件零错</a:t>
            </a:r>
          </a:p>
        </p:txBody>
      </p:sp>
      <p:sp>
        <p:nvSpPr>
          <p:cNvPr id="5" name="535 冻结指纹无变化，工程记录不等于 AI 或真人验收">
            <a:extLst xmlns:a="http://schemas.openxmlformats.org/drawingml/2006/main">
              <a:ext uri="{FF2B5EF4-FFF2-40B4-BE49-F238E27FC236}">
                <a16:creationId xmlns:a16="http://schemas.microsoft.com/office/drawing/2014/main" id="{14C3DA41-797C-40A1-B2A0-77E609E3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535 冻结指纹无变化，工程记录不等于 AI 或真人验收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47700" y="3162300"/>
          <a:ext xmlns:a="http://schemas.openxmlformats.org/drawingml/2006/main" cx="1083945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53450"/>
              </a:tblGrid>
              <a:tr h="5143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边界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当前证据</a:t>
                      </a:r>
                    </a:p>
                  </a:txBody>
                  <a:tcPr marL="91440" marR="91440" marT="45720" marB="45720">
                    <a:solidFill>
                      <a:srgbClr val="11151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适用范围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已审计合约 / 参数、有限拍数与有限端口采样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尚未提供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硬件、异机 Actions、真人试用、独立人工 H02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已披露残项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 项严格 RTL 样式 / WaveDrom 3.6.1 缺失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</a:tbl>
          </a:graphicData>
        </a:graphic>
      </p:graphicFrame>
      <p:sp>
        <p:nvSpPr>
          <p:cNvPr id="7" name="截止 2026-10-15 20:00">
            <a:extLst xmlns:a="http://schemas.openxmlformats.org/drawingml/2006/main">
              <a:ext uri="{FF2B5EF4-FFF2-40B4-BE49-F238E27FC236}">
                <a16:creationId xmlns:a16="http://schemas.microsoft.com/office/drawing/2014/main" id="{65B7C245-B006-449B-B272-E05CED39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680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截止 2026-10-15 20:00</a:t>
            </a:r>
          </a:p>
        </p:txBody>
      </p:sp>
      <p:sp>
        <p:nvSpPr>
          <p:cNvPr id="8" name="方案 PDF ≤10MB，答辩 PDF，佐证合一 PDF，视频可">
            <a:extLst xmlns:a="http://schemas.openxmlformats.org/drawingml/2006/main">
              <a:ext uri="{FF2B5EF4-FFF2-40B4-BE49-F238E27FC236}">
                <a16:creationId xmlns:a16="http://schemas.microsoft.com/office/drawing/2014/main" id="{233EBB4A-E070-40B3-B7F2-EB8F92C5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方案 PDF ≤10MB，答辩 PDF，佐证合一 PDF，视频可选。真人 / H02 非官方硬门槛</a:t>
            </a:r>
          </a:p>
        </p:txBody>
      </p:sp>
    </p:spTree>
    <p:extLst>
      <p:ext uri="{BB962C8B-B14F-4D97-AF65-F5344CB8AC3E}">
        <p14:creationId xmlns:p14="http://schemas.microsoft.com/office/powerpoint/2010/main" val="2057902900"/>
      </p:ext>
    </p:extLst>
  </p:cSld>
</p:sld>
</file>

<file path=ppt/theme/theme1.xml><?xml version="1.0" encoding="utf-8"?>
<a:theme xmlns:a="http://schemas.openxmlformats.org/drawingml/2006/main" name="ChatGPT">
  <a:themeElements>
    <a:clrScheme name="ICARUS charcoal cyan">
      <a:dk1>
        <a:srgbClr val="111517"/>
      </a:dk1>
      <a:lt1>
        <a:srgbClr val="F1F3F4"/>
      </a:lt1>
      <a:dk2>
        <a:srgbClr val="1C2023"/>
      </a:dk2>
      <a:lt2>
        <a:srgbClr val="D0D9DD"/>
      </a:lt2>
      <a:accent1>
        <a:srgbClr val="00C8E8"/>
      </a:accent1>
      <a:accent2>
        <a:srgbClr val="738188"/>
      </a:accent2>
      <a:accent3>
        <a:srgbClr val="B3BDC2"/>
      </a:accent3>
      <a:accent4>
        <a:srgbClr val="CFD8DC"/>
      </a:accent4>
      <a:accent5>
        <a:srgbClr val="343C40"/>
      </a:accent5>
      <a:accent6>
        <a:srgbClr val="7A858A"/>
      </a:accent6>
      <a:hlink>
        <a:srgbClr val="00C8E8"/>
      </a:hlink>
      <a:folHlink>
        <a:srgbClr val="00C8E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CARUS charcoal cy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ns0="http://schemas.openxmlformats.org/package/2006/metadata/core-properties"/>
</file>